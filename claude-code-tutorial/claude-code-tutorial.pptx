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 spc="120">
                <a:solidFill>
                  <a:srgbClr val="007482"/>
                </a:solidFill>
                <a:latin typeface="Arial"/>
              </a:rPr>
              <a:t>RCC WORKSHOP · UNIVERSITY OF CHICAGO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761488"/>
            <a:ext cx="1554480" cy="54864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0B2E6B"/>
                </a:solidFill>
                <a:latin typeface="Arial"/>
              </a:rPr>
              <a:t>Claude Code on Midway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555A61"/>
                </a:solidFill>
                <a:latin typeface="Arial"/>
              </a:rPr>
              <a:t>An AI coding agent for everyday research work — in your terminal, on the cluster.</a:t>
            </a:r>
          </a:p>
          <a:p>
            <a:pPr>
              <a:spcBef>
                <a:spcPts val="1600"/>
              </a:spcBef>
            </a:pPr>
            <a:r>
              <a:rPr sz="1250" b="0" i="0">
                <a:solidFill>
                  <a:srgbClr val="555A61"/>
                </a:solidFill>
                <a:latin typeface="Arial"/>
              </a:rPr>
              <a:t>Youzhi Yu · Research Computing Center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Today's session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417320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Meet Claude Code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what an AI agent in the terminal actually is, and why it helps research.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349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18349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Getting started on Midway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install, log in, and run your first session.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9379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219379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Working efficiently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tokens, context, and cost — getting more done for less money.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0409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20409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Make it yours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teach it your project, save prompts, add your own tools.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21438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021438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Staying in control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the permission system that makes it safe on shared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2468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422468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Scaling up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turn one command into a batch, and connect your own cluster tools.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23498"/>
            <a:ext cx="457200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007482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823498"/>
            <a:ext cx="7571232" cy="4010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50" b="1" i="0">
                <a:solidFill>
                  <a:srgbClr val="1E2126"/>
                </a:solidFill>
                <a:latin typeface="Arial"/>
              </a:rPr>
              <a:t>Trust and honest limits</a:t>
            </a:r>
            <a:r>
              <a:rPr sz="1550" b="0" i="0">
                <a:solidFill>
                  <a:srgbClr val="555A61"/>
                </a:solidFill>
                <a:latin typeface="Arial"/>
              </a:rPr>
              <a:t>     </a:t>
            </a:r>
            <a:r>
              <a:rPr sz="1350" b="0" i="0">
                <a:solidFill>
                  <a:srgbClr val="555A61"/>
                </a:solidFill>
                <a:latin typeface="Arial"/>
              </a:rPr>
              <a:t>prompt injection, your data, and when not to use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083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555A61"/>
                </a:solidFill>
                <a:latin typeface="Arial"/>
              </a:rPr>
              <a:t>We close with a hands-on lab: you drive Claude Code to analyze a real dataset.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Meet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An AI agent that does research work in your terminal.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1045028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An agent does the work, not just the typing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The step that matters is the last one.</a:t>
            </a: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942"/>
            <a:ext cx="8412480" cy="2758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Claude Code, in plain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You do not need to be a programmer. If you use a terminal, you can use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An agent, not autocomplete.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It reads your files, runs commands, and edits them in a loop until the job is done.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lives in your terminal.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The same place you already run Python and submit cluster jobs.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One tool, many front doors.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Terminal, VS Code, JetBrains, GitHub, or driven from a 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It works in a loop: gather, act, check, repeat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Every setting later in this talk tunes one step of this loop.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079" y="1700784"/>
            <a:ext cx="6411841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Loop framing: Anthropic, "Building effective agents" (2024) and the Claude Agent SDK.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Two parts: a program you control, a model it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The program — the diagrams call it the harness — is yours to shape; the model just answers.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0" y="1700784"/>
            <a:ext cx="758523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It finds its way around your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looks the way you do.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It searches and opens your real files — nothing to index or set up first.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Your layout is its context.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tidy project folder helps it find the right things quickly.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checks its own work.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test passing, a program finishing cleanly, or a code checker confirms the change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Where it earns its place in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Not only code.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Data wrangling, log triage, plotting, a first-draft methods paragraph, or lit-review notes.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scripts.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One command in, a machine-readable answer out — drop it into a pipeline or a Slurm job.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Everything is on the record.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Every action is logged, permission-checked, and costed.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Getting started on Midway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Install once, log in once — then you are working.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2090057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Install and log in — once, and without admin rights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It installs into your home directory; log in once, then grab a node with internet.</a:t>
            </a:r>
          </a:p>
        </p:txBody>
      </p:sp>
      <p:pic>
        <p:nvPicPr>
          <p:cNvPr id="5" name="Picture 4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07" y="1700784"/>
            <a:ext cx="7341385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Two ways to work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3771900" cy="457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" y="1463040"/>
            <a:ext cx="35524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1155CC"/>
                </a:solidFill>
                <a:latin typeface="Arial"/>
              </a:rPr>
              <a:t>Interactive — your daily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2029968"/>
            <a:ext cx="355244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1E2126"/>
                </a:solidFill>
                <a:latin typeface="Arial"/>
              </a:rPr>
              <a:t>Run </a:t>
            </a:r>
            <a:r>
              <a:rPr sz="1300" b="0" i="0">
                <a:solidFill>
                  <a:srgbClr val="007482"/>
                </a:solidFill>
                <a:latin typeface="Arial"/>
              </a:rPr>
              <a:t>claude</a:t>
            </a:r>
            <a:r>
              <a:rPr sz="1300" b="0" i="0">
                <a:solidFill>
                  <a:srgbClr val="1E2126"/>
                </a:solidFill>
                <a:latin typeface="Arial"/>
              </a:rPr>
              <a:t> in a folder and talk to it.</a:t>
            </a:r>
          </a:p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007482"/>
                </a:solidFill>
                <a:latin typeface="Arial"/>
              </a:rPr>
              <a:t>@file</a:t>
            </a:r>
            <a:r>
              <a:rPr sz="1300" b="0" i="0">
                <a:solidFill>
                  <a:srgbClr val="1E2126"/>
                </a:solidFill>
                <a:latin typeface="Arial"/>
              </a:rPr>
              <a:t> points at a file, </a:t>
            </a:r>
            <a:r>
              <a:rPr sz="1300" b="0" i="0">
                <a:solidFill>
                  <a:srgbClr val="007482"/>
                </a:solidFill>
                <a:latin typeface="Arial"/>
              </a:rPr>
              <a:t>!</a:t>
            </a:r>
            <a:r>
              <a:rPr sz="1300" b="0" i="0">
                <a:solidFill>
                  <a:srgbClr val="1E2126"/>
                </a:solidFill>
                <a:latin typeface="Arial"/>
              </a:rPr>
              <a:t> runs a shell command, </a:t>
            </a:r>
            <a:r>
              <a:rPr sz="1300" b="0" i="0">
                <a:solidFill>
                  <a:srgbClr val="007482"/>
                </a:solidFill>
                <a:latin typeface="Arial"/>
              </a:rPr>
              <a:t>/</a:t>
            </a:r>
            <a:r>
              <a:rPr sz="1300" b="0" i="0">
                <a:solidFill>
                  <a:srgbClr val="1E2126"/>
                </a:solidFill>
                <a:latin typeface="Arial"/>
              </a:rPr>
              <a:t> fires a saved command.</a:t>
            </a:r>
          </a:p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1E2126"/>
                </a:solidFill>
                <a:latin typeface="Arial"/>
              </a:rPr>
              <a:t>Where you will spend most of your time — and the hands-on lab.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3459" y="1463040"/>
            <a:ext cx="3771900" cy="4572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1475" y="1463040"/>
            <a:ext cx="355244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 i="0">
                <a:solidFill>
                  <a:srgbClr val="007482"/>
                </a:solidFill>
                <a:latin typeface="Arial"/>
              </a:rPr>
              <a:t>Headless — </a:t>
            </a:r>
            <a:r>
              <a:rPr sz="1450" b="1" i="0">
                <a:solidFill>
                  <a:srgbClr val="007482"/>
                </a:solidFill>
                <a:latin typeface="Arial"/>
              </a:rPr>
              <a:t>claude -p "…"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1475" y="2029968"/>
            <a:ext cx="355244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1E2126"/>
                </a:solidFill>
                <a:latin typeface="Arial"/>
              </a:rPr>
              <a:t>One prompt in, one answer out.</a:t>
            </a:r>
          </a:p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1E2126"/>
                </a:solidFill>
                <a:latin typeface="Arial"/>
              </a:rPr>
              <a:t>For scripts, batch jobs, and pipelines.</a:t>
            </a:r>
          </a:p>
          <a:p>
            <a:pPr marL="219456" indent="-219456">
              <a:lnSpc>
                <a:spcPct val="106000"/>
              </a:lnSpc>
              <a:spcAft>
                <a:spcPts val="800"/>
              </a:spcAft>
            </a:pPr>
            <a:r>
              <a:rPr sz="13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300" b="0" i="0">
                <a:solidFill>
                  <a:srgbClr val="1E2126"/>
                </a:solidFill>
                <a:latin typeface="Arial"/>
              </a:rPr>
              <a:t>The 'Scaling up' section,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A session,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It reads, edits, runs the tests, and reports the cost — and you watch every step.</a:t>
            </a:r>
          </a:p>
        </p:txBody>
      </p:sp>
      <p:pic>
        <p:nvPicPr>
          <p:cNvPr id="5" name="Picture 4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5394" y="1700784"/>
            <a:ext cx="4273211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Choosing a model for the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Switch anytime with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/model</a:t>
            </a:r>
            <a:r>
              <a:rPr sz="1250" b="0" i="0">
                <a:solidFill>
                  <a:srgbClr val="555A61"/>
                </a:solidFill>
                <a:latin typeface="Arial"/>
              </a:rPr>
              <a:t>. Bigger is smarter but pricier; smaller is fast and cheap for bulk.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8046719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4626864"/>
                <a:gridCol w="191109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Best for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Relative cost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E2126"/>
                          </a:solidFill>
                          <a:latin typeface="Arial"/>
                        </a:rPr>
                        <a:t>Opus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The hardest reasoning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$$$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E2126"/>
                          </a:solidFill>
                          <a:latin typeface="Arial"/>
                        </a:rPr>
                        <a:t>Sonnet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Balanced, everyday work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$$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E2126"/>
                          </a:solidFill>
                          <a:latin typeface="Arial"/>
                        </a:rPr>
                        <a:t>Haiku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Fast and cheap — ideal for batch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E2126"/>
                          </a:solidFill>
                          <a:latin typeface="Arial"/>
                        </a:rPr>
                        <a:t>$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Current models and per-token pricing: Anthropic pricing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A few moves worth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Shift+Tab</a:t>
            </a:r>
            <a:r>
              <a:rPr sz="145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50" b="0" i="0">
                <a:solidFill>
                  <a:srgbClr val="1E2126"/>
                </a:solidFill>
                <a:latin typeface="Arial"/>
              </a:rPr>
              <a:t>cycles the permission mode — ask-first, then auto-edit, then read-only plan.</a:t>
            </a:r>
          </a:p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Esc, then Esc Esc</a:t>
            </a:r>
            <a:r>
              <a:rPr sz="145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50" b="0" i="0">
                <a:solidFill>
                  <a:srgbClr val="1E2126"/>
                </a:solidFill>
                <a:latin typeface="Arial"/>
              </a:rPr>
              <a:t>stops it; or rewinds to before its last edit (a local checkpoint).</a:t>
            </a:r>
          </a:p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45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50" b="1" i="0">
                <a:solidFill>
                  <a:srgbClr val="1155CC"/>
                </a:solidFill>
                <a:latin typeface="Arial"/>
              </a:rPr>
              <a:t>/cost  ·  /clear  ·  /help</a:t>
            </a:r>
            <a:r>
              <a:rPr sz="145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50" b="0" i="0">
                <a:solidFill>
                  <a:srgbClr val="1E2126"/>
                </a:solidFill>
                <a:latin typeface="Arial"/>
              </a:rPr>
              <a:t>check spend, clear its memory for a fresh start, or list every command.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Working efficiently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Tokens, context, and cost — how to get more done for 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135085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What you pay for: input and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You are billed by the token — very roughly ¾ of a word. Every call has two parts.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Input — everything it reads.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Your prompt, the files it opens, and the whole conversation so far.</a:t>
            </a:r>
          </a:p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Output — everything it writes.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Its replies, its edits, and any files it produces.</a:t>
            </a:r>
          </a:p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Output costs about 5× input.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On every model, writing a token is priced roughly five times reading one — so a chatty, rewrite-everything agent runs up the bill fast.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Per-token prices (e.g. Haiku ≈ $1 in / $5 out): Anthropic pricing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Context is a budget too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The context window is everything the model sees at once — and it re-reads all of it on every 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fills as the session grows.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Every file you open and every message stays in view, and is paid for again as input on the next step.</a:t>
            </a:r>
          </a:p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A bloated context costs and confuses.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Long sessions get slower, pricier, and lower-quality as the window fills up.</a:t>
            </a:r>
          </a:p>
          <a:p>
            <a:pPr marL="274320" indent="-274320"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Keep it lean.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/clear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starts fresh between tasks,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/compact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summarizes,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/context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shows what's loaded — and open only the files you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Match the effort to the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Arial"/>
              </a:rPr>
              <a:t>/effort</a:t>
            </a:r>
            <a:r>
              <a:rPr sz="1250" b="0" i="0">
                <a:solidFill>
                  <a:srgbClr val="555A61"/>
                </a:solidFill>
                <a:latin typeface="Arial"/>
              </a:rPr>
              <a:t> sets how hard the model thinks before it acts — from low to max.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More effort means more thinking.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Better answers on genuinely hard problems, but more tokens and more time.</a:t>
            </a:r>
          </a:p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Keep it low for routine work.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rename, a summary, or a quick plot needs little deliberation.</a:t>
            </a:r>
          </a:p>
          <a:p>
            <a:pPr marL="274320" indent="-274320">
              <a:lnSpc>
                <a:spcPct val="108000"/>
              </a:lnSpc>
              <a:spcAft>
                <a:spcPts val="15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Spend high effort where it pays off.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subtle bug or a tricky design — not an everyday edit.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A playbook for spending less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00" b="1" i="0">
                <a:solidFill>
                  <a:srgbClr val="1155CC"/>
                </a:solidFill>
                <a:latin typeface="Arial"/>
              </a:rPr>
              <a:t>Pick the smallest model that works.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00" b="0" i="0">
                <a:solidFill>
                  <a:srgbClr val="1E2126"/>
                </a:solidFill>
                <a:latin typeface="Arial"/>
              </a:rPr>
              <a:t>Haiku for bulk and routine; save Opus for the hardest reasoning.</a:t>
            </a:r>
          </a:p>
          <a:p>
            <a:pPr marL="274320" indent="-274320"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00" b="1" i="0">
                <a:solidFill>
                  <a:srgbClr val="1155CC"/>
                </a:solidFill>
                <a:latin typeface="Arial"/>
              </a:rPr>
              <a:t>Clear context between tasks.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00" b="0" i="0">
                <a:solidFill>
                  <a:srgbClr val="007482"/>
                </a:solidFill>
                <a:latin typeface="Arial"/>
              </a:rPr>
              <a:t>/clear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so old files and chatter don't ride along as paid input.</a:t>
            </a:r>
          </a:p>
          <a:p>
            <a:pPr marL="274320" indent="-274320"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00" b="1" i="0">
                <a:solidFill>
                  <a:srgbClr val="1155CC"/>
                </a:solidFill>
                <a:latin typeface="Arial"/>
              </a:rPr>
              <a:t>Scope the ask.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00" b="0" i="0">
                <a:solidFill>
                  <a:srgbClr val="1E2126"/>
                </a:solidFill>
                <a:latin typeface="Arial"/>
              </a:rPr>
              <a:t>Open only the files you need; ask for a diff or a number, not a full rewrite.</a:t>
            </a:r>
          </a:p>
          <a:p>
            <a:pPr marL="274320" indent="-274320"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400" b="1" i="0">
                <a:solidFill>
                  <a:srgbClr val="1155CC"/>
                </a:solidFill>
                <a:latin typeface="Arial"/>
              </a:rPr>
              <a:t>Cap runaways; reuse the rest.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400" b="0" i="0">
                <a:solidFill>
                  <a:srgbClr val="007482"/>
                </a:solidFill>
                <a:latin typeface="Arial"/>
              </a:rPr>
              <a:t>--max-turns</a:t>
            </a:r>
            <a:r>
              <a:rPr sz="1400" b="0" i="0">
                <a:solidFill>
                  <a:srgbClr val="1E2126"/>
                </a:solidFill>
                <a:latin typeface="Arial"/>
              </a:rPr>
              <a:t> and a budget stop a loop; repeated context is cached, so follow-ups cost less.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Make it yours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Teach it your project, save your prompts, add your own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4180114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Everything around the model is yours to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A map of what you configure. The model sits in the middle; the harness surrounds it.</a:t>
            </a:r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235" y="1700784"/>
            <a:ext cx="583752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Project memory: a file it reads every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007482"/>
                </a:solidFill>
                <a:latin typeface="Arial"/>
              </a:rPr>
              <a:t>CLAUDE.md</a:t>
            </a:r>
            <a:r>
              <a:rPr sz="1250" b="0" i="0">
                <a:solidFill>
                  <a:srgbClr val="555A61"/>
                </a:solidFill>
                <a:latin typeface="Arial"/>
              </a:rPr>
              <a:t> — a plain Markdown file, loaded at the start of every session in that folder.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Write down your project's facts.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“tests live here,” “use the conda env AI,” “raw data is read-only.”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007482"/>
                </a:solidFill>
                <a:latin typeface="Arial"/>
              </a:rPr>
              <a:t>/init</a:t>
            </a:r>
            <a:r>
              <a:rPr sz="1500" b="1" i="0">
                <a:solidFill>
                  <a:srgbClr val="1155CC"/>
                </a:solidFill>
                <a:latin typeface="Arial"/>
              </a:rPr>
              <a:t> writes a starter for you.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Keep it short — under about 200 lines. It is advice, not a hard rule.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is shared, via git.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Check it in and the whole lab gets the same onboarding.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Save a prompt you reuse: slash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A prompt you write once and fire by name — versioned and shared with your lab.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715" y="1700784"/>
            <a:ext cx="7758569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Skills: abilities the model reaches for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You do not call a skill — the model reaches for it when your request matches its description.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94" y="1700784"/>
            <a:ext cx="6675811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Agent Skills: Anthropic, "Equipping agents for the real world with Agent Skills" (2025).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Staying in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The part that makes it safe on a shared cluster.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5225142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You decide how much it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Shift+Tab cycles these. You set the mode — the model cannot change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804672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13432"/>
                <a:gridCol w="573328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E2126"/>
                          </a:solidFill>
                          <a:latin typeface="Arial"/>
                        </a:rPr>
                        <a:t>Ask first (default)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E2126"/>
                          </a:solidFill>
                          <a:latin typeface="Arial"/>
                        </a:rPr>
                        <a:t>Reads freely; asks before its first edit or command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E2126"/>
                          </a:solidFill>
                          <a:latin typeface="Arial"/>
                        </a:rPr>
                        <a:t>Accept edits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E2126"/>
                          </a:solidFill>
                          <a:latin typeface="Arial"/>
                        </a:rPr>
                        <a:t>Approves its own edits inside the current folder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E2126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E2126"/>
                          </a:solidFill>
                          <a:latin typeface="Arial"/>
                        </a:rPr>
                        <a:t>Read-only — it proposes changes but makes none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160520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55A61"/>
                </a:solidFill>
                <a:latin typeface="Arial"/>
              </a:rPr>
              <a:t>A fourth mode skips all checks — only ever in a throwaway container or VM, never on shared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Before anything risky, it stops and 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You choose: allow once, always allow this kind, or say no and redirect it.</a:t>
            </a:r>
          </a:p>
        </p:txBody>
      </p:sp>
      <p:pic>
        <p:nvPicPr>
          <p:cNvPr id="5" name="Picture 4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728" y="1700784"/>
            <a:ext cx="547854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Rules live in a settings file — and a deny always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Listed in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.claude/settings.json</a:t>
            </a:r>
            <a:r>
              <a:rPr sz="1250" b="0" i="0">
                <a:solidFill>
                  <a:srgbClr val="555A61"/>
                </a:solidFill>
                <a:latin typeface="Arial"/>
              </a:rPr>
              <a:t>. A hook can also veto, as we will see next.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006" y="1700784"/>
            <a:ext cx="5427987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Precedence and rule syntax: Anthropic, Claude Code permissions docs.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Hooks: a check the program cannot skip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Set it once in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settings.json</a:t>
            </a:r>
            <a:r>
              <a:rPr sz="1250" b="0" i="0">
                <a:solidFill>
                  <a:srgbClr val="555A61"/>
                </a:solidFill>
                <a:latin typeface="Arial"/>
              </a:rPr>
              <a:t>; it runs before the tool, on every matching event.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03" y="1700784"/>
            <a:ext cx="7012993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Safe on a shared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Use the permission ladder.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Plan to explore; auto-edit only in a clean git repo; never bypass on shared files.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can read what you can.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Start it in your project folder, and deny sensitive paths (e.g.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~/.ssh</a:t>
            </a:r>
            <a:r>
              <a:rPr sz="1500" b="0" i="0">
                <a:solidFill>
                  <a:srgbClr val="1E2126"/>
                </a:solidFill>
                <a:latin typeface="Arial"/>
              </a:rPr>
              <a:t>,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.env</a:t>
            </a:r>
            <a:r>
              <a:rPr sz="1500" b="0" i="0">
                <a:solidFill>
                  <a:srgbClr val="1E2126"/>
                </a:solidFill>
                <a:latin typeface="Arial"/>
              </a:rPr>
              <a:t>).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Keep secrets out of jobs.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Log in with the token, not a raw API key, so nothing secret rides into a batch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Scaling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From one command to a batch — and out to your own cluster tools.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6270171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One command, a structured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One turn in, one machine-readable object out — the building block of every pipeline.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18863"/>
            <a:ext cx="8412480" cy="26910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From one call to a Slurm batch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One call is the unit of a batch job — loop it, sum the cost, submit it.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3" y="1700784"/>
            <a:ext cx="8013573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Give it your own tools with MCP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The Model Context Protocol (MCP) is an open standard — the same tool server works in any MCP-aware app.</a:t>
            </a:r>
          </a:p>
        </p:txBody>
      </p:sp>
      <p:pic>
        <p:nvPicPr>
          <p:cNvPr id="5" name="Picture 4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046" y="1700784"/>
            <a:ext cx="5679906" cy="2980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MCP: Anthropic, "Introducing the Model Context Protocol" (2024); modelcontextprotocol.io.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1155CC"/>
                </a:solidFill>
                <a:latin typeface="Arial"/>
              </a:rPr>
              <a:t>PART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Trust and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Non-negotiable on shared research infrastructure.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The real risk is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6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Prompt injection is real.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web page, a pull request, or a tool's output can carry hidden instructions.</a:t>
            </a:r>
          </a:p>
          <a:p>
            <a:pPr marL="274320" indent="-274320">
              <a:lnSpc>
                <a:spcPct val="108000"/>
              </a:lnSpc>
              <a:spcAft>
                <a:spcPts val="16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A skill or tool is software.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Installing one runs its code as you — accept only tools and hooks you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OWASP Gen AI Security Project, "LLM01:2025 Prompt Injection."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Your data, and your obligations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Restricted data needs approval.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IRB, protected health information (PHI), or export-controlled data must clear institutional review first.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Disclose AI assistance.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Follow your venue's policy, and keep the transcript as a record.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Generated code is still yours.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Review and license it like any other dependency you take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91456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1">
                <a:solidFill>
                  <a:srgbClr val="989EA6"/>
                </a:solidFill>
                <a:latin typeface="Arial"/>
              </a:rPr>
              <a:t>Anthropic Privacy Center, "Is my data used for model training?"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Where it falls short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can be confidently wrong.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Invented functions, plausible-but-broken fixes — verify everything it produces.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is not reproducible bit-for-bit.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The model samples, so two runs can differ. Pin what must be exact.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Skip it for trivia or the unverifiable.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If you genuinely cannot check the output, do not ship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007482"/>
                </a:solidFill>
                <a:latin typeface="Arial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Now you 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On a real dataset — Claude does the analysis, you review the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The lab: analyze a real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A flat folder: Markdown task cards, a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CLAUDE.md</a:t>
            </a:r>
            <a:r>
              <a:rPr sz="1250" b="0" i="0">
                <a:solidFill>
                  <a:srgbClr val="555A61"/>
                </a:solidFill>
                <a:latin typeface="Arial"/>
              </a:rPr>
              <a:t>, and an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answers.py</a:t>
            </a:r>
            <a:r>
              <a:rPr sz="1250" b="0" i="0">
                <a:solidFill>
                  <a:srgbClr val="555A61"/>
                </a:solidFill>
                <a:latin typeface="Arial"/>
              </a:rPr>
              <a:t> key — no notebook, nothing to download.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8046720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The data lives online.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Palmer Penguins — 344 field measurements — read straight from a URL.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You ask; it analyzes.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Open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claude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in the </a:t>
            </a:r>
            <a:r>
              <a:rPr sz="1500" b="0" i="0">
                <a:solidFill>
                  <a:srgbClr val="007482"/>
                </a:solidFill>
                <a:latin typeface="Arial"/>
              </a:rPr>
              <a:t>hands-on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folder and paste each task card — it writes and runs the analysis and reports back.</a:t>
            </a:r>
          </a:p>
          <a:p>
            <a:pPr marL="274320" indent="-274320">
              <a:lnSpc>
                <a:spcPct val="108000"/>
              </a:lnSpc>
              <a:spcAft>
                <a:spcPts val="13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You stay the reviewer.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Approve each step, then check its numbers — an agent can be confidently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The tasks map to what you just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3856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55A61"/>
                </a:solidFill>
                <a:latin typeface="Arial"/>
              </a:rPr>
              <a:t>Seven short analyses — Claude does the work, you check it — then two optional extras: headless, and your own data.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8046720" cy="26334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15768"/>
                <a:gridCol w="533095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You practice</a:t>
                      </a:r>
                    </a:p>
                  </a:txBody>
                  <a:tcPr marL="128016" marR="91440" marT="45720" marB="45720" anchor="ctr">
                    <a:solidFill>
                      <a:srgbClr val="00748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1 · First look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reading remote data; project memory (CLAUDE.md)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2 · Summary by species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group-and-summarize, reported as a table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3 · The heaviest species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a comparison and a judgment call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4 · Flipper vs body mass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correlations — overall and within groups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5 · Data quality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spotting missing / odd values (without dropping them)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6 · Make a figure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write + run a plotting script → a saved figure</a:t>
                      </a:r>
                    </a:p>
                  </a:txBody>
                  <a:tcPr marL="128016" marR="91440" marT="45720" marB="45720" anchor="ctr">
                    <a:solidFill>
                      <a:srgbClr val="EEF2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E2126"/>
                          </a:solidFill>
                          <a:latin typeface="Arial"/>
                        </a:rPr>
                        <a:t>7 · Write it up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E2126"/>
                          </a:solidFill>
                          <a:latin typeface="Arial"/>
                        </a:rPr>
                        <a:t>turn the numbers into a Results paragraph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8046720" cy="3008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8000"/>
              </a:lnSpc>
              <a:spcAft>
                <a:spcPts val="18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You shape the program; the model is swappable.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Configure the harness — the model just answers.</a:t>
            </a:r>
          </a:p>
          <a:p>
            <a:pPr marL="274320" indent="-274320">
              <a:lnSpc>
                <a:spcPct val="108000"/>
              </a:lnSpc>
              <a:spcAft>
                <a:spcPts val="18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It is a loop you govern.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Advice (CLAUDE.md, skills) guides it; rules (permissions, hooks) bind it.</a:t>
            </a:r>
          </a:p>
          <a:p>
            <a:pPr marL="274320" indent="-274320">
              <a:lnSpc>
                <a:spcPct val="108000"/>
              </a:lnSpc>
              <a:spcAft>
                <a:spcPts val="18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•  </a:t>
            </a:r>
            <a:r>
              <a:rPr sz="1500" b="1" i="0">
                <a:solidFill>
                  <a:srgbClr val="1155CC"/>
                </a:solidFill>
                <a:latin typeface="Arial"/>
              </a:rPr>
              <a:t>Always give it a check.</a:t>
            </a:r>
            <a:r>
              <a:rPr sz="1500" b="0" i="0">
                <a:solidFill>
                  <a:srgbClr val="1E2126"/>
                </a:solidFill>
                <a:latin typeface="Arial"/>
              </a:rPr>
              <a:t>  </a:t>
            </a:r>
            <a:r>
              <a:rPr sz="1500" b="0" i="0">
                <a:solidFill>
                  <a:srgbClr val="1E2126"/>
                </a:solidFill>
                <a:latin typeface="Arial"/>
              </a:rPr>
              <a:t>A test or an exit code — never ship what you have not verified.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References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840480" cy="326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Claude Code: Overview — Anthropic. code.claude.com/docs/en/overview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2.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Advanced setup — Anthropic. code.claude.com/docs/en/setup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3.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Authentication — Anthropic. code.claude.com/docs/en/authentication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4.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Configure permissions — Anthropic. code.claude.com/docs/en/permissions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5.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Choose a permission mode — Anthropic. code.claude.com/docs/en/permission-modes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6.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Hooks reference — Anthropic. code.claude.com/docs/en/hooks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463040"/>
            <a:ext cx="3840480" cy="326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7.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Memory (CLAUDE.md) — Anthropic. code.claude.com/docs/en/memory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8.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Custom subagents — Anthropic. code.claude.com/docs/en/sub-agents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9.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Extend Claude with Skills — Anthropic. code.claude.com/docs/en/skills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10.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Connect tools via MCP — Anthropic. code.claude.com/docs/en/mcp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11.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Run Claude Code programmatically — Anthropic. code.claude.com/docs/en/headless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E2126"/>
                </a:solidFill>
                <a:latin typeface="Arial"/>
              </a:rPr>
              <a:t>References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05156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3840480" cy="326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Agent SDK overview — Anthropic. code.claude.com/docs/en/agent-sdk/overview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2.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Security — Anthropic. code.claude.com/docs/en/security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3.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Pricing — Anthropic. platform.claude.com/docs/en/docs/about-claude/pricing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4.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Building effective agents (2024) — Anthropic. anthropic.com/engineering/building-effective-agents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5.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Equipping agents with Agent Skills (2025) — Anthropic. anthropic.com/engineering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6.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Introducing the Model Context Protocol (2024) — Anthropic. anthropic.com/news/model-context-protocol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463040"/>
            <a:ext cx="3840480" cy="326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7.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Model Context Protocol — modelcontextprotocol.io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8.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Is my data used for model training? — Anthropic Privacy Center. privacy.claude.com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9.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LLM01:2025 Prompt Injection — OWASP Gen AI Security Project. genai.owasp.org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10.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Interactive Jobs — UChicago RCC. docs.rcc.uchicago.edu/slurm/sinteractive</a:t>
            </a:r>
          </a:p>
          <a:p>
            <a:pPr>
              <a:lnSpc>
                <a:spcPct val="102000"/>
              </a:lnSpc>
              <a:spcAft>
                <a:spcPts val="600"/>
              </a:spcAft>
            </a:pPr>
            <a:r>
              <a:rPr sz="1050" b="1" i="0">
                <a:solidFill>
                  <a:srgbClr val="007482"/>
                </a:solidFill>
                <a:latin typeface="Arial"/>
              </a:rPr>
              <a:t>11. </a:t>
            </a:r>
            <a:r>
              <a:rPr sz="1050" b="0" i="0">
                <a:solidFill>
                  <a:srgbClr val="555A61"/>
                </a:solidFill>
                <a:latin typeface="Arial"/>
              </a:rPr>
              <a:t>Python &amp; Jupyter — UChicago RCC. docs.rcc.uchicago.edu/software/apps-and-envs/python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 i="0" spc="160">
                <a:solidFill>
                  <a:srgbClr val="007482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E2126"/>
                </a:solidFill>
                <a:latin typeface="Arial"/>
              </a:rPr>
              <a:t>Thank you —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55A61"/>
                </a:solidFill>
                <a:latin typeface="Arial"/>
              </a:rPr>
              <a:t>RCC support: user guide at docs.rcc.uchicago.edu, the help desk, and office hours.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7315200" cy="54864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479145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89EA6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