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8046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 spc="120">
                <a:solidFill>
                  <a:srgbClr val="37C6D4"/>
                </a:solidFill>
                <a:latin typeface="Arial"/>
              </a:rPr>
              <a:t>RCC WORKSHOP · UNIVERSITY OF CHICAGO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761488"/>
            <a:ext cx="1554480" cy="54864"/>
          </a:xfrm>
          <a:prstGeom prst="rect">
            <a:avLst/>
          </a:prstGeom>
          <a:solidFill>
            <a:srgbClr val="37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80467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2F6FC"/>
                </a:solidFill>
                <a:latin typeface="Arial"/>
              </a:rPr>
              <a:t>Claude Code on Midway3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971800"/>
            <a:ext cx="80467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9BA6B4"/>
                </a:solidFill>
                <a:latin typeface="Arial"/>
              </a:rPr>
              <a:t>An AI coding agent for everyday research computing.</a:t>
            </a:r>
          </a:p>
          <a:p>
            <a:pPr>
              <a:spcBef>
                <a:spcPts val="1600"/>
              </a:spcBef>
            </a:pPr>
            <a:r>
              <a:rPr sz="1250" b="0" i="0">
                <a:solidFill>
                  <a:srgbClr val="9BA6B4"/>
                </a:solidFill>
                <a:latin typeface="Arial"/>
              </a:rPr>
              <a:t>Youzhi Yu · Research Computing Center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046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 i="0">
                <a:solidFill>
                  <a:srgbClr val="D6DCE6"/>
                </a:solidFill>
                <a:latin typeface="Arial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457200" cy="4080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b="1" i="0">
                <a:solidFill>
                  <a:srgbClr val="37C6D4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1417320"/>
            <a:ext cx="7534656" cy="4080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700" b="1" i="0">
                <a:solidFill>
                  <a:srgbClr val="D6DCE6"/>
                </a:solidFill>
                <a:latin typeface="Arial"/>
              </a:rPr>
              <a:t>AI agents</a:t>
            </a:r>
            <a:r>
              <a:rPr sz="1700" b="0" i="0">
                <a:solidFill>
                  <a:srgbClr val="9BA6B4"/>
                </a:solidFill>
                <a:latin typeface="Arial"/>
              </a:rPr>
              <a:t>     </a:t>
            </a:r>
            <a:r>
              <a:rPr sz="1500" b="0" i="0">
                <a:solidFill>
                  <a:srgbClr val="9BA6B4"/>
                </a:solidFill>
                <a:latin typeface="Arial"/>
              </a:rPr>
              <a:t>from language models that answer, to systems that act.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5371"/>
            <a:ext cx="457200" cy="4080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b="1" i="0">
                <a:solidFill>
                  <a:srgbClr val="37C6D4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" y="1825371"/>
            <a:ext cx="7534656" cy="4080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700" b="1" i="0">
                <a:solidFill>
                  <a:srgbClr val="D6DCE6"/>
                </a:solidFill>
                <a:latin typeface="Arial"/>
              </a:rPr>
              <a:t>Claude Code</a:t>
            </a:r>
            <a:r>
              <a:rPr sz="1700" b="0" i="0">
                <a:solidFill>
                  <a:srgbClr val="9BA6B4"/>
                </a:solidFill>
                <a:latin typeface="Arial"/>
              </a:rPr>
              <a:t>     </a:t>
            </a:r>
            <a:r>
              <a:rPr sz="1500" b="0" i="0">
                <a:solidFill>
                  <a:srgbClr val="9BA6B4"/>
                </a:solidFill>
                <a:latin typeface="Arial"/>
              </a:rPr>
              <a:t>an AI agent for coding and research tasks.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33422"/>
            <a:ext cx="457200" cy="4080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b="1" i="0">
                <a:solidFill>
                  <a:srgbClr val="37C6D4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2233422"/>
            <a:ext cx="7534656" cy="4080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700" b="1" i="0">
                <a:solidFill>
                  <a:srgbClr val="D6DCE6"/>
                </a:solidFill>
                <a:latin typeface="Arial"/>
              </a:rPr>
              <a:t>Everyday applications</a:t>
            </a:r>
            <a:r>
              <a:rPr sz="1700" b="0" i="0">
                <a:solidFill>
                  <a:srgbClr val="9BA6B4"/>
                </a:solidFill>
                <a:latin typeface="Arial"/>
              </a:rPr>
              <a:t>     </a:t>
            </a:r>
            <a:r>
              <a:rPr sz="1500" b="0" i="0">
                <a:solidFill>
                  <a:srgbClr val="9BA6B4"/>
                </a:solidFill>
                <a:latin typeface="Arial"/>
              </a:rPr>
              <a:t>the range of tasks it handles.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41473"/>
            <a:ext cx="457200" cy="4080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b="1" i="0">
                <a:solidFill>
                  <a:srgbClr val="37C6D4"/>
                </a:solidFill>
                <a:latin typeface="Arial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" y="2641473"/>
            <a:ext cx="7534656" cy="4080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700" b="1" i="0">
                <a:solidFill>
                  <a:srgbClr val="D6DCE6"/>
                </a:solidFill>
                <a:latin typeface="Arial"/>
              </a:rPr>
              <a:t>Model, effort, and context</a:t>
            </a:r>
            <a:r>
              <a:rPr sz="1700" b="0" i="0">
                <a:solidFill>
                  <a:srgbClr val="9BA6B4"/>
                </a:solidFill>
                <a:latin typeface="Arial"/>
              </a:rPr>
              <a:t>     </a:t>
            </a:r>
            <a:r>
              <a:rPr sz="1500" b="0" i="0">
                <a:solidFill>
                  <a:srgbClr val="9BA6B4"/>
                </a:solidFill>
                <a:latin typeface="Arial"/>
              </a:rPr>
              <a:t>configuring the model's behavior.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049524"/>
            <a:ext cx="457200" cy="4080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b="1" i="0">
                <a:solidFill>
                  <a:srgbClr val="37C6D4"/>
                </a:solidFill>
                <a:latin typeface="Arial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" y="3049524"/>
            <a:ext cx="7534656" cy="4080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700" b="1" i="0">
                <a:solidFill>
                  <a:srgbClr val="D6DCE6"/>
                </a:solidFill>
                <a:latin typeface="Arial"/>
              </a:rPr>
              <a:t>Commands and interaction</a:t>
            </a:r>
            <a:r>
              <a:rPr sz="1700" b="0" i="0">
                <a:solidFill>
                  <a:srgbClr val="9BA6B4"/>
                </a:solidFill>
                <a:latin typeface="Arial"/>
              </a:rPr>
              <a:t>     </a:t>
            </a:r>
            <a:r>
              <a:rPr sz="1500" b="0" i="0">
                <a:solidFill>
                  <a:srgbClr val="9BA6B4"/>
                </a:solidFill>
                <a:latin typeface="Arial"/>
              </a:rPr>
              <a:t>directing and constraining a session.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457575"/>
            <a:ext cx="457200" cy="4080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b="1" i="0">
                <a:solidFill>
                  <a:srgbClr val="37C6D4"/>
                </a:solidFill>
                <a:latin typeface="Arial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" y="3457575"/>
            <a:ext cx="7534656" cy="4080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700" b="1" i="0">
                <a:solidFill>
                  <a:srgbClr val="D6DCE6"/>
                </a:solidFill>
                <a:latin typeface="Arial"/>
              </a:rPr>
              <a:t>Customization and extensibility</a:t>
            </a:r>
            <a:r>
              <a:rPr sz="1700" b="0" i="0">
                <a:solidFill>
                  <a:srgbClr val="9BA6B4"/>
                </a:solidFill>
                <a:latin typeface="Arial"/>
              </a:rPr>
              <a:t>     </a:t>
            </a:r>
            <a:r>
              <a:rPr sz="1500" b="0" i="0">
                <a:solidFill>
                  <a:srgbClr val="9BA6B4"/>
                </a:solidFill>
                <a:latin typeface="Arial"/>
              </a:rPr>
              <a:t>CLAUDE.md, skills, and external tools.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865626"/>
            <a:ext cx="457200" cy="4080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b="1" i="0">
                <a:solidFill>
                  <a:srgbClr val="37C6D4"/>
                </a:solidFill>
                <a:latin typeface="Arial"/>
              </a:rP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" y="3865626"/>
            <a:ext cx="7534656" cy="4080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700" b="1" i="0">
                <a:solidFill>
                  <a:srgbClr val="D6DCE6"/>
                </a:solidFill>
                <a:latin typeface="Arial"/>
              </a:rPr>
              <a:t>Claude Code on the cluster</a:t>
            </a:r>
            <a:r>
              <a:rPr sz="1700" b="0" i="0">
                <a:solidFill>
                  <a:srgbClr val="9BA6B4"/>
                </a:solidFill>
                <a:latin typeface="Arial"/>
              </a:rPr>
              <a:t>     </a:t>
            </a:r>
            <a:r>
              <a:rPr sz="1500" b="0" i="0">
                <a:solidFill>
                  <a:srgbClr val="9BA6B4"/>
                </a:solidFill>
                <a:latin typeface="Arial"/>
              </a:rPr>
              <a:t>everyday Slurm and Midway3 work.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273677"/>
            <a:ext cx="457200" cy="4080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b="1" i="0">
                <a:solidFill>
                  <a:srgbClr val="37C6D4"/>
                </a:solidFill>
                <a:latin typeface="Arial"/>
              </a:rPr>
              <a:t>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" y="4273677"/>
            <a:ext cx="7534656" cy="4080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700" b="1" i="0">
                <a:solidFill>
                  <a:srgbClr val="D6DCE6"/>
                </a:solidFill>
                <a:latin typeface="Arial"/>
              </a:rPr>
              <a:t>Hands-on exercise</a:t>
            </a:r>
            <a:r>
              <a:rPr sz="1700" b="0" i="0">
                <a:solidFill>
                  <a:srgbClr val="9BA6B4"/>
                </a:solidFill>
                <a:latin typeface="Arial"/>
              </a:rPr>
              <a:t>     </a:t>
            </a:r>
            <a:r>
              <a:rPr sz="1500" b="0" i="0">
                <a:solidFill>
                  <a:srgbClr val="9BA6B4"/>
                </a:solidFill>
                <a:latin typeface="Arial"/>
              </a:rPr>
              <a:t>applying Claude Code on Midway3.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479145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66072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11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74A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 i="0" spc="160">
                <a:solidFill>
                  <a:srgbClr val="74A8FF"/>
                </a:solidFill>
                <a:latin typeface="Arial"/>
              </a:rPr>
              <a:t>PART 1 OF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D6DCE6"/>
                </a:solidFill>
                <a:latin typeface="Arial"/>
              </a:rPr>
              <a:t>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127248"/>
            <a:ext cx="7680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 i="0">
                <a:solidFill>
                  <a:srgbClr val="9BA6B4"/>
                </a:solidFill>
                <a:latin typeface="Arial"/>
              </a:rPr>
              <a:t>From language models that answer, to systems that act.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4114800"/>
            <a:ext cx="7315200" cy="54864"/>
          </a:xfrm>
          <a:prstGeom prst="rect">
            <a:avLst/>
          </a:prstGeom>
          <a:solidFill>
            <a:srgbClr val="2A35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14400" y="4114800"/>
            <a:ext cx="914400" cy="54864"/>
          </a:xfrm>
          <a:prstGeom prst="rect">
            <a:avLst/>
          </a:prstGeom>
          <a:solidFill>
            <a:srgbClr val="74A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479145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66072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046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 i="0">
                <a:solidFill>
                  <a:srgbClr val="D6DCE6"/>
                </a:solidFill>
                <a:latin typeface="Arial"/>
              </a:rPr>
              <a:t>At the core is a language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33856"/>
            <a:ext cx="8046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 i="0">
                <a:solidFill>
                  <a:srgbClr val="9BA6B4"/>
                </a:solidFill>
                <a:latin typeface="Arial"/>
              </a:rPr>
              <a:t>Every AI agent is built on 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55648"/>
            <a:ext cx="804672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292608" indent="-292608">
              <a:lnSpc>
                <a:spcPct val="122000"/>
              </a:lnSpc>
              <a:spcAft>
                <a:spcPts val="2100"/>
              </a:spcAft>
            </a:pPr>
            <a:r>
              <a:rPr sz="1700" b="1" i="0">
                <a:solidFill>
                  <a:srgbClr val="37C6D4"/>
                </a:solidFill>
                <a:latin typeface="Arial"/>
              </a:rPr>
              <a:t>•  </a:t>
            </a:r>
            <a:r>
              <a:rPr sz="1700" b="1" i="0">
                <a:solidFill>
                  <a:srgbClr val="74A8FF"/>
                </a:solidFill>
                <a:latin typeface="Arial"/>
              </a:rPr>
              <a:t>Prediction, at heart.</a:t>
            </a:r>
            <a:r>
              <a:rPr sz="1700" b="0" i="0">
                <a:solidFill>
                  <a:srgbClr val="D6DCE6"/>
                </a:solidFill>
                <a:latin typeface="Arial"/>
              </a:rPr>
              <a:t>  </a:t>
            </a:r>
            <a:r>
              <a:rPr sz="1700" b="0" i="0">
                <a:solidFill>
                  <a:srgbClr val="D6DCE6"/>
                </a:solidFill>
                <a:latin typeface="Arial"/>
              </a:rPr>
              <a:t>Given some text, a large language model (an LLM) continues it — enough to answer a question, summarize a document, or draft prose.</a:t>
            </a:r>
          </a:p>
          <a:p>
            <a:pPr marL="292608" indent="-292608">
              <a:lnSpc>
                <a:spcPct val="122000"/>
              </a:lnSpc>
              <a:spcAft>
                <a:spcPts val="2100"/>
              </a:spcAft>
            </a:pPr>
            <a:r>
              <a:rPr sz="1700" b="1" i="0">
                <a:solidFill>
                  <a:srgbClr val="37C6D4"/>
                </a:solidFill>
                <a:latin typeface="Arial"/>
              </a:rPr>
              <a:t>•  </a:t>
            </a:r>
            <a:r>
              <a:rPr sz="1700" b="1" i="0">
                <a:solidFill>
                  <a:srgbClr val="74A8FF"/>
                </a:solidFill>
                <a:latin typeface="Arial"/>
              </a:rPr>
              <a:t>The engine behind chatbots.</a:t>
            </a:r>
            <a:r>
              <a:rPr sz="1700" b="0" i="0">
                <a:solidFill>
                  <a:srgbClr val="D6DCE6"/>
                </a:solidFill>
                <a:latin typeface="Arial"/>
              </a:rPr>
              <a:t>  </a:t>
            </a:r>
            <a:r>
              <a:rPr sz="1700" b="0" i="0">
                <a:solidFill>
                  <a:srgbClr val="D6DCE6"/>
                </a:solidFill>
                <a:latin typeface="Arial"/>
              </a:rPr>
              <a:t>Tools such as ChatGPT and Claude are chatbots wrapped around a language model, presented as a conversation: the user types, the model replies.</a:t>
            </a:r>
          </a:p>
          <a:p>
            <a:pPr marL="292608" indent="-292608">
              <a:lnSpc>
                <a:spcPct val="122000"/>
              </a:lnSpc>
              <a:spcAft>
                <a:spcPts val="0"/>
              </a:spcAft>
            </a:pPr>
            <a:r>
              <a:rPr sz="1700" b="1" i="0">
                <a:solidFill>
                  <a:srgbClr val="37C6D4"/>
                </a:solidFill>
                <a:latin typeface="Arial"/>
              </a:rPr>
              <a:t>•  </a:t>
            </a:r>
            <a:r>
              <a:rPr sz="1700" b="1" i="0">
                <a:solidFill>
                  <a:srgbClr val="74A8FF"/>
                </a:solidFill>
                <a:latin typeface="Arial"/>
              </a:rPr>
              <a:t>Words, and only words.</a:t>
            </a:r>
            <a:r>
              <a:rPr sz="1700" b="0" i="0">
                <a:solidFill>
                  <a:srgbClr val="D6DCE6"/>
                </a:solidFill>
                <a:latin typeface="Arial"/>
              </a:rPr>
              <a:t>  </a:t>
            </a:r>
            <a:r>
              <a:rPr sz="1700" b="0" i="0">
                <a:solidFill>
                  <a:srgbClr val="D6DCE6"/>
                </a:solidFill>
                <a:latin typeface="Arial"/>
              </a:rPr>
              <a:t>On its own the model can describe a procedure, but cannot run a program, open a file, or verify a result.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9145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66072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046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 i="0">
                <a:solidFill>
                  <a:srgbClr val="D6DCE6"/>
                </a:solidFill>
                <a:latin typeface="Arial"/>
              </a:rPr>
              <a:t>From autocomplete to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33856"/>
            <a:ext cx="8046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 i="0">
                <a:solidFill>
                  <a:srgbClr val="9BA6B4"/>
                </a:solidFill>
                <a:latin typeface="Arial"/>
              </a:rPr>
              <a:t>The key difference: an agent works directly in your project files, instead of you pasting code into a chat and copying answers back.</a:t>
            </a:r>
          </a:p>
        </p:txBody>
      </p:sp>
      <p:pic>
        <p:nvPicPr>
          <p:cNvPr id="5" name="Picture 4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819" y="1700784"/>
            <a:ext cx="7922361" cy="31272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0" y="479145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66072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046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 i="0">
                <a:solidFill>
                  <a:srgbClr val="D6DCE6"/>
                </a:solidFill>
                <a:latin typeface="Arial"/>
              </a:rPr>
              <a:t>An agent adds tools and a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33856"/>
            <a:ext cx="8046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 i="0">
                <a:solidFill>
                  <a:srgbClr val="9BA6B4"/>
                </a:solidFill>
                <a:latin typeface="Arial"/>
              </a:rPr>
              <a:t>Wrap the model in a program that gives it tools and runs it repeatedly, and it can act.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55648"/>
            <a:ext cx="804672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292608" indent="-292608">
              <a:lnSpc>
                <a:spcPct val="122000"/>
              </a:lnSpc>
              <a:spcAft>
                <a:spcPts val="2000"/>
              </a:spcAft>
            </a:pPr>
            <a:r>
              <a:rPr sz="1700" b="1" i="0">
                <a:solidFill>
                  <a:srgbClr val="37C6D4"/>
                </a:solidFill>
                <a:latin typeface="Arial"/>
              </a:rPr>
              <a:t>•  </a:t>
            </a:r>
            <a:r>
              <a:rPr sz="1700" b="1" i="0">
                <a:solidFill>
                  <a:srgbClr val="74A8FF"/>
                </a:solidFill>
                <a:latin typeface="Arial"/>
              </a:rPr>
              <a:t>Tools, first.</a:t>
            </a:r>
            <a:r>
              <a:rPr sz="1700" b="0" i="0">
                <a:solidFill>
                  <a:srgbClr val="D6DCE6"/>
                </a:solidFill>
                <a:latin typeface="Arial"/>
              </a:rPr>
              <a:t>  </a:t>
            </a:r>
            <a:r>
              <a:rPr sz="1700" b="0" i="0">
                <a:solidFill>
                  <a:srgbClr val="D6DCE6"/>
                </a:solidFill>
                <a:latin typeface="Arial"/>
              </a:rPr>
              <a:t>The model is given the means to run commands, read and edit files, search, and call other software — actions, not just descriptions.</a:t>
            </a:r>
          </a:p>
          <a:p>
            <a:pPr marL="292608" indent="-292608">
              <a:lnSpc>
                <a:spcPct val="122000"/>
              </a:lnSpc>
              <a:spcAft>
                <a:spcPts val="2000"/>
              </a:spcAft>
            </a:pPr>
            <a:r>
              <a:rPr sz="1700" b="1" i="0">
                <a:solidFill>
                  <a:srgbClr val="37C6D4"/>
                </a:solidFill>
                <a:latin typeface="Arial"/>
              </a:rPr>
              <a:t>•  </a:t>
            </a:r>
            <a:r>
              <a:rPr sz="1700" b="1" i="0">
                <a:solidFill>
                  <a:srgbClr val="74A8FF"/>
                </a:solidFill>
                <a:latin typeface="Arial"/>
              </a:rPr>
              <a:t>A loop, not one reply.</a:t>
            </a:r>
            <a:r>
              <a:rPr sz="1700" b="0" i="0">
                <a:solidFill>
                  <a:srgbClr val="D6DCE6"/>
                </a:solidFill>
                <a:latin typeface="Arial"/>
              </a:rPr>
              <a:t>  </a:t>
            </a:r>
            <a:r>
              <a:rPr sz="1700" b="0" i="0">
                <a:solidFill>
                  <a:srgbClr val="D6DCE6"/>
                </a:solidFill>
                <a:latin typeface="Arial"/>
              </a:rPr>
              <a:t>The model chooses an action, a tool carries it out, and the result is fed back; this repeats, step by step, toward the goal.</a:t>
            </a:r>
          </a:p>
          <a:p>
            <a:pPr marL="292608" indent="-292608">
              <a:lnSpc>
                <a:spcPct val="122000"/>
              </a:lnSpc>
              <a:spcAft>
                <a:spcPts val="0"/>
              </a:spcAft>
            </a:pPr>
            <a:r>
              <a:rPr sz="1700" b="1" i="0">
                <a:solidFill>
                  <a:srgbClr val="37C6D4"/>
                </a:solidFill>
                <a:latin typeface="Arial"/>
              </a:rPr>
              <a:t>•  </a:t>
            </a:r>
            <a:r>
              <a:rPr sz="1700" b="1" i="0">
                <a:solidFill>
                  <a:srgbClr val="74A8FF"/>
                </a:solidFill>
                <a:latin typeface="Arial"/>
              </a:rPr>
              <a:t>A goal to reach.</a:t>
            </a:r>
            <a:r>
              <a:rPr sz="1700" b="0" i="0">
                <a:solidFill>
                  <a:srgbClr val="D6DCE6"/>
                </a:solidFill>
                <a:latin typeface="Arial"/>
              </a:rPr>
              <a:t>  </a:t>
            </a:r>
            <a:r>
              <a:rPr sz="1700" b="0" i="0">
                <a:solidFill>
                  <a:srgbClr val="D6DCE6"/>
                </a:solidFill>
                <a:latin typeface="Arial"/>
              </a:rPr>
              <a:t>The user states the desired outcome; the agent works out the sequence of steps and continues until the task is complete.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9145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66072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046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 i="0">
                <a:solidFill>
                  <a:srgbClr val="D6DCE6"/>
                </a:solidFill>
                <a:latin typeface="Arial"/>
              </a:rPr>
              <a:t>The loop it runs 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33856"/>
            <a:ext cx="8046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 i="0">
                <a:solidFill>
                  <a:srgbClr val="9BA6B4"/>
                </a:solidFill>
                <a:latin typeface="Arial"/>
              </a:rPr>
              <a:t>Gather context, act, check the result, and repeat. The settings covered later in this talk act on the stages of this loop.</a:t>
            </a:r>
          </a:p>
        </p:txBody>
      </p:sp>
      <p:pic>
        <p:nvPicPr>
          <p:cNvPr id="5" name="Picture 4" descr="imag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6079" y="1700784"/>
            <a:ext cx="6411841" cy="29809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791456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 i="1">
                <a:solidFill>
                  <a:srgbClr val="566072"/>
                </a:solidFill>
                <a:latin typeface="Arial"/>
              </a:rPr>
              <a:t>Loop framing: Anthropic, "Building effective agents" (2024).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479145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66072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046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 i="0">
                <a:solidFill>
                  <a:srgbClr val="D6DCE6"/>
                </a:solidFill>
                <a:latin typeface="Arial"/>
              </a:rPr>
              <a:t>An agent checks its own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32644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292608" indent="-292608">
              <a:lnSpc>
                <a:spcPct val="122000"/>
              </a:lnSpc>
              <a:spcAft>
                <a:spcPts val="2100"/>
              </a:spcAft>
            </a:pPr>
            <a:r>
              <a:rPr sz="1700" b="1" i="0">
                <a:solidFill>
                  <a:srgbClr val="37C6D4"/>
                </a:solidFill>
                <a:latin typeface="Arial"/>
              </a:rPr>
              <a:t>•  </a:t>
            </a:r>
            <a:r>
              <a:rPr sz="1700" b="1" i="0">
                <a:solidFill>
                  <a:srgbClr val="74A8FF"/>
                </a:solidFill>
                <a:latin typeface="Arial"/>
              </a:rPr>
              <a:t>Concrete feedback guides it.</a:t>
            </a:r>
            <a:r>
              <a:rPr sz="1700" b="0" i="0">
                <a:solidFill>
                  <a:srgbClr val="D6DCE6"/>
                </a:solidFill>
                <a:latin typeface="Arial"/>
              </a:rPr>
              <a:t>  </a:t>
            </a:r>
            <a:r>
              <a:rPr sz="1700" b="0" i="0">
                <a:solidFill>
                  <a:srgbClr val="D6DCE6"/>
                </a:solidFill>
                <a:latin typeface="Arial"/>
              </a:rPr>
              <a:t>Test results, error messages, and exit codes show whether a step actually succeeded.</a:t>
            </a:r>
          </a:p>
          <a:p>
            <a:pPr marL="292608" indent="-292608">
              <a:lnSpc>
                <a:spcPct val="122000"/>
              </a:lnSpc>
              <a:spcAft>
                <a:spcPts val="2100"/>
              </a:spcAft>
            </a:pPr>
            <a:r>
              <a:rPr sz="1700" b="1" i="0">
                <a:solidFill>
                  <a:srgbClr val="37C6D4"/>
                </a:solidFill>
                <a:latin typeface="Arial"/>
              </a:rPr>
              <a:t>•  </a:t>
            </a:r>
            <a:r>
              <a:rPr sz="1700" b="1" i="0">
                <a:solidFill>
                  <a:srgbClr val="74A8FF"/>
                </a:solidFill>
                <a:latin typeface="Arial"/>
              </a:rPr>
              <a:t>Failure prompts a retry.</a:t>
            </a:r>
            <a:r>
              <a:rPr sz="1700" b="0" i="0">
                <a:solidFill>
                  <a:srgbClr val="D6DCE6"/>
                </a:solidFill>
                <a:latin typeface="Arial"/>
              </a:rPr>
              <a:t>  </a:t>
            </a:r>
            <a:r>
              <a:rPr sz="1700" b="0" i="0">
                <a:solidFill>
                  <a:srgbClr val="D6DCE6"/>
                </a:solidFill>
                <a:latin typeface="Arial"/>
              </a:rPr>
              <a:t>When a step fails, the agent adjusts its approach and tries again rather than stopping at the first error.</a:t>
            </a:r>
          </a:p>
          <a:p>
            <a:pPr marL="292608" indent="-292608">
              <a:lnSpc>
                <a:spcPct val="122000"/>
              </a:lnSpc>
              <a:spcAft>
                <a:spcPts val="0"/>
              </a:spcAft>
            </a:pPr>
            <a:r>
              <a:rPr sz="1700" b="1" i="0">
                <a:solidFill>
                  <a:srgbClr val="37C6D4"/>
                </a:solidFill>
                <a:latin typeface="Arial"/>
              </a:rPr>
              <a:t>•  </a:t>
            </a:r>
            <a:r>
              <a:rPr sz="1700" b="1" i="0">
                <a:solidFill>
                  <a:srgbClr val="74A8FF"/>
                </a:solidFill>
                <a:latin typeface="Arial"/>
              </a:rPr>
              <a:t>Verification closes the loop.</a:t>
            </a:r>
            <a:r>
              <a:rPr sz="1700" b="0" i="0">
                <a:solidFill>
                  <a:srgbClr val="D6DCE6"/>
                </a:solidFill>
                <a:latin typeface="Arial"/>
              </a:rPr>
              <a:t>  </a:t>
            </a:r>
            <a:r>
              <a:rPr sz="1700" b="0" i="0">
                <a:solidFill>
                  <a:srgbClr val="D6DCE6"/>
                </a:solidFill>
                <a:latin typeface="Arial"/>
              </a:rPr>
              <a:t>This self-checking is what distinguishes an agent from a single model response — though the user remains responsible for confirming the final result.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9145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66072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046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 i="0">
                <a:solidFill>
                  <a:srgbClr val="D6DCE6"/>
                </a:solidFill>
                <a:latin typeface="Arial"/>
              </a:rPr>
              <a:t>An agent corrects itself and finishes the job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33856"/>
            <a:ext cx="8046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 i="0">
                <a:solidFill>
                  <a:srgbClr val="9BA6B4"/>
                </a:solidFill>
                <a:latin typeface="Arial"/>
              </a:rPr>
              <a:t>One small task: the first attempt fails, the agent reads the error, fixes the code, and succeeds — unprompted.</a:t>
            </a:r>
          </a:p>
        </p:txBody>
      </p:sp>
      <p:pic>
        <p:nvPicPr>
          <p:cNvPr id="5" name="Picture 4" descr="image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380" y="1700784"/>
            <a:ext cx="7585239" cy="31272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0" y="479145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66072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11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74A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 i="0" spc="160">
                <a:solidFill>
                  <a:srgbClr val="74A8FF"/>
                </a:solidFill>
                <a:latin typeface="Arial"/>
              </a:rPr>
              <a:t>PART 2 OF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D6DCE6"/>
                </a:solidFill>
                <a:latin typeface="Arial"/>
              </a:rPr>
              <a:t>Claude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127248"/>
            <a:ext cx="7680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 i="0">
                <a:solidFill>
                  <a:srgbClr val="9BA6B4"/>
                </a:solidFill>
                <a:latin typeface="Arial"/>
              </a:rPr>
              <a:t>An AI agent for coding and research tasks.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4114800"/>
            <a:ext cx="7315200" cy="54864"/>
          </a:xfrm>
          <a:prstGeom prst="rect">
            <a:avLst/>
          </a:prstGeom>
          <a:solidFill>
            <a:srgbClr val="2A35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14400" y="4114800"/>
            <a:ext cx="1828800" cy="54864"/>
          </a:xfrm>
          <a:prstGeom prst="rect">
            <a:avLst/>
          </a:prstGeom>
          <a:solidFill>
            <a:srgbClr val="74A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479145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66072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046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 i="0">
                <a:solidFill>
                  <a:srgbClr val="D6DCE6"/>
                </a:solidFill>
                <a:latin typeface="Arial"/>
              </a:rPr>
              <a:t>Claude Code is an agent for the terminal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33856"/>
            <a:ext cx="8046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 i="0">
                <a:solidFill>
                  <a:srgbClr val="9BA6B4"/>
                </a:solidFill>
                <a:latin typeface="Arial"/>
              </a:rPr>
              <a:t>One such agent, from Anthropic — the maker of the Claude models.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55648"/>
            <a:ext cx="804672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292608" indent="-292608">
              <a:lnSpc>
                <a:spcPct val="122000"/>
              </a:lnSpc>
              <a:spcAft>
                <a:spcPts val="2100"/>
              </a:spcAft>
            </a:pPr>
            <a:r>
              <a:rPr sz="1700" b="1" i="0">
                <a:solidFill>
                  <a:srgbClr val="37C6D4"/>
                </a:solidFill>
                <a:latin typeface="Arial"/>
              </a:rPr>
              <a:t>•  </a:t>
            </a:r>
            <a:r>
              <a:rPr sz="1700" b="1" i="0">
                <a:solidFill>
                  <a:srgbClr val="74A8FF"/>
                </a:solidFill>
                <a:latin typeface="Arial"/>
              </a:rPr>
              <a:t>An agent for practical work, not only code.</a:t>
            </a:r>
            <a:r>
              <a:rPr sz="1700" b="0" i="0">
                <a:solidFill>
                  <a:srgbClr val="D6DCE6"/>
                </a:solidFill>
                <a:latin typeface="Arial"/>
              </a:rPr>
              <a:t>  </a:t>
            </a:r>
            <a:r>
              <a:rPr sz="1700" b="0" i="0">
                <a:solidFill>
                  <a:srgbClr val="D6DCE6"/>
                </a:solidFill>
                <a:latin typeface="Arial"/>
              </a:rPr>
              <a:t>It reads files, runs commands, and edits them in a loop to carry out a task described in plain language.</a:t>
            </a:r>
          </a:p>
          <a:p>
            <a:pPr marL="292608" indent="-292608">
              <a:lnSpc>
                <a:spcPct val="122000"/>
              </a:lnSpc>
              <a:spcAft>
                <a:spcPts val="2100"/>
              </a:spcAft>
            </a:pPr>
            <a:r>
              <a:rPr sz="1700" b="1" i="0">
                <a:solidFill>
                  <a:srgbClr val="37C6D4"/>
                </a:solidFill>
                <a:latin typeface="Arial"/>
              </a:rPr>
              <a:t>•  </a:t>
            </a:r>
            <a:r>
              <a:rPr sz="1700" b="1" i="0">
                <a:solidFill>
                  <a:srgbClr val="74A8FF"/>
                </a:solidFill>
                <a:latin typeface="Arial"/>
              </a:rPr>
              <a:t>Directed in ordinary language.</a:t>
            </a:r>
            <a:r>
              <a:rPr sz="1700" b="0" i="0">
                <a:solidFill>
                  <a:srgbClr val="D6DCE6"/>
                </a:solidFill>
                <a:latin typeface="Arial"/>
              </a:rPr>
              <a:t>  </a:t>
            </a:r>
            <a:r>
              <a:rPr sz="1700" b="0" i="0">
                <a:solidFill>
                  <a:srgbClr val="D6DCE6"/>
                </a:solidFill>
                <a:latin typeface="Arial"/>
              </a:rPr>
              <a:t>The user states an objective; the tool determines and carries out the necessary steps.</a:t>
            </a:r>
          </a:p>
          <a:p>
            <a:pPr marL="292608" indent="-292608">
              <a:lnSpc>
                <a:spcPct val="122000"/>
              </a:lnSpc>
              <a:spcAft>
                <a:spcPts val="0"/>
              </a:spcAft>
            </a:pPr>
            <a:r>
              <a:rPr sz="1700" b="1" i="0">
                <a:solidFill>
                  <a:srgbClr val="37C6D4"/>
                </a:solidFill>
                <a:latin typeface="Arial"/>
              </a:rPr>
              <a:t>•  </a:t>
            </a:r>
            <a:r>
              <a:rPr sz="1700" b="1" i="0">
                <a:solidFill>
                  <a:srgbClr val="74A8FF"/>
                </a:solidFill>
                <a:latin typeface="Arial"/>
              </a:rPr>
              <a:t>No programming expertise required.</a:t>
            </a:r>
            <a:r>
              <a:rPr sz="1700" b="0" i="0">
                <a:solidFill>
                  <a:srgbClr val="D6DCE6"/>
                </a:solidFill>
                <a:latin typeface="Arial"/>
              </a:rPr>
              <a:t>  </a:t>
            </a:r>
            <a:r>
              <a:rPr sz="1700" b="0" i="0">
                <a:solidFill>
                  <a:srgbClr val="D6DCE6"/>
                </a:solidFill>
                <a:latin typeface="Arial"/>
              </a:rPr>
              <a:t>Familiarity with a terminal is sufficient; it is available in the terminal, common editors, and the desktop and web applications.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9145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66072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046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 i="0">
                <a:solidFill>
                  <a:srgbClr val="D6DCE6"/>
                </a:solidFill>
                <a:latin typeface="Arial"/>
              </a:rPr>
              <a:t>A program and a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33856"/>
            <a:ext cx="8046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 i="0">
                <a:solidFill>
                  <a:srgbClr val="9BA6B4"/>
                </a:solidFill>
                <a:latin typeface="Arial"/>
              </a:rPr>
              <a:t>The program runs on the local machine and is configurable; the model (Claude) supplies the reasoning.</a:t>
            </a:r>
          </a:p>
        </p:txBody>
      </p:sp>
      <p:pic>
        <p:nvPicPr>
          <p:cNvPr id="5" name="Picture 4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380" y="1700784"/>
            <a:ext cx="7585239" cy="31272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0" y="479145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66072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046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 i="0">
                <a:solidFill>
                  <a:srgbClr val="D6DCE6"/>
                </a:solidFill>
                <a:latin typeface="Arial"/>
              </a:rPr>
              <a:t>Instructions in plain language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33856"/>
            <a:ext cx="8046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 i="0">
                <a:solidFill>
                  <a:srgbClr val="9BA6B4"/>
                </a:solidFill>
                <a:latin typeface="Arial"/>
              </a:rPr>
              <a:t>The user names files with </a:t>
            </a:r>
            <a:r>
              <a:rPr sz="1400" b="0" i="0">
                <a:solidFill>
                  <a:srgbClr val="37C6D4"/>
                </a:solidFill>
                <a:latin typeface="Arial"/>
              </a:rPr>
              <a:t>@</a:t>
            </a:r>
            <a:r>
              <a:rPr sz="1400" b="0" i="0">
                <a:solidFill>
                  <a:srgbClr val="9BA6B4"/>
                </a:solidFill>
                <a:latin typeface="Arial"/>
              </a:rPr>
              <a:t>; the tool works out and runs the steps.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55648"/>
            <a:ext cx="804672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292608" indent="-292608">
              <a:lnSpc>
                <a:spcPct val="122000"/>
              </a:lnSpc>
              <a:spcAft>
                <a:spcPts val="2100"/>
              </a:spcAft>
            </a:pPr>
            <a:r>
              <a:rPr sz="1650" b="1" i="0">
                <a:solidFill>
                  <a:srgbClr val="37C6D4"/>
                </a:solidFill>
                <a:latin typeface="Arial"/>
              </a:rPr>
              <a:t>•  </a:t>
            </a:r>
            <a:r>
              <a:rPr sz="1650" b="1" i="0">
                <a:solidFill>
                  <a:srgbClr val="74A8FF"/>
                </a:solidFill>
                <a:latin typeface="Arial"/>
              </a:rPr>
              <a:t>“Summarize what changed between </a:t>
            </a:r>
            <a:r>
              <a:rPr sz="1650" b="1" i="0">
                <a:solidFill>
                  <a:srgbClr val="37C6D4"/>
                </a:solidFill>
                <a:latin typeface="Arial"/>
              </a:rPr>
              <a:t>@run_a.csv</a:t>
            </a:r>
            <a:r>
              <a:rPr sz="1650" b="1" i="0">
                <a:solidFill>
                  <a:srgbClr val="74A8FF"/>
                </a:solidFill>
                <a:latin typeface="Arial"/>
              </a:rPr>
              <a:t> and </a:t>
            </a:r>
            <a:r>
              <a:rPr sz="1650" b="1" i="0">
                <a:solidFill>
                  <a:srgbClr val="37C6D4"/>
                </a:solidFill>
                <a:latin typeface="Arial"/>
              </a:rPr>
              <a:t>@run_b.csv</a:t>
            </a:r>
            <a:r>
              <a:rPr sz="1650" b="1" i="0">
                <a:solidFill>
                  <a:srgbClr val="74A8FF"/>
                </a:solidFill>
                <a:latin typeface="Arial"/>
              </a:rPr>
              <a:t>.”</a:t>
            </a:r>
            <a:r>
              <a:rPr sz="1650" b="0" i="0">
                <a:solidFill>
                  <a:srgbClr val="D6DCE6"/>
                </a:solidFill>
                <a:latin typeface="Arial"/>
              </a:rPr>
              <a:t>  </a:t>
            </a:r>
            <a:r>
              <a:rPr sz="1650" b="0" i="0">
                <a:solidFill>
                  <a:srgbClr val="D6DCE6"/>
                </a:solidFill>
                <a:latin typeface="Arial"/>
              </a:rPr>
              <a:t>Reads both files, and reports the substantive differences.</a:t>
            </a:r>
          </a:p>
          <a:p>
            <a:pPr marL="292608" indent="-292608">
              <a:lnSpc>
                <a:spcPct val="122000"/>
              </a:lnSpc>
              <a:spcAft>
                <a:spcPts val="2100"/>
              </a:spcAft>
            </a:pPr>
            <a:r>
              <a:rPr sz="1650" b="1" i="0">
                <a:solidFill>
                  <a:srgbClr val="37C6D4"/>
                </a:solidFill>
                <a:latin typeface="Arial"/>
              </a:rPr>
              <a:t>•  </a:t>
            </a:r>
            <a:r>
              <a:rPr sz="1650" b="1" i="0">
                <a:solidFill>
                  <a:srgbClr val="74A8FF"/>
                </a:solidFill>
                <a:latin typeface="Arial"/>
              </a:rPr>
              <a:t>“Load </a:t>
            </a:r>
            <a:r>
              <a:rPr sz="1650" b="1" i="0">
                <a:solidFill>
                  <a:srgbClr val="37C6D4"/>
                </a:solidFill>
                <a:latin typeface="Arial"/>
              </a:rPr>
              <a:t>@results.csv</a:t>
            </a:r>
            <a:r>
              <a:rPr sz="1650" b="1" i="0">
                <a:solidFill>
                  <a:srgbClr val="74A8FF"/>
                </a:solidFill>
                <a:latin typeface="Arial"/>
              </a:rPr>
              <a:t> and plot accuracy against epoch.”</a:t>
            </a:r>
            <a:r>
              <a:rPr sz="1650" b="0" i="0">
                <a:solidFill>
                  <a:srgbClr val="D6DCE6"/>
                </a:solidFill>
                <a:latin typeface="Arial"/>
              </a:rPr>
              <a:t>  </a:t>
            </a:r>
            <a:r>
              <a:rPr sz="1650" b="0" i="0">
                <a:solidFill>
                  <a:srgbClr val="D6DCE6"/>
                </a:solidFill>
                <a:latin typeface="Arial"/>
              </a:rPr>
              <a:t>Writes a short script, runs it, and saves the figure.</a:t>
            </a:r>
          </a:p>
          <a:p>
            <a:pPr marL="292608" indent="-292608">
              <a:lnSpc>
                <a:spcPct val="122000"/>
              </a:lnSpc>
              <a:spcAft>
                <a:spcPts val="0"/>
              </a:spcAft>
            </a:pPr>
            <a:r>
              <a:rPr sz="1650" b="1" i="0">
                <a:solidFill>
                  <a:srgbClr val="37C6D4"/>
                </a:solidFill>
                <a:latin typeface="Arial"/>
              </a:rPr>
              <a:t>•  </a:t>
            </a:r>
            <a:r>
              <a:rPr sz="1650" b="1" i="0">
                <a:solidFill>
                  <a:srgbClr val="74A8FF"/>
                </a:solidFill>
                <a:latin typeface="Arial"/>
              </a:rPr>
              <a:t>“Explain why </a:t>
            </a:r>
            <a:r>
              <a:rPr sz="1650" b="1" i="0">
                <a:solidFill>
                  <a:srgbClr val="37C6D4"/>
                </a:solidFill>
                <a:latin typeface="Arial"/>
              </a:rPr>
              <a:t>@train.py</a:t>
            </a:r>
            <a:r>
              <a:rPr sz="1650" b="1" i="0">
                <a:solidFill>
                  <a:srgbClr val="74A8FF"/>
                </a:solidFill>
                <a:latin typeface="Arial"/>
              </a:rPr>
              <a:t> exits with an error.”</a:t>
            </a:r>
            <a:r>
              <a:rPr sz="1650" b="0" i="0">
                <a:solidFill>
                  <a:srgbClr val="D6DCE6"/>
                </a:solidFill>
                <a:latin typeface="Arial"/>
              </a:rPr>
              <a:t>  </a:t>
            </a:r>
            <a:r>
              <a:rPr sz="1650" b="0" i="0">
                <a:solidFill>
                  <a:srgbClr val="D6DCE6"/>
                </a:solidFill>
                <a:latin typeface="Arial"/>
              </a:rPr>
              <a:t>Reproduces the error, then pinpoints the cause in the code.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9145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66072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11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74A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 i="0" spc="160">
                <a:solidFill>
                  <a:srgbClr val="74A8FF"/>
                </a:solidFill>
                <a:latin typeface="Arial"/>
              </a:rPr>
              <a:t>PART 3 OF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D6DCE6"/>
                </a:solidFill>
                <a:latin typeface="Arial"/>
              </a:rPr>
              <a:t>Everyday applications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127248"/>
            <a:ext cx="7680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 i="0">
                <a:solidFill>
                  <a:srgbClr val="9BA6B4"/>
                </a:solidFill>
                <a:latin typeface="Arial"/>
              </a:rPr>
              <a:t>The range of tasks it handles.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4114800"/>
            <a:ext cx="7315200" cy="54864"/>
          </a:xfrm>
          <a:prstGeom prst="rect">
            <a:avLst/>
          </a:prstGeom>
          <a:solidFill>
            <a:srgbClr val="2A35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14400" y="4114800"/>
            <a:ext cx="2743200" cy="54864"/>
          </a:xfrm>
          <a:prstGeom prst="rect">
            <a:avLst/>
          </a:prstGeom>
          <a:solidFill>
            <a:srgbClr val="74A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479145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66072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046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 i="0">
                <a:solidFill>
                  <a:srgbClr val="D6DCE6"/>
                </a:solidFill>
                <a:latin typeface="Arial"/>
              </a:rPr>
              <a:t>Applications extend beyond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32644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292608" indent="-292608">
              <a:lnSpc>
                <a:spcPct val="122000"/>
              </a:lnSpc>
              <a:spcAft>
                <a:spcPts val="1900"/>
              </a:spcAft>
            </a:pPr>
            <a:r>
              <a:rPr sz="1700" b="1" i="0">
                <a:solidFill>
                  <a:srgbClr val="37C6D4"/>
                </a:solidFill>
                <a:latin typeface="Arial"/>
              </a:rPr>
              <a:t>•  </a:t>
            </a:r>
            <a:r>
              <a:rPr sz="1700" b="1" i="0">
                <a:solidFill>
                  <a:srgbClr val="74A8FF"/>
                </a:solidFill>
                <a:latin typeface="Arial"/>
              </a:rPr>
              <a:t>Data and analysis.</a:t>
            </a:r>
            <a:r>
              <a:rPr sz="1700" b="0" i="0">
                <a:solidFill>
                  <a:srgbClr val="D6DCE6"/>
                </a:solidFill>
                <a:latin typeface="Arial"/>
              </a:rPr>
              <a:t>  </a:t>
            </a:r>
            <a:r>
              <a:rPr sz="1700" b="0" i="0">
                <a:solidFill>
                  <a:srgbClr val="D6DCE6"/>
                </a:solidFill>
                <a:latin typeface="Arial"/>
              </a:rPr>
              <a:t>Cleaning datasets, computing summaries, running statistical tests, and generating figures.</a:t>
            </a:r>
          </a:p>
          <a:p>
            <a:pPr marL="292608" indent="-292608">
              <a:lnSpc>
                <a:spcPct val="122000"/>
              </a:lnSpc>
              <a:spcAft>
                <a:spcPts val="1900"/>
              </a:spcAft>
            </a:pPr>
            <a:r>
              <a:rPr sz="1700" b="1" i="0">
                <a:solidFill>
                  <a:srgbClr val="37C6D4"/>
                </a:solidFill>
                <a:latin typeface="Arial"/>
              </a:rPr>
              <a:t>•  </a:t>
            </a:r>
            <a:r>
              <a:rPr sz="1700" b="1" i="0">
                <a:solidFill>
                  <a:srgbClr val="74A8FF"/>
                </a:solidFill>
                <a:latin typeface="Arial"/>
              </a:rPr>
              <a:t>Text and documentation.</a:t>
            </a:r>
            <a:r>
              <a:rPr sz="1700" b="0" i="0">
                <a:solidFill>
                  <a:srgbClr val="D6DCE6"/>
                </a:solidFill>
                <a:latin typeface="Arial"/>
              </a:rPr>
              <a:t>  </a:t>
            </a:r>
            <a:r>
              <a:rPr sz="1700" b="0" i="0">
                <a:solidFill>
                  <a:srgbClr val="D6DCE6"/>
                </a:solidFill>
                <a:latin typeface="Arial"/>
              </a:rPr>
              <a:t>Drafting a methods section, summarizing logs, or organizing literature notes.</a:t>
            </a:r>
          </a:p>
          <a:p>
            <a:pPr marL="292608" indent="-292608">
              <a:lnSpc>
                <a:spcPct val="122000"/>
              </a:lnSpc>
              <a:spcAft>
                <a:spcPts val="0"/>
              </a:spcAft>
            </a:pPr>
            <a:r>
              <a:rPr sz="1700" b="1" i="0">
                <a:solidFill>
                  <a:srgbClr val="37C6D4"/>
                </a:solidFill>
                <a:latin typeface="Arial"/>
              </a:rPr>
              <a:t>•  </a:t>
            </a:r>
            <a:r>
              <a:rPr sz="1700" b="1" i="0">
                <a:solidFill>
                  <a:srgbClr val="74A8FF"/>
                </a:solidFill>
                <a:latin typeface="Arial"/>
              </a:rPr>
              <a:t>Software tasks.</a:t>
            </a:r>
            <a:r>
              <a:rPr sz="1700" b="0" i="0">
                <a:solidFill>
                  <a:srgbClr val="D6DCE6"/>
                </a:solidFill>
                <a:latin typeface="Arial"/>
              </a:rPr>
              <a:t>  </a:t>
            </a:r>
            <a:r>
              <a:rPr sz="1700" b="0" i="0">
                <a:solidFill>
                  <a:srgbClr val="D6DCE6"/>
                </a:solidFill>
                <a:latin typeface="Arial"/>
              </a:rPr>
              <a:t>Writing, refactoring, and debugging analysis code and pipelines.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9145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66072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046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 i="0">
                <a:solidFill>
                  <a:srgbClr val="D6DCE6"/>
                </a:solidFill>
                <a:latin typeface="Arial"/>
              </a:rPr>
              <a:t>A representative session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33856"/>
            <a:ext cx="8046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 i="0">
                <a:solidFill>
                  <a:srgbClr val="9BA6B4"/>
                </a:solidFill>
                <a:latin typeface="Arial"/>
              </a:rPr>
              <a:t>It reads files, runs commands, and reports back — and the user reviews each step.</a:t>
            </a:r>
          </a:p>
        </p:txBody>
      </p:sp>
      <p:pic>
        <p:nvPicPr>
          <p:cNvPr id="5" name="Picture 4" descr="image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0687" y="1700784"/>
            <a:ext cx="4862624" cy="29809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791456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 i="1">
                <a:solidFill>
                  <a:srgbClr val="566072"/>
                </a:solidFill>
                <a:latin typeface="Arial"/>
              </a:rPr>
              <a:t>Screenshot: Anthropic's Claude Code demo (github.com/anthropics/claude-code).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479145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66072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11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74A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 i="0" spc="160">
                <a:solidFill>
                  <a:srgbClr val="74A8FF"/>
                </a:solidFill>
                <a:latin typeface="Arial"/>
              </a:rPr>
              <a:t>PART 4 OF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D6DCE6"/>
                </a:solidFill>
                <a:latin typeface="Arial"/>
              </a:rPr>
              <a:t>Model, effort, and context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127248"/>
            <a:ext cx="7680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 i="0">
                <a:solidFill>
                  <a:srgbClr val="9BA6B4"/>
                </a:solidFill>
                <a:latin typeface="Arial"/>
              </a:rPr>
              <a:t>Configuring the model's behavior for the task.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4114800"/>
            <a:ext cx="7315200" cy="54864"/>
          </a:xfrm>
          <a:prstGeom prst="rect">
            <a:avLst/>
          </a:prstGeom>
          <a:solidFill>
            <a:srgbClr val="2A35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14400" y="4114800"/>
            <a:ext cx="3657600" cy="54864"/>
          </a:xfrm>
          <a:prstGeom prst="rect">
            <a:avLst/>
          </a:prstGeom>
          <a:solidFill>
            <a:srgbClr val="74A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479145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66072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046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 i="0">
                <a:solidFill>
                  <a:srgbClr val="D6DCE6"/>
                </a:solidFill>
                <a:latin typeface="Arial"/>
              </a:rPr>
              <a:t>Model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33856"/>
            <a:ext cx="8046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 i="0">
                <a:solidFill>
                  <a:srgbClr val="9BA6B4"/>
                </a:solidFill>
                <a:latin typeface="Arial"/>
              </a:rPr>
              <a:t>The model is chosen with </a:t>
            </a:r>
            <a:r>
              <a:rPr sz="1400" b="0" i="0">
                <a:solidFill>
                  <a:srgbClr val="37C6D4"/>
                </a:solidFill>
                <a:latin typeface="Arial"/>
              </a:rPr>
              <a:t>/model</a:t>
            </a:r>
            <a:r>
              <a:rPr sz="1400" b="0" i="0">
                <a:solidFill>
                  <a:srgbClr val="9BA6B4"/>
                </a:solidFill>
                <a:latin typeface="Arial"/>
              </a:rPr>
              <a:t>, a command entered with a leading slash. A more capable model is slower and uses more of the allocation.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938528"/>
          <a:ext cx="8046719" cy="233500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911095"/>
                <a:gridCol w="4727448"/>
                <a:gridCol w="1408176"/>
              </a:tblGrid>
              <a:tr h="583752"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08121A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marL="128016" marR="91440" marT="45720" marB="45720" anchor="ctr">
                    <a:solidFill>
                      <a:srgbClr val="37C6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08121A"/>
                          </a:solidFill>
                          <a:latin typeface="Arial"/>
                        </a:rPr>
                        <a:t>Best suited for</a:t>
                      </a:r>
                    </a:p>
                  </a:txBody>
                  <a:tcPr marL="128016" marR="91440" marT="45720" marB="45720" anchor="ctr">
                    <a:solidFill>
                      <a:srgbClr val="37C6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08121A"/>
                          </a:solidFill>
                          <a:latin typeface="Arial"/>
                        </a:rPr>
                        <a:t>Relative cost</a:t>
                      </a:r>
                    </a:p>
                  </a:txBody>
                  <a:tcPr marL="128016" marR="91440" marT="45720" marB="45720" anchor="ctr">
                    <a:solidFill>
                      <a:srgbClr val="37C6D4"/>
                    </a:solidFill>
                  </a:tcPr>
                </a:tc>
              </a:tr>
              <a:tr h="583752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D6DCE6"/>
                          </a:solidFill>
                          <a:latin typeface="Arial"/>
                        </a:rPr>
                        <a:t>Opus 4.8</a:t>
                      </a:r>
                    </a:p>
                  </a:txBody>
                  <a:tcPr marL="128016" marR="91440" marT="45720" marB="45720" anchor="ctr">
                    <a:solidFill>
                      <a:srgbClr val="151D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D6DCE6"/>
                          </a:solidFill>
                          <a:latin typeface="Arial"/>
                        </a:rPr>
                        <a:t>Complex reasoning and multi-step tasks</a:t>
                      </a:r>
                    </a:p>
                  </a:txBody>
                  <a:tcPr marL="128016" marR="91440" marT="45720" marB="45720" anchor="ctr">
                    <a:solidFill>
                      <a:srgbClr val="151D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D6DCE6"/>
                          </a:solidFill>
                          <a:latin typeface="Arial"/>
                        </a:rPr>
                        <a:t>$$$</a:t>
                      </a:r>
                    </a:p>
                  </a:txBody>
                  <a:tcPr marL="128016" marR="91440" marT="45720" marB="45720" anchor="ctr">
                    <a:solidFill>
                      <a:srgbClr val="151D2A"/>
                    </a:solidFill>
                  </a:tcPr>
                </a:tc>
              </a:tr>
              <a:tr h="583752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D6DCE6"/>
                          </a:solidFill>
                          <a:latin typeface="Arial"/>
                        </a:rPr>
                        <a:t>Sonnet 5</a:t>
                      </a:r>
                    </a:p>
                  </a:txBody>
                  <a:tcPr marL="128016" marR="91440" marT="45720" marB="45720" anchor="ctr">
                    <a:solidFill>
                      <a:srgbClr val="1B253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D6DCE6"/>
                          </a:solidFill>
                          <a:latin typeface="Arial"/>
                        </a:rPr>
                        <a:t>General day-to-day work</a:t>
                      </a:r>
                    </a:p>
                  </a:txBody>
                  <a:tcPr marL="128016" marR="91440" marT="45720" marB="45720" anchor="ctr">
                    <a:solidFill>
                      <a:srgbClr val="1B253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D6DCE6"/>
                          </a:solidFill>
                          <a:latin typeface="Arial"/>
                        </a:rPr>
                        <a:t>$$</a:t>
                      </a:r>
                    </a:p>
                  </a:txBody>
                  <a:tcPr marL="128016" marR="91440" marT="45720" marB="45720" anchor="ctr">
                    <a:solidFill>
                      <a:srgbClr val="1B2534"/>
                    </a:solidFill>
                  </a:tcPr>
                </a:tc>
              </a:tr>
              <a:tr h="583752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D6DCE6"/>
                          </a:solidFill>
                          <a:latin typeface="Arial"/>
                        </a:rPr>
                        <a:t>Haiku 4.5</a:t>
                      </a:r>
                    </a:p>
                  </a:txBody>
                  <a:tcPr marL="128016" marR="91440" marT="45720" marB="45720" anchor="ctr">
                    <a:solidFill>
                      <a:srgbClr val="151D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D6DCE6"/>
                          </a:solidFill>
                          <a:latin typeface="Arial"/>
                        </a:rPr>
                        <a:t>Simple, high-volume, or time-sensitive tasks</a:t>
                      </a:r>
                    </a:p>
                  </a:txBody>
                  <a:tcPr marL="128016" marR="91440" marT="45720" marB="45720" anchor="ctr">
                    <a:solidFill>
                      <a:srgbClr val="151D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D6DCE6"/>
                          </a:solidFill>
                          <a:latin typeface="Arial"/>
                        </a:rPr>
                        <a:t>$</a:t>
                      </a:r>
                    </a:p>
                  </a:txBody>
                  <a:tcPr marL="128016" marR="91440" marT="45720" marB="45720" anchor="ctr">
                    <a:solidFill>
                      <a:srgbClr val="151D2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419843"/>
            <a:ext cx="8046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1">
                <a:solidFill>
                  <a:srgbClr val="9BA6B4"/>
                </a:solidFill>
                <a:latin typeface="Arial"/>
              </a:rPr>
              <a:t>A frontier model (Fable 5) is also available for the most demanding tasks. The default is set by the institution.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479145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66072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046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 i="0">
                <a:solidFill>
                  <a:srgbClr val="D6DCE6"/>
                </a:solidFill>
                <a:latin typeface="Arial"/>
              </a:rPr>
              <a:t>Reasoning effort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33856"/>
            <a:ext cx="8046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 i="0">
                <a:solidFill>
                  <a:srgbClr val="37C6D4"/>
                </a:solidFill>
                <a:latin typeface="Arial"/>
              </a:rPr>
              <a:t>/effort</a:t>
            </a:r>
            <a:r>
              <a:rPr sz="1400" b="0" i="0">
                <a:solidFill>
                  <a:srgbClr val="9BA6B4"/>
                </a:solidFill>
                <a:latin typeface="Arial"/>
              </a:rPr>
              <a:t> sets how hard the model thinks before it acts. Current models default to </a:t>
            </a:r>
            <a:r>
              <a:rPr sz="1400" b="0" i="0">
                <a:solidFill>
                  <a:srgbClr val="37C6D4"/>
                </a:solidFill>
                <a:latin typeface="Arial"/>
              </a:rPr>
              <a:t>high</a:t>
            </a:r>
            <a:r>
              <a:rPr sz="1400" b="0" i="0">
                <a:solidFill>
                  <a:srgbClr val="9BA6B4"/>
                </a:solidFill>
                <a:latin typeface="Arial"/>
              </a:rPr>
              <a:t>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938528"/>
          <a:ext cx="8046719" cy="250179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299062"/>
                <a:gridCol w="5747657"/>
              </a:tblGrid>
              <a:tr h="416966"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08121A"/>
                          </a:solidFill>
                          <a:latin typeface="Arial"/>
                        </a:rPr>
                        <a:t>Level</a:t>
                      </a:r>
                    </a:p>
                  </a:txBody>
                  <a:tcPr marL="128016" marR="91440" marT="45720" marB="45720" anchor="ctr">
                    <a:solidFill>
                      <a:srgbClr val="37C6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08121A"/>
                          </a:solidFill>
                          <a:latin typeface="Arial"/>
                        </a:rPr>
                        <a:t>Best suited for</a:t>
                      </a:r>
                    </a:p>
                  </a:txBody>
                  <a:tcPr marL="128016" marR="91440" marT="45720" marB="45720" anchor="ctr">
                    <a:solidFill>
                      <a:srgbClr val="37C6D4"/>
                    </a:solidFill>
                  </a:tcPr>
                </a:tc>
              </a:tr>
              <a:tr h="416966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D6DCE6"/>
                          </a:solidFill>
                          <a:latin typeface="Arial"/>
                        </a:rPr>
                        <a:t>low</a:t>
                      </a:r>
                    </a:p>
                  </a:txBody>
                  <a:tcPr marL="128016" marR="91440" marT="45720" marB="45720" anchor="ctr">
                    <a:solidFill>
                      <a:srgbClr val="151D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D6DCE6"/>
                          </a:solidFill>
                          <a:latin typeface="Arial"/>
                        </a:rPr>
                        <a:t>Quick, routine edits</a:t>
                      </a:r>
                    </a:p>
                  </a:txBody>
                  <a:tcPr marL="128016" marR="91440" marT="45720" marB="45720" anchor="ctr">
                    <a:solidFill>
                      <a:srgbClr val="151D2A"/>
                    </a:solidFill>
                  </a:tcPr>
                </a:tc>
              </a:tr>
              <a:tr h="416966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D6DCE6"/>
                          </a:solidFill>
                          <a:latin typeface="Arial"/>
                        </a:rPr>
                        <a:t>medium</a:t>
                      </a:r>
                    </a:p>
                  </a:txBody>
                  <a:tcPr marL="128016" marR="91440" marT="45720" marB="45720" anchor="ctr">
                    <a:solidFill>
                      <a:srgbClr val="1B253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D6DCE6"/>
                          </a:solidFill>
                          <a:latin typeface="Arial"/>
                        </a:rPr>
                        <a:t>Cost-sensitive work</a:t>
                      </a:r>
                    </a:p>
                  </a:txBody>
                  <a:tcPr marL="128016" marR="91440" marT="45720" marB="45720" anchor="ctr">
                    <a:solidFill>
                      <a:srgbClr val="1B2534"/>
                    </a:solidFill>
                  </a:tcPr>
                </a:tc>
              </a:tr>
              <a:tr h="416966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D6DCE6"/>
                          </a:solidFill>
                          <a:latin typeface="Arial"/>
                        </a:rPr>
                        <a:t>high  ·  default</a:t>
                      </a:r>
                    </a:p>
                  </a:txBody>
                  <a:tcPr marL="128016" marR="91440" marT="45720" marB="45720" anchor="ctr">
                    <a:solidFill>
                      <a:srgbClr val="151D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D6DCE6"/>
                          </a:solidFill>
                          <a:latin typeface="Arial"/>
                        </a:rPr>
                        <a:t>Everyday balance of speed and depth</a:t>
                      </a:r>
                    </a:p>
                  </a:txBody>
                  <a:tcPr marL="128016" marR="91440" marT="45720" marB="45720" anchor="ctr">
                    <a:solidFill>
                      <a:srgbClr val="151D2A"/>
                    </a:solidFill>
                  </a:tcPr>
                </a:tc>
              </a:tr>
              <a:tr h="416966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D6DCE6"/>
                          </a:solidFill>
                          <a:latin typeface="Arial"/>
                        </a:rPr>
                        <a:t>xhigh</a:t>
                      </a:r>
                    </a:p>
                  </a:txBody>
                  <a:tcPr marL="128016" marR="91440" marT="45720" marB="45720" anchor="ctr">
                    <a:solidFill>
                      <a:srgbClr val="1B253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D6DCE6"/>
                          </a:solidFill>
                          <a:latin typeface="Arial"/>
                        </a:rPr>
                        <a:t>Hard reasoning; involved agentic coding</a:t>
                      </a:r>
                    </a:p>
                  </a:txBody>
                  <a:tcPr marL="128016" marR="91440" marT="45720" marB="45720" anchor="ctr">
                    <a:solidFill>
                      <a:srgbClr val="1B2534"/>
                    </a:solidFill>
                  </a:tcPr>
                </a:tc>
              </a:tr>
              <a:tr h="416966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D6DCE6"/>
                          </a:solidFill>
                          <a:latin typeface="Arial"/>
                        </a:rPr>
                        <a:t>max</a:t>
                      </a:r>
                    </a:p>
                  </a:txBody>
                  <a:tcPr marL="128016" marR="91440" marT="45720" marB="45720" anchor="ctr">
                    <a:solidFill>
                      <a:srgbClr val="151D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D6DCE6"/>
                          </a:solidFill>
                          <a:latin typeface="Arial"/>
                        </a:rPr>
                        <a:t>The most demanding problems</a:t>
                      </a:r>
                    </a:p>
                  </a:txBody>
                  <a:tcPr marL="128016" marR="91440" marT="45720" marB="45720" anchor="ctr">
                    <a:solidFill>
                      <a:srgbClr val="151D2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586630"/>
            <a:ext cx="8046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1">
                <a:solidFill>
                  <a:srgbClr val="9BA6B4"/>
                </a:solidFill>
                <a:latin typeface="Arial"/>
              </a:rPr>
              <a:t>Claude Code adds </a:t>
            </a:r>
            <a:r>
              <a:rPr sz="1100" b="0" i="0">
                <a:solidFill>
                  <a:srgbClr val="37C6D4"/>
                </a:solidFill>
                <a:latin typeface="Arial"/>
              </a:rPr>
              <a:t>ultracode</a:t>
            </a:r>
            <a:r>
              <a:rPr sz="1100" b="0" i="1">
                <a:solidFill>
                  <a:srgbClr val="9BA6B4"/>
                </a:solidFill>
                <a:latin typeface="Arial"/>
              </a:rPr>
              <a:t>: it raises the effort and, beyond a single agent, coordinates a team of agents working in parallel — for the largest, hardest tasks.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479145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66072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046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 i="0">
                <a:solidFill>
                  <a:srgbClr val="D6DCE6"/>
                </a:solidFill>
                <a:latin typeface="Arial"/>
              </a:rPr>
              <a:t>Subagents: a coordinated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33856"/>
            <a:ext cx="8046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 i="0">
                <a:solidFill>
                  <a:srgbClr val="9BA6B4"/>
                </a:solidFill>
                <a:latin typeface="Arial"/>
              </a:rPr>
              <a:t>That parallel work is done by subagents — helpers the main agent runs, set up with </a:t>
            </a:r>
            <a:r>
              <a:rPr sz="1400" b="0" i="0">
                <a:solidFill>
                  <a:srgbClr val="37C6D4"/>
                </a:solidFill>
                <a:latin typeface="Arial"/>
              </a:rPr>
              <a:t>/agents</a:t>
            </a:r>
            <a:r>
              <a:rPr sz="1400" b="0" i="0">
                <a:solidFill>
                  <a:srgbClr val="9BA6B4"/>
                </a:solidFill>
                <a:latin typeface="Arial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55648"/>
            <a:ext cx="804672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292608" indent="-292608">
              <a:lnSpc>
                <a:spcPct val="122000"/>
              </a:lnSpc>
              <a:spcAft>
                <a:spcPts val="2100"/>
              </a:spcAft>
            </a:pPr>
            <a:r>
              <a:rPr sz="1700" b="1" i="0">
                <a:solidFill>
                  <a:srgbClr val="37C6D4"/>
                </a:solidFill>
                <a:latin typeface="Arial"/>
              </a:rPr>
              <a:t>•  </a:t>
            </a:r>
            <a:r>
              <a:rPr sz="1700" b="1" i="0">
                <a:solidFill>
                  <a:srgbClr val="74A8FF"/>
                </a:solidFill>
                <a:latin typeface="Arial"/>
              </a:rPr>
              <a:t>Each has its own context.</a:t>
            </a:r>
            <a:r>
              <a:rPr sz="1700" b="0" i="0">
                <a:solidFill>
                  <a:srgbClr val="D6DCE6"/>
                </a:solidFill>
                <a:latin typeface="Arial"/>
              </a:rPr>
              <a:t>  </a:t>
            </a:r>
            <a:r>
              <a:rPr sz="1700" b="0" i="0">
                <a:solidFill>
                  <a:srgbClr val="D6DCE6"/>
                </a:solidFill>
                <a:latin typeface="Arial"/>
              </a:rPr>
              <a:t>The main agent hands off a sub-task; the subagent works in a separate context window and returns only a short summary, so the main conversation stays lean.</a:t>
            </a:r>
          </a:p>
          <a:p>
            <a:pPr marL="292608" indent="-292608">
              <a:lnSpc>
                <a:spcPct val="122000"/>
              </a:lnSpc>
              <a:spcAft>
                <a:spcPts val="2100"/>
              </a:spcAft>
            </a:pPr>
            <a:r>
              <a:rPr sz="1700" b="1" i="0">
                <a:solidFill>
                  <a:srgbClr val="37C6D4"/>
                </a:solidFill>
                <a:latin typeface="Arial"/>
              </a:rPr>
              <a:t>•  </a:t>
            </a:r>
            <a:r>
              <a:rPr sz="1700" b="1" i="0">
                <a:solidFill>
                  <a:srgbClr val="74A8FF"/>
                </a:solidFill>
                <a:latin typeface="Arial"/>
              </a:rPr>
              <a:t>One coordinator splits and merges.</a:t>
            </a:r>
            <a:r>
              <a:rPr sz="1700" b="0" i="0">
                <a:solidFill>
                  <a:srgbClr val="D6DCE6"/>
                </a:solidFill>
                <a:latin typeface="Arial"/>
              </a:rPr>
              <a:t>  </a:t>
            </a:r>
            <a:r>
              <a:rPr sz="1700" b="0" i="0">
                <a:solidFill>
                  <a:srgbClr val="D6DCE6"/>
                </a:solidFill>
                <a:latin typeface="Arial"/>
              </a:rPr>
              <a:t>It divides a large task across several subagents running at once, then combines their results into a single answer.</a:t>
            </a:r>
          </a:p>
          <a:p>
            <a:pPr marL="292608" indent="-292608">
              <a:lnSpc>
                <a:spcPct val="122000"/>
              </a:lnSpc>
              <a:spcAft>
                <a:spcPts val="0"/>
              </a:spcAft>
            </a:pPr>
            <a:r>
              <a:rPr sz="1700" b="1" i="0">
                <a:solidFill>
                  <a:srgbClr val="37C6D4"/>
                </a:solidFill>
                <a:latin typeface="Arial"/>
              </a:rPr>
              <a:t>•  </a:t>
            </a:r>
            <a:r>
              <a:rPr sz="1700" b="1" i="0">
                <a:solidFill>
                  <a:srgbClr val="74A8FF"/>
                </a:solidFill>
                <a:latin typeface="Arial"/>
              </a:rPr>
              <a:t>Not the same as separate sessions.</a:t>
            </a:r>
            <a:r>
              <a:rPr sz="1700" b="0" i="0">
                <a:solidFill>
                  <a:srgbClr val="D6DCE6"/>
                </a:solidFill>
                <a:latin typeface="Arial"/>
              </a:rPr>
              <a:t>  </a:t>
            </a:r>
            <a:r>
              <a:rPr sz="1700" b="0" i="0">
                <a:solidFill>
                  <a:srgbClr val="D6DCE6"/>
                </a:solidFill>
                <a:latin typeface="Arial"/>
              </a:rPr>
              <a:t>Independent </a:t>
            </a:r>
            <a:r>
              <a:rPr sz="1700" b="0" i="0">
                <a:solidFill>
                  <a:srgbClr val="37C6D4"/>
                </a:solidFill>
                <a:latin typeface="Arial"/>
              </a:rPr>
              <a:t>claude</a:t>
            </a:r>
            <a:r>
              <a:rPr sz="1700" b="0" i="0">
                <a:solidFill>
                  <a:srgbClr val="D6DCE6"/>
                </a:solidFill>
                <a:latin typeface="Arial"/>
              </a:rPr>
              <a:t> windows run blind to one another — you would stitch their output together by hand; subagents share one goal and one coordinator that does the stitching.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9145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66072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046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 i="0">
                <a:solidFill>
                  <a:srgbClr val="D6DCE6"/>
                </a:solidFill>
                <a:latin typeface="Arial"/>
              </a:rPr>
              <a:t>The context window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33856"/>
            <a:ext cx="8046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 i="0">
                <a:solidFill>
                  <a:srgbClr val="9BA6B4"/>
                </a:solidFill>
                <a:latin typeface="Arial"/>
              </a:rPr>
              <a:t>The model reads its entire context at every step, and that context grows as a session continues.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55648"/>
            <a:ext cx="804672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292608" indent="-292608">
              <a:lnSpc>
                <a:spcPct val="122000"/>
              </a:lnSpc>
              <a:spcAft>
                <a:spcPts val="2100"/>
              </a:spcAft>
            </a:pPr>
            <a:r>
              <a:rPr sz="1700" b="1" i="0">
                <a:solidFill>
                  <a:srgbClr val="37C6D4"/>
                </a:solidFill>
                <a:latin typeface="Arial"/>
              </a:rPr>
              <a:t>•  </a:t>
            </a:r>
            <a:r>
              <a:rPr sz="1700" b="1" i="0">
                <a:solidFill>
                  <a:srgbClr val="74A8FF"/>
                </a:solidFill>
                <a:latin typeface="Arial"/>
              </a:rPr>
              <a:t>A large context is slower and more costly.</a:t>
            </a:r>
            <a:r>
              <a:rPr sz="1700" b="0" i="0">
                <a:solidFill>
                  <a:srgbClr val="D6DCE6"/>
                </a:solidFill>
                <a:latin typeface="Arial"/>
              </a:rPr>
              <a:t>  </a:t>
            </a:r>
            <a:r>
              <a:rPr sz="1700" b="0" i="0">
                <a:solidFill>
                  <a:srgbClr val="D6DCE6"/>
                </a:solidFill>
                <a:latin typeface="Arial"/>
              </a:rPr>
              <a:t>Every open file and prior message is reprocessed on each step.</a:t>
            </a:r>
          </a:p>
          <a:p>
            <a:pPr marL="292608" indent="-292608">
              <a:lnSpc>
                <a:spcPct val="122000"/>
              </a:lnSpc>
              <a:spcAft>
                <a:spcPts val="2100"/>
              </a:spcAft>
            </a:pPr>
            <a:r>
              <a:rPr sz="1700" b="1" i="0">
                <a:solidFill>
                  <a:srgbClr val="37C6D4"/>
                </a:solidFill>
                <a:latin typeface="Arial"/>
              </a:rPr>
              <a:t>•  </a:t>
            </a:r>
            <a:r>
              <a:rPr sz="1700" b="1" i="0">
                <a:solidFill>
                  <a:srgbClr val="74A8FF"/>
                </a:solidFill>
                <a:latin typeface="Arial"/>
              </a:rPr>
              <a:t>Manage it deliberately.</a:t>
            </a:r>
            <a:r>
              <a:rPr sz="1700" b="0" i="0">
                <a:solidFill>
                  <a:srgbClr val="D6DCE6"/>
                </a:solidFill>
                <a:latin typeface="Arial"/>
              </a:rPr>
              <a:t>  </a:t>
            </a:r>
            <a:r>
              <a:rPr sz="1700" b="0" i="0">
                <a:solidFill>
                  <a:srgbClr val="37C6D4"/>
                </a:solidFill>
                <a:latin typeface="Arial"/>
              </a:rPr>
              <a:t>/context</a:t>
            </a:r>
            <a:r>
              <a:rPr sz="1700" b="0" i="0">
                <a:solidFill>
                  <a:srgbClr val="D6DCE6"/>
                </a:solidFill>
                <a:latin typeface="Arial"/>
              </a:rPr>
              <a:t> reports what is loaded, </a:t>
            </a:r>
            <a:r>
              <a:rPr sz="1700" b="0" i="0">
                <a:solidFill>
                  <a:srgbClr val="37C6D4"/>
                </a:solidFill>
                <a:latin typeface="Arial"/>
              </a:rPr>
              <a:t>/compact</a:t>
            </a:r>
            <a:r>
              <a:rPr sz="1700" b="0" i="0">
                <a:solidFill>
                  <a:srgbClr val="D6DCE6"/>
                </a:solidFill>
                <a:latin typeface="Arial"/>
              </a:rPr>
              <a:t> condenses the conversation, and </a:t>
            </a:r>
            <a:r>
              <a:rPr sz="1700" b="0" i="0">
                <a:solidFill>
                  <a:srgbClr val="37C6D4"/>
                </a:solidFill>
                <a:latin typeface="Arial"/>
              </a:rPr>
              <a:t>/clear</a:t>
            </a:r>
            <a:r>
              <a:rPr sz="1700" b="0" i="0">
                <a:solidFill>
                  <a:srgbClr val="D6DCE6"/>
                </a:solidFill>
                <a:latin typeface="Arial"/>
              </a:rPr>
              <a:t> begins a new one.</a:t>
            </a:r>
          </a:p>
          <a:p>
            <a:pPr marL="292608" indent="-292608">
              <a:lnSpc>
                <a:spcPct val="122000"/>
              </a:lnSpc>
              <a:spcAft>
                <a:spcPts val="0"/>
              </a:spcAft>
            </a:pPr>
            <a:r>
              <a:rPr sz="1700" b="1" i="0">
                <a:solidFill>
                  <a:srgbClr val="37C6D4"/>
                </a:solidFill>
                <a:latin typeface="Arial"/>
              </a:rPr>
              <a:t>•  </a:t>
            </a:r>
            <a:r>
              <a:rPr sz="1700" b="1" i="0">
                <a:solidFill>
                  <a:srgbClr val="74A8FF"/>
                </a:solidFill>
                <a:latin typeface="Arial"/>
              </a:rPr>
              <a:t>Earlier states can be restored.</a:t>
            </a:r>
            <a:r>
              <a:rPr sz="1700" b="0" i="0">
                <a:solidFill>
                  <a:srgbClr val="D6DCE6"/>
                </a:solidFill>
                <a:latin typeface="Arial"/>
              </a:rPr>
              <a:t>  </a:t>
            </a:r>
            <a:r>
              <a:rPr sz="1700" b="0" i="0">
                <a:solidFill>
                  <a:srgbClr val="37C6D4"/>
                </a:solidFill>
                <a:latin typeface="Arial"/>
              </a:rPr>
              <a:t>/rewind</a:t>
            </a:r>
            <a:r>
              <a:rPr sz="1700" b="0" i="0">
                <a:solidFill>
                  <a:srgbClr val="D6DCE6"/>
                </a:solidFill>
                <a:latin typeface="Arial"/>
              </a:rPr>
              <a:t> returns the files and the conversation to a previous checkpoint.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9145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66072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11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74A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 i="0" spc="160">
                <a:solidFill>
                  <a:srgbClr val="74A8FF"/>
                </a:solidFill>
                <a:latin typeface="Arial"/>
              </a:rPr>
              <a:t>PART 5 OF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D6DCE6"/>
                </a:solidFill>
                <a:latin typeface="Arial"/>
              </a:rPr>
              <a:t>Commands and interaction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127248"/>
            <a:ext cx="7680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 i="0">
                <a:solidFill>
                  <a:srgbClr val="9BA6B4"/>
                </a:solidFill>
                <a:latin typeface="Arial"/>
              </a:rPr>
              <a:t>Directing and constraining a session.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4114800"/>
            <a:ext cx="7315200" cy="54864"/>
          </a:xfrm>
          <a:prstGeom prst="rect">
            <a:avLst/>
          </a:prstGeom>
          <a:solidFill>
            <a:srgbClr val="2A35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14400" y="4114800"/>
            <a:ext cx="4572000" cy="54864"/>
          </a:xfrm>
          <a:prstGeom prst="rect">
            <a:avLst/>
          </a:prstGeom>
          <a:solidFill>
            <a:srgbClr val="74A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479145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66072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046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 i="0">
                <a:solidFill>
                  <a:srgbClr val="D6DCE6"/>
                </a:solidFill>
                <a:latin typeface="Arial"/>
              </a:rPr>
              <a:t>Common slash commands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33856"/>
            <a:ext cx="8046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 i="0">
                <a:solidFill>
                  <a:srgbClr val="9BA6B4"/>
                </a:solidFill>
                <a:latin typeface="Arial"/>
              </a:rPr>
              <a:t>Enter </a:t>
            </a:r>
            <a:r>
              <a:rPr sz="1400" b="0" i="0">
                <a:solidFill>
                  <a:srgbClr val="37C6D4"/>
                </a:solidFill>
                <a:latin typeface="Arial"/>
              </a:rPr>
              <a:t>/</a:t>
            </a:r>
            <a:r>
              <a:rPr sz="1400" b="0" i="0">
                <a:solidFill>
                  <a:srgbClr val="9BA6B4"/>
                </a:solidFill>
                <a:latin typeface="Arial"/>
              </a:rPr>
              <a:t> to list every command; </a:t>
            </a:r>
            <a:r>
              <a:rPr sz="1400" b="0" i="0">
                <a:solidFill>
                  <a:srgbClr val="37C6D4"/>
                </a:solidFill>
                <a:latin typeface="Arial"/>
              </a:rPr>
              <a:t>/help</a:t>
            </a:r>
            <a:r>
              <a:rPr sz="1400" b="0" i="0">
                <a:solidFill>
                  <a:srgbClr val="9BA6B4"/>
                </a:solidFill>
                <a:latin typeface="Arial"/>
              </a:rPr>
              <a:t> provides a full reference.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01368"/>
            <a:ext cx="3771900" cy="512064"/>
          </a:xfrm>
          <a:prstGeom prst="rect">
            <a:avLst/>
          </a:prstGeom>
          <a:solidFill>
            <a:srgbClr val="192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4944" y="1801368"/>
            <a:ext cx="351586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 i="0">
                <a:solidFill>
                  <a:srgbClr val="74A8FF"/>
                </a:solidFill>
                <a:latin typeface="Arial"/>
              </a:rPr>
              <a:t>Session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2459736"/>
            <a:ext cx="3515868" cy="2221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37744" indent="-237744">
              <a:lnSpc>
                <a:spcPct val="112000"/>
              </a:lnSpc>
              <a:spcAft>
                <a:spcPts val="1000"/>
              </a:spcAft>
            </a:pPr>
            <a:r>
              <a:rPr sz="1400" b="1" i="0">
                <a:solidFill>
                  <a:srgbClr val="37C6D4"/>
                </a:solidFill>
                <a:latin typeface="Arial"/>
              </a:rPr>
              <a:t>•  </a:t>
            </a:r>
            <a:r>
              <a:rPr sz="1400" b="0" i="0">
                <a:solidFill>
                  <a:srgbClr val="37C6D4"/>
                </a:solidFill>
                <a:latin typeface="Arial"/>
              </a:rPr>
              <a:t>/model</a:t>
            </a:r>
            <a:r>
              <a:rPr sz="1400" b="0" i="0">
                <a:solidFill>
                  <a:srgbClr val="D6DCE6"/>
                </a:solidFill>
                <a:latin typeface="Arial"/>
              </a:rPr>
              <a:t> — select the model</a:t>
            </a:r>
          </a:p>
          <a:p>
            <a:pPr marL="237744" indent="-237744">
              <a:lnSpc>
                <a:spcPct val="112000"/>
              </a:lnSpc>
              <a:spcAft>
                <a:spcPts val="1000"/>
              </a:spcAft>
            </a:pPr>
            <a:r>
              <a:rPr sz="1400" b="1" i="0">
                <a:solidFill>
                  <a:srgbClr val="37C6D4"/>
                </a:solidFill>
                <a:latin typeface="Arial"/>
              </a:rPr>
              <a:t>•  </a:t>
            </a:r>
            <a:r>
              <a:rPr sz="1400" b="0" i="0">
                <a:solidFill>
                  <a:srgbClr val="37C6D4"/>
                </a:solidFill>
                <a:latin typeface="Arial"/>
              </a:rPr>
              <a:t>/effort</a:t>
            </a:r>
            <a:r>
              <a:rPr sz="1400" b="0" i="0">
                <a:solidFill>
                  <a:srgbClr val="D6DCE6"/>
                </a:solidFill>
                <a:latin typeface="Arial"/>
              </a:rPr>
              <a:t> — set reasoning effort</a:t>
            </a:r>
          </a:p>
          <a:p>
            <a:pPr marL="237744" indent="-237744">
              <a:lnSpc>
                <a:spcPct val="112000"/>
              </a:lnSpc>
              <a:spcAft>
                <a:spcPts val="1000"/>
              </a:spcAft>
            </a:pPr>
            <a:r>
              <a:rPr sz="1400" b="1" i="0">
                <a:solidFill>
                  <a:srgbClr val="37C6D4"/>
                </a:solidFill>
                <a:latin typeface="Arial"/>
              </a:rPr>
              <a:t>•  </a:t>
            </a:r>
            <a:r>
              <a:rPr sz="1400" b="0" i="0">
                <a:solidFill>
                  <a:srgbClr val="37C6D4"/>
                </a:solidFill>
                <a:latin typeface="Arial"/>
              </a:rPr>
              <a:t>/context</a:t>
            </a:r>
            <a:r>
              <a:rPr sz="1400" b="0" i="0">
                <a:solidFill>
                  <a:srgbClr val="D6DCE6"/>
                </a:solidFill>
                <a:latin typeface="Arial"/>
              </a:rPr>
              <a:t> — inspect the context window</a:t>
            </a:r>
          </a:p>
          <a:p>
            <a:pPr marL="237744" indent="-237744">
              <a:lnSpc>
                <a:spcPct val="112000"/>
              </a:lnSpc>
              <a:spcAft>
                <a:spcPts val="1000"/>
              </a:spcAft>
            </a:pPr>
            <a:r>
              <a:rPr sz="1400" b="1" i="0">
                <a:solidFill>
                  <a:srgbClr val="37C6D4"/>
                </a:solidFill>
                <a:latin typeface="Arial"/>
              </a:rPr>
              <a:t>•  </a:t>
            </a:r>
            <a:r>
              <a:rPr sz="1400" b="0" i="0">
                <a:solidFill>
                  <a:srgbClr val="37C6D4"/>
                </a:solidFill>
                <a:latin typeface="Arial"/>
              </a:rPr>
              <a:t>/compact</a:t>
            </a:r>
            <a:r>
              <a:rPr sz="1400" b="0" i="0">
                <a:solidFill>
                  <a:srgbClr val="D6DCE6"/>
                </a:solidFill>
                <a:latin typeface="Arial"/>
              </a:rPr>
              <a:t> — condense the conversation</a:t>
            </a:r>
          </a:p>
          <a:p>
            <a:pPr marL="237744" indent="-237744">
              <a:lnSpc>
                <a:spcPct val="112000"/>
              </a:lnSpc>
              <a:spcAft>
                <a:spcPts val="1000"/>
              </a:spcAft>
            </a:pPr>
            <a:r>
              <a:rPr sz="1400" b="1" i="0">
                <a:solidFill>
                  <a:srgbClr val="37C6D4"/>
                </a:solidFill>
                <a:latin typeface="Arial"/>
              </a:rPr>
              <a:t>•  </a:t>
            </a:r>
            <a:r>
              <a:rPr sz="1400" b="0" i="0">
                <a:solidFill>
                  <a:srgbClr val="37C6D4"/>
                </a:solidFill>
                <a:latin typeface="Arial"/>
              </a:rPr>
              <a:t>/clear</a:t>
            </a:r>
            <a:r>
              <a:rPr sz="1400" b="0" i="0">
                <a:solidFill>
                  <a:srgbClr val="D6DCE6"/>
                </a:solidFill>
                <a:latin typeface="Arial"/>
              </a:rPr>
              <a:t> — begin a new conversation</a:t>
            </a:r>
          </a:p>
          <a:p>
            <a:pPr marL="237744" indent="-237744">
              <a:lnSpc>
                <a:spcPct val="112000"/>
              </a:lnSpc>
              <a:spcAft>
                <a:spcPts val="1000"/>
              </a:spcAft>
            </a:pPr>
            <a:r>
              <a:rPr sz="1400" b="1" i="0">
                <a:solidFill>
                  <a:srgbClr val="37C6D4"/>
                </a:solidFill>
                <a:latin typeface="Arial"/>
              </a:rPr>
              <a:t>•  </a:t>
            </a:r>
            <a:r>
              <a:rPr sz="1400" b="0" i="0">
                <a:solidFill>
                  <a:srgbClr val="37C6D4"/>
                </a:solidFill>
                <a:latin typeface="Arial"/>
              </a:rPr>
              <a:t>/rewind</a:t>
            </a:r>
            <a:r>
              <a:rPr sz="1400" b="0" i="0">
                <a:solidFill>
                  <a:srgbClr val="D6DCE6"/>
                </a:solidFill>
                <a:latin typeface="Arial"/>
              </a:rPr>
              <a:t> — restore an earlier state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823459" y="1801368"/>
            <a:ext cx="3771900" cy="512064"/>
          </a:xfrm>
          <a:prstGeom prst="rect">
            <a:avLst/>
          </a:prstGeom>
          <a:solidFill>
            <a:srgbClr val="192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69764" y="1801368"/>
            <a:ext cx="351586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 i="0">
                <a:solidFill>
                  <a:srgbClr val="37C6D4"/>
                </a:solidFill>
                <a:latin typeface="Arial"/>
              </a:rPr>
              <a:t>Configuration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69764" y="2459736"/>
            <a:ext cx="3515868" cy="2221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37744" indent="-237744">
              <a:lnSpc>
                <a:spcPct val="112000"/>
              </a:lnSpc>
              <a:spcAft>
                <a:spcPts val="1000"/>
              </a:spcAft>
            </a:pPr>
            <a:r>
              <a:rPr sz="1400" b="1" i="0">
                <a:solidFill>
                  <a:srgbClr val="37C6D4"/>
                </a:solidFill>
                <a:latin typeface="Arial"/>
              </a:rPr>
              <a:t>•  </a:t>
            </a:r>
            <a:r>
              <a:rPr sz="1400" b="0" i="0">
                <a:solidFill>
                  <a:srgbClr val="37C6D4"/>
                </a:solidFill>
                <a:latin typeface="Arial"/>
              </a:rPr>
              <a:t>/init</a:t>
            </a:r>
            <a:r>
              <a:rPr sz="1400" b="0" i="0">
                <a:solidFill>
                  <a:srgbClr val="D6DCE6"/>
                </a:solidFill>
                <a:latin typeface="Arial"/>
              </a:rPr>
              <a:t> — create a CLAUDE.md file</a:t>
            </a:r>
          </a:p>
          <a:p>
            <a:pPr marL="237744" indent="-237744">
              <a:lnSpc>
                <a:spcPct val="112000"/>
              </a:lnSpc>
              <a:spcAft>
                <a:spcPts val="1000"/>
              </a:spcAft>
            </a:pPr>
            <a:r>
              <a:rPr sz="1400" b="1" i="0">
                <a:solidFill>
                  <a:srgbClr val="37C6D4"/>
                </a:solidFill>
                <a:latin typeface="Arial"/>
              </a:rPr>
              <a:t>•  </a:t>
            </a:r>
            <a:r>
              <a:rPr sz="1400" b="0" i="0">
                <a:solidFill>
                  <a:srgbClr val="37C6D4"/>
                </a:solidFill>
                <a:latin typeface="Arial"/>
              </a:rPr>
              <a:t>/agents</a:t>
            </a:r>
            <a:r>
              <a:rPr sz="1400" b="0" i="0">
                <a:solidFill>
                  <a:srgbClr val="D6DCE6"/>
                </a:solidFill>
                <a:latin typeface="Arial"/>
              </a:rPr>
              <a:t> — set up task-specific helpers</a:t>
            </a:r>
          </a:p>
          <a:p>
            <a:pPr marL="237744" indent="-237744">
              <a:lnSpc>
                <a:spcPct val="112000"/>
              </a:lnSpc>
              <a:spcAft>
                <a:spcPts val="1000"/>
              </a:spcAft>
            </a:pPr>
            <a:r>
              <a:rPr sz="1400" b="1" i="0">
                <a:solidFill>
                  <a:srgbClr val="37C6D4"/>
                </a:solidFill>
                <a:latin typeface="Arial"/>
              </a:rPr>
              <a:t>•  </a:t>
            </a:r>
            <a:r>
              <a:rPr sz="1400" b="0" i="0">
                <a:solidFill>
                  <a:srgbClr val="37C6D4"/>
                </a:solidFill>
                <a:latin typeface="Arial"/>
              </a:rPr>
              <a:t>/mcp</a:t>
            </a:r>
            <a:r>
              <a:rPr sz="1400" b="0" i="0">
                <a:solidFill>
                  <a:srgbClr val="D6DCE6"/>
                </a:solidFill>
                <a:latin typeface="Arial"/>
              </a:rPr>
              <a:t> — connect external tools</a:t>
            </a:r>
          </a:p>
          <a:p>
            <a:pPr marL="237744" indent="-237744">
              <a:lnSpc>
                <a:spcPct val="112000"/>
              </a:lnSpc>
              <a:spcAft>
                <a:spcPts val="1000"/>
              </a:spcAft>
            </a:pPr>
            <a:r>
              <a:rPr sz="1400" b="1" i="0">
                <a:solidFill>
                  <a:srgbClr val="37C6D4"/>
                </a:solidFill>
                <a:latin typeface="Arial"/>
              </a:rPr>
              <a:t>•  </a:t>
            </a:r>
            <a:r>
              <a:rPr sz="1400" b="0" i="0">
                <a:solidFill>
                  <a:srgbClr val="37C6D4"/>
                </a:solidFill>
                <a:latin typeface="Arial"/>
              </a:rPr>
              <a:t>/permissions</a:t>
            </a:r>
            <a:r>
              <a:rPr sz="1400" b="0" i="0">
                <a:solidFill>
                  <a:srgbClr val="D6DCE6"/>
                </a:solidFill>
                <a:latin typeface="Arial"/>
              </a:rPr>
              <a:t> — set allow / ask / deny rules</a:t>
            </a:r>
          </a:p>
          <a:p>
            <a:pPr marL="237744" indent="-237744">
              <a:lnSpc>
                <a:spcPct val="112000"/>
              </a:lnSpc>
              <a:spcAft>
                <a:spcPts val="1000"/>
              </a:spcAft>
            </a:pPr>
            <a:r>
              <a:rPr sz="1400" b="1" i="0">
                <a:solidFill>
                  <a:srgbClr val="37C6D4"/>
                </a:solidFill>
                <a:latin typeface="Arial"/>
              </a:rPr>
              <a:t>•  </a:t>
            </a:r>
            <a:r>
              <a:rPr sz="1400" b="0" i="0">
                <a:solidFill>
                  <a:srgbClr val="37C6D4"/>
                </a:solidFill>
                <a:latin typeface="Arial"/>
              </a:rPr>
              <a:t>/config</a:t>
            </a:r>
            <a:r>
              <a:rPr sz="1400" b="0" i="0">
                <a:solidFill>
                  <a:srgbClr val="D6DCE6"/>
                </a:solidFill>
                <a:latin typeface="Arial"/>
              </a:rPr>
              <a:t> — adjust settings</a:t>
            </a:r>
          </a:p>
          <a:p>
            <a:pPr marL="237744" indent="-237744">
              <a:lnSpc>
                <a:spcPct val="112000"/>
              </a:lnSpc>
              <a:spcAft>
                <a:spcPts val="1000"/>
              </a:spcAft>
            </a:pPr>
            <a:r>
              <a:rPr sz="1400" b="1" i="0">
                <a:solidFill>
                  <a:srgbClr val="37C6D4"/>
                </a:solidFill>
                <a:latin typeface="Arial"/>
              </a:rPr>
              <a:t>•  </a:t>
            </a:r>
            <a:r>
              <a:rPr sz="1400" b="0" i="0">
                <a:solidFill>
                  <a:srgbClr val="37C6D4"/>
                </a:solidFill>
                <a:latin typeface="Arial"/>
              </a:rPr>
              <a:t>/help</a:t>
            </a:r>
            <a:r>
              <a:rPr sz="1400" b="0" i="0">
                <a:solidFill>
                  <a:srgbClr val="D6DCE6"/>
                </a:solidFill>
                <a:latin typeface="Arial"/>
              </a:rPr>
              <a:t> — list every command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479145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66072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046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 i="0">
                <a:solidFill>
                  <a:srgbClr val="D6DCE6"/>
                </a:solidFill>
                <a:latin typeface="Arial"/>
              </a:rPr>
              <a:t>Permission modes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33856"/>
            <a:ext cx="8046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 i="0">
                <a:solidFill>
                  <a:srgbClr val="9BA6B4"/>
                </a:solidFill>
                <a:latin typeface="Arial"/>
              </a:rPr>
              <a:t>The user sets the level of autonomy with Shift+Tab; the model cannot change it.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938528"/>
          <a:ext cx="8046720" cy="2397555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313432"/>
                <a:gridCol w="5733288"/>
              </a:tblGrid>
              <a:tr h="479511"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08121A"/>
                          </a:solidFill>
                          <a:latin typeface="Arial"/>
                        </a:rPr>
                        <a:t>Mode</a:t>
                      </a:r>
                    </a:p>
                  </a:txBody>
                  <a:tcPr marL="128016" marR="91440" marT="45720" marB="45720" anchor="ctr">
                    <a:solidFill>
                      <a:srgbClr val="37C6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08121A"/>
                          </a:solidFill>
                          <a:latin typeface="Arial"/>
                        </a:rPr>
                        <a:t>Behavior</a:t>
                      </a:r>
                    </a:p>
                  </a:txBody>
                  <a:tcPr marL="128016" marR="91440" marT="45720" marB="45720" anchor="ctr">
                    <a:solidFill>
                      <a:srgbClr val="37C6D4"/>
                    </a:solidFill>
                  </a:tcPr>
                </a:tc>
              </a:tr>
              <a:tr h="479511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D6DCE6"/>
                          </a:solidFill>
                          <a:latin typeface="Arial"/>
                        </a:rPr>
                        <a:t>Manual (default)</a:t>
                      </a:r>
                    </a:p>
                  </a:txBody>
                  <a:tcPr marL="128016" marR="91440" marT="45720" marB="45720" anchor="ctr">
                    <a:solidFill>
                      <a:srgbClr val="151D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D6DCE6"/>
                          </a:solidFill>
                          <a:latin typeface="Arial"/>
                        </a:rPr>
                        <a:t>Reads freely; requests approval for each edit or command</a:t>
                      </a:r>
                    </a:p>
                  </a:txBody>
                  <a:tcPr marL="128016" marR="91440" marT="45720" marB="45720" anchor="ctr">
                    <a:solidFill>
                      <a:srgbClr val="151D2A"/>
                    </a:solidFill>
                  </a:tcPr>
                </a:tc>
              </a:tr>
              <a:tr h="479511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D6DCE6"/>
                          </a:solidFill>
                          <a:latin typeface="Arial"/>
                        </a:rPr>
                        <a:t>Accept edits</a:t>
                      </a:r>
                    </a:p>
                  </a:txBody>
                  <a:tcPr marL="128016" marR="91440" marT="45720" marB="45720" anchor="ctr">
                    <a:solidFill>
                      <a:srgbClr val="1B253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D6DCE6"/>
                          </a:solidFill>
                          <a:latin typeface="Arial"/>
                        </a:rPr>
                        <a:t>Applies its own edits within the working directory</a:t>
                      </a:r>
                    </a:p>
                  </a:txBody>
                  <a:tcPr marL="128016" marR="91440" marT="45720" marB="45720" anchor="ctr">
                    <a:solidFill>
                      <a:srgbClr val="1B2534"/>
                    </a:solidFill>
                  </a:tcPr>
                </a:tc>
              </a:tr>
              <a:tr h="479511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D6DCE6"/>
                          </a:solidFill>
                          <a:latin typeface="Arial"/>
                        </a:rPr>
                        <a:t>Plan</a:t>
                      </a:r>
                    </a:p>
                  </a:txBody>
                  <a:tcPr marL="128016" marR="91440" marT="45720" marB="45720" anchor="ctr">
                    <a:solidFill>
                      <a:srgbClr val="151D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D6DCE6"/>
                          </a:solidFill>
                          <a:latin typeface="Arial"/>
                        </a:rPr>
                        <a:t>Read-only; proposes changes without applying them</a:t>
                      </a:r>
                    </a:p>
                  </a:txBody>
                  <a:tcPr marL="128016" marR="91440" marT="45720" marB="45720" anchor="ctr">
                    <a:solidFill>
                      <a:srgbClr val="151D2A"/>
                    </a:solidFill>
                  </a:tcPr>
                </a:tc>
              </a:tr>
              <a:tr h="479511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D6DCE6"/>
                          </a:solidFill>
                          <a:latin typeface="Arial"/>
                        </a:rPr>
                        <a:t>Auto</a:t>
                      </a:r>
                    </a:p>
                  </a:txBody>
                  <a:tcPr marL="128016" marR="91440" marT="45720" marB="45720" anchor="ctr">
                    <a:solidFill>
                      <a:srgbClr val="1B253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D6DCE6"/>
                          </a:solidFill>
                          <a:latin typeface="Arial"/>
                        </a:rPr>
                        <a:t>Operates autonomously, subject to a safety check (opt-in)</a:t>
                      </a:r>
                    </a:p>
                  </a:txBody>
                  <a:tcPr marL="128016" marR="91440" marT="45720" marB="45720" anchor="ctr">
                    <a:solidFill>
                      <a:srgbClr val="1B253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482388"/>
            <a:ext cx="8046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1">
                <a:solidFill>
                  <a:srgbClr val="9BA6B4"/>
                </a:solidFill>
                <a:latin typeface="Arial"/>
              </a:rPr>
              <a:t>A further mode bypasses all checks and is appropriate only in an isolated, disposable environment.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479145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66072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046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 i="0">
                <a:solidFill>
                  <a:srgbClr val="D6DCE6"/>
                </a:solidFill>
                <a:latin typeface="Arial"/>
              </a:rPr>
              <a:t>Actions are confirmed before 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33856"/>
            <a:ext cx="8046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 i="0">
                <a:solidFill>
                  <a:srgbClr val="9BA6B4"/>
                </a:solidFill>
                <a:latin typeface="Arial"/>
              </a:rPr>
              <a:t>Before it edits a file or runs a command, Claude Code stops and asks.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55648"/>
            <a:ext cx="804672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292608" indent="-292608">
              <a:lnSpc>
                <a:spcPct val="122000"/>
              </a:lnSpc>
              <a:spcAft>
                <a:spcPts val="2400"/>
              </a:spcAft>
            </a:pPr>
            <a:r>
              <a:rPr sz="1800" b="1" i="0">
                <a:solidFill>
                  <a:srgbClr val="37C6D4"/>
                </a:solidFill>
                <a:latin typeface="Arial"/>
              </a:rPr>
              <a:t>•  </a:t>
            </a:r>
            <a:r>
              <a:rPr sz="1800" b="1" i="0">
                <a:solidFill>
                  <a:srgbClr val="74A8FF"/>
                </a:solidFill>
                <a:latin typeface="Arial"/>
              </a:rPr>
              <a:t>Three choices, every time.</a:t>
            </a:r>
            <a:r>
              <a:rPr sz="1800" b="0" i="0">
                <a:solidFill>
                  <a:srgbClr val="D6DCE6"/>
                </a:solidFill>
                <a:latin typeface="Arial"/>
              </a:rPr>
              <a:t>  </a:t>
            </a:r>
            <a:r>
              <a:rPr sz="1800" b="0" i="0">
                <a:solidFill>
                  <a:srgbClr val="D6DCE6"/>
                </a:solidFill>
                <a:latin typeface="Arial"/>
              </a:rPr>
              <a:t>Permit the action once, permit the whole category from now on, or decline and tell it what to do instead.</a:t>
            </a:r>
          </a:p>
          <a:p>
            <a:pPr marL="292608" indent="-292608">
              <a:lnSpc>
                <a:spcPct val="122000"/>
              </a:lnSpc>
              <a:spcAft>
                <a:spcPts val="2400"/>
              </a:spcAft>
            </a:pPr>
            <a:r>
              <a:rPr sz="1800" b="1" i="0">
                <a:solidFill>
                  <a:srgbClr val="37C6D4"/>
                </a:solidFill>
                <a:latin typeface="Arial"/>
              </a:rPr>
              <a:t>•  </a:t>
            </a:r>
            <a:r>
              <a:rPr sz="1800" b="1" i="0">
                <a:solidFill>
                  <a:srgbClr val="74A8FF"/>
                </a:solidFill>
                <a:latin typeface="Arial"/>
              </a:rPr>
              <a:t>Nothing runs until you choose.</a:t>
            </a:r>
            <a:r>
              <a:rPr sz="1800" b="0" i="0">
                <a:solidFill>
                  <a:srgbClr val="D6DCE6"/>
                </a:solidFill>
                <a:latin typeface="Arial"/>
              </a:rPr>
              <a:t>  </a:t>
            </a:r>
            <a:r>
              <a:rPr sz="1800" b="0" i="0">
                <a:solidFill>
                  <a:srgbClr val="D6DCE6"/>
                </a:solidFill>
                <a:latin typeface="Arial"/>
              </a:rPr>
              <a:t>Reads are free, but an edit or a command waits for approval — the mode you set (Manual, Accept edits, Plan) decides how often it asks.</a:t>
            </a:r>
          </a:p>
          <a:p>
            <a:pPr marL="292608" indent="-292608">
              <a:lnSpc>
                <a:spcPct val="122000"/>
              </a:lnSpc>
              <a:spcAft>
                <a:spcPts val="0"/>
              </a:spcAft>
            </a:pPr>
            <a:r>
              <a:rPr sz="1800" b="1" i="0">
                <a:solidFill>
                  <a:srgbClr val="37C6D4"/>
                </a:solidFill>
                <a:latin typeface="Arial"/>
              </a:rPr>
              <a:t>•  </a:t>
            </a:r>
            <a:r>
              <a:rPr sz="1800" b="1" i="0">
                <a:solidFill>
                  <a:srgbClr val="74A8FF"/>
                </a:solidFill>
                <a:latin typeface="Arial"/>
              </a:rPr>
              <a:t>You stay the reviewer.</a:t>
            </a:r>
            <a:r>
              <a:rPr sz="1800" b="0" i="0">
                <a:solidFill>
                  <a:srgbClr val="D6DCE6"/>
                </a:solidFill>
                <a:latin typeface="Arial"/>
              </a:rPr>
              <a:t>  </a:t>
            </a:r>
            <a:r>
              <a:rPr sz="1800" b="0" i="0">
                <a:solidFill>
                  <a:srgbClr val="D6DCE6"/>
                </a:solidFill>
                <a:latin typeface="Arial"/>
              </a:rPr>
              <a:t>The command it wants to run is shown in full before it runs, so nothing happens behind your back.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9145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66072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11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74A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 i="0" spc="160">
                <a:solidFill>
                  <a:srgbClr val="74A8FF"/>
                </a:solidFill>
                <a:latin typeface="Arial"/>
              </a:rPr>
              <a:t>PART 6 OF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D6DCE6"/>
                </a:solidFill>
                <a:latin typeface="Arial"/>
              </a:rPr>
              <a:t>Customization and extensibility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127248"/>
            <a:ext cx="7680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 i="0">
                <a:solidFill>
                  <a:srgbClr val="9BA6B4"/>
                </a:solidFill>
                <a:latin typeface="Arial"/>
              </a:rPr>
              <a:t>Adapting the tool to a project.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4114800"/>
            <a:ext cx="7315200" cy="54864"/>
          </a:xfrm>
          <a:prstGeom prst="rect">
            <a:avLst/>
          </a:prstGeom>
          <a:solidFill>
            <a:srgbClr val="2A35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14400" y="4114800"/>
            <a:ext cx="5486400" cy="54864"/>
          </a:xfrm>
          <a:prstGeom prst="rect">
            <a:avLst/>
          </a:prstGeom>
          <a:solidFill>
            <a:srgbClr val="74A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479145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66072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046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 i="0">
                <a:solidFill>
                  <a:srgbClr val="D6DCE6"/>
                </a:solidFill>
                <a:latin typeface="Arial"/>
              </a:rPr>
              <a:t>Configurable components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33856"/>
            <a:ext cx="8046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 i="0">
                <a:solidFill>
                  <a:srgbClr val="9BA6B4"/>
                </a:solidFill>
                <a:latin typeface="Arial"/>
              </a:rPr>
              <a:t>The model is fixed; the surrounding program is configurable.</a:t>
            </a:r>
          </a:p>
        </p:txBody>
      </p:sp>
      <p:pic>
        <p:nvPicPr>
          <p:cNvPr id="5" name="Picture 4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3235" y="1700784"/>
            <a:ext cx="5837529" cy="31272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0" y="479145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66072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046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 i="0">
                <a:solidFill>
                  <a:srgbClr val="D6DCE6"/>
                </a:solidFill>
                <a:latin typeface="Arial"/>
              </a:rPr>
              <a:t>Project memory: CLAUDE.md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33856"/>
            <a:ext cx="8046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 i="0">
                <a:solidFill>
                  <a:srgbClr val="9BA6B4"/>
                </a:solidFill>
                <a:latin typeface="Arial"/>
              </a:rPr>
              <a:t>A Markdown file loaded automatically at the start of every session in a directory.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55648"/>
            <a:ext cx="804672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292608" indent="-292608">
              <a:lnSpc>
                <a:spcPct val="122000"/>
              </a:lnSpc>
              <a:spcAft>
                <a:spcPts val="1900"/>
              </a:spcAft>
            </a:pPr>
            <a:r>
              <a:rPr sz="1700" b="1" i="0">
                <a:solidFill>
                  <a:srgbClr val="37C6D4"/>
                </a:solidFill>
                <a:latin typeface="Arial"/>
              </a:rPr>
              <a:t>•  </a:t>
            </a:r>
            <a:r>
              <a:rPr sz="1700" b="1" i="0">
                <a:solidFill>
                  <a:srgbClr val="74A8FF"/>
                </a:solidFill>
                <a:latin typeface="Arial"/>
              </a:rPr>
              <a:t>A place for project conventions.</a:t>
            </a:r>
            <a:r>
              <a:rPr sz="1700" b="0" i="0">
                <a:solidFill>
                  <a:srgbClr val="D6DCE6"/>
                </a:solidFill>
                <a:latin typeface="Arial"/>
              </a:rPr>
              <a:t>  </a:t>
            </a:r>
            <a:r>
              <a:rPr sz="1700" b="0" i="0">
                <a:solidFill>
                  <a:srgbClr val="D6DCE6"/>
                </a:solidFill>
                <a:latin typeface="Arial"/>
              </a:rPr>
              <a:t>For example, the location of the tests, the environment to activate, or which data are read-only.</a:t>
            </a:r>
          </a:p>
          <a:p>
            <a:pPr marL="292608" indent="-292608">
              <a:lnSpc>
                <a:spcPct val="122000"/>
              </a:lnSpc>
              <a:spcAft>
                <a:spcPts val="1900"/>
              </a:spcAft>
            </a:pPr>
            <a:r>
              <a:rPr sz="1700" b="1" i="0">
                <a:solidFill>
                  <a:srgbClr val="37C6D4"/>
                </a:solidFill>
                <a:latin typeface="Arial"/>
              </a:rPr>
              <a:t>•  </a:t>
            </a:r>
            <a:r>
              <a:rPr sz="1700" b="1" i="0">
                <a:solidFill>
                  <a:srgbClr val="37C6D4"/>
                </a:solidFill>
                <a:latin typeface="Arial"/>
              </a:rPr>
              <a:t>/init</a:t>
            </a:r>
            <a:r>
              <a:rPr sz="1700" b="1" i="0">
                <a:solidFill>
                  <a:srgbClr val="74A8FF"/>
                </a:solidFill>
                <a:latin typeface="Arial"/>
              </a:rPr>
              <a:t> drafts an initial file.</a:t>
            </a:r>
            <a:r>
              <a:rPr sz="1700" b="0" i="0">
                <a:solidFill>
                  <a:srgbClr val="D6DCE6"/>
                </a:solidFill>
                <a:latin typeface="Arial"/>
              </a:rPr>
              <a:t>  </a:t>
            </a:r>
            <a:r>
              <a:rPr sz="1700" b="0" i="0">
                <a:solidFill>
                  <a:srgbClr val="D6DCE6"/>
                </a:solidFill>
                <a:latin typeface="Arial"/>
              </a:rPr>
              <a:t>Keep it concise — roughly 200 lines or fewer. It is guidance, not an enforced constraint.</a:t>
            </a:r>
          </a:p>
          <a:p>
            <a:pPr marL="292608" indent="-292608">
              <a:lnSpc>
                <a:spcPct val="122000"/>
              </a:lnSpc>
              <a:spcAft>
                <a:spcPts val="0"/>
              </a:spcAft>
            </a:pPr>
            <a:r>
              <a:rPr sz="1700" b="1" i="0">
                <a:solidFill>
                  <a:srgbClr val="37C6D4"/>
                </a:solidFill>
                <a:latin typeface="Arial"/>
              </a:rPr>
              <a:t>•  </a:t>
            </a:r>
            <a:r>
              <a:rPr sz="1700" b="1" i="0">
                <a:solidFill>
                  <a:srgbClr val="74A8FF"/>
                </a:solidFill>
                <a:latin typeface="Arial"/>
              </a:rPr>
              <a:t>Two levels, personal and shared.</a:t>
            </a:r>
            <a:r>
              <a:rPr sz="1700" b="0" i="0">
                <a:solidFill>
                  <a:srgbClr val="D6DCE6"/>
                </a:solidFill>
                <a:latin typeface="Arial"/>
              </a:rPr>
              <a:t>  </a:t>
            </a:r>
            <a:r>
              <a:rPr sz="1700" b="0" i="0">
                <a:solidFill>
                  <a:srgbClr val="D6DCE6"/>
                </a:solidFill>
                <a:latin typeface="Arial"/>
              </a:rPr>
              <a:t>A personal file that applies to all your work, and a project file shared with collaborators.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791456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 i="1">
                <a:solidFill>
                  <a:srgbClr val="566072"/>
                </a:solidFill>
                <a:latin typeface="Arial"/>
              </a:rPr>
              <a:t>Memory hierarchy and /init: Anthropic documentation.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479145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66072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046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 i="0">
                <a:solidFill>
                  <a:srgbClr val="D6DCE6"/>
                </a:solidFill>
                <a:latin typeface="Arial"/>
              </a:rPr>
              <a:t>Reusable instructions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33856"/>
            <a:ext cx="8046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 i="0">
                <a:solidFill>
                  <a:srgbClr val="9BA6B4"/>
                </a:solidFill>
                <a:latin typeface="Arial"/>
              </a:rPr>
              <a:t>A frequently used instruction can be saved and invoked by name. Such saved instructions are one kind of skill.</a:t>
            </a:r>
          </a:p>
        </p:txBody>
      </p:sp>
      <p:pic>
        <p:nvPicPr>
          <p:cNvPr id="5" name="Picture 4" descr="image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715" y="1700784"/>
            <a:ext cx="7758569" cy="31272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0" y="479145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66072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046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 i="0">
                <a:solidFill>
                  <a:srgbClr val="D6DCE6"/>
                </a:solidFill>
                <a:latin typeface="Arial"/>
              </a:rPr>
              <a:t>Skills: automatically invoked capabilities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33856"/>
            <a:ext cx="8046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 i="0">
                <a:solidFill>
                  <a:srgbClr val="9BA6B4"/>
                </a:solidFill>
                <a:latin typeface="Arial"/>
              </a:rPr>
              <a:t>More generally, the model invokes a relevant skill on its own when a request matches the skill's description — without being asked by name.</a:t>
            </a:r>
          </a:p>
        </p:txBody>
      </p:sp>
      <p:pic>
        <p:nvPicPr>
          <p:cNvPr id="5" name="Picture 4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3723" y="1700784"/>
            <a:ext cx="6796552" cy="29809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791456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 i="1">
                <a:solidFill>
                  <a:srgbClr val="566072"/>
                </a:solidFill>
                <a:latin typeface="Arial"/>
              </a:rPr>
              <a:t>Agent Skills: Anthropic, "Equipping agents for the real world with Agent Skills" (2025).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479145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66072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046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 i="0">
                <a:solidFill>
                  <a:srgbClr val="D6DCE6"/>
                </a:solidFill>
                <a:latin typeface="Arial"/>
              </a:rPr>
              <a:t>External tools and data: MCP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33856"/>
            <a:ext cx="8046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 i="0">
                <a:solidFill>
                  <a:srgbClr val="9BA6B4"/>
                </a:solidFill>
                <a:latin typeface="Arial"/>
              </a:rPr>
              <a:t>The Model Context Protocol is an open standard that connects the tool to outside services — for example, a Google Drive or Box server, to read your files and write results back.</a:t>
            </a:r>
          </a:p>
        </p:txBody>
      </p:sp>
      <p:pic>
        <p:nvPicPr>
          <p:cNvPr id="5" name="Picture 4" descr="image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3723" y="1700784"/>
            <a:ext cx="6796552" cy="29809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791456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 i="1">
                <a:solidFill>
                  <a:srgbClr val="566072"/>
                </a:solidFill>
                <a:latin typeface="Arial"/>
              </a:rPr>
              <a:t>MCP: Anthropic, "Introducing the Model Context Protocol" (2024); modelcontextprotocol.io.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479145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66072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046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 i="0">
                <a:solidFill>
                  <a:srgbClr val="D6DCE6"/>
                </a:solidFill>
                <a:latin typeface="Arial"/>
              </a:rPr>
              <a:t>Hooks: rules the harness enforces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33856"/>
            <a:ext cx="8046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 i="0">
                <a:solidFill>
                  <a:srgbClr val="9BA6B4"/>
                </a:solidFill>
                <a:latin typeface="Arial"/>
              </a:rPr>
              <a:t>A hook is a small command the program runs automatically at a set point — no prompt, no reminder.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55648"/>
            <a:ext cx="804672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292608" indent="-292608">
              <a:lnSpc>
                <a:spcPct val="122000"/>
              </a:lnSpc>
              <a:spcAft>
                <a:spcPts val="2200"/>
              </a:spcAft>
            </a:pPr>
            <a:r>
              <a:rPr sz="1800" b="1" i="0">
                <a:solidFill>
                  <a:srgbClr val="37C6D4"/>
                </a:solidFill>
                <a:latin typeface="Arial"/>
              </a:rPr>
              <a:t>•  </a:t>
            </a:r>
            <a:r>
              <a:rPr sz="1800" b="1" i="0">
                <a:solidFill>
                  <a:srgbClr val="74A8FF"/>
                </a:solidFill>
                <a:latin typeface="Arial"/>
              </a:rPr>
              <a:t>For example: protect the raw data.</a:t>
            </a:r>
            <a:r>
              <a:rPr sz="1800" b="0" i="0">
                <a:solidFill>
                  <a:srgbClr val="D6DCE6"/>
                </a:solidFill>
                <a:latin typeface="Arial"/>
              </a:rPr>
              <a:t>  </a:t>
            </a:r>
            <a:r>
              <a:rPr sz="1800" b="0" i="0">
                <a:solidFill>
                  <a:srgbClr val="D6DCE6"/>
                </a:solidFill>
                <a:latin typeface="Arial"/>
              </a:rPr>
              <a:t>Register a hook that runs before every command; if one would write inside </a:t>
            </a:r>
            <a:r>
              <a:rPr sz="1800" b="0" i="0">
                <a:solidFill>
                  <a:srgbClr val="37C6D4"/>
                </a:solidFill>
                <a:latin typeface="Arial"/>
              </a:rPr>
              <a:t>data/raw/</a:t>
            </a:r>
            <a:r>
              <a:rPr sz="1800" b="0" i="0">
                <a:solidFill>
                  <a:srgbClr val="D6DCE6"/>
                </a:solidFill>
                <a:latin typeface="Arial"/>
              </a:rPr>
              <a:t>, the hook exits with an error and the command is blocked — before it runs.</a:t>
            </a:r>
          </a:p>
          <a:p>
            <a:pPr marL="292608" indent="-292608">
              <a:lnSpc>
                <a:spcPct val="122000"/>
              </a:lnSpc>
              <a:spcAft>
                <a:spcPts val="2200"/>
              </a:spcAft>
            </a:pPr>
            <a:r>
              <a:rPr sz="1800" b="1" i="0">
                <a:solidFill>
                  <a:srgbClr val="37C6D4"/>
                </a:solidFill>
                <a:latin typeface="Arial"/>
              </a:rPr>
              <a:t>•  </a:t>
            </a:r>
            <a:r>
              <a:rPr sz="1800" b="1" i="0">
                <a:solidFill>
                  <a:srgbClr val="74A8FF"/>
                </a:solidFill>
                <a:latin typeface="Arial"/>
              </a:rPr>
              <a:t>Or: format on every edit.</a:t>
            </a:r>
            <a:r>
              <a:rPr sz="1800" b="0" i="0">
                <a:solidFill>
                  <a:srgbClr val="D6DCE6"/>
                </a:solidFill>
                <a:latin typeface="Arial"/>
              </a:rPr>
              <a:t>  </a:t>
            </a:r>
            <a:r>
              <a:rPr sz="1800" b="0" i="0">
                <a:solidFill>
                  <a:srgbClr val="D6DCE6"/>
                </a:solidFill>
                <a:latin typeface="Arial"/>
              </a:rPr>
              <a:t>A hook that runs after each edit can auto-format the file, so the code stays tidy on its own.</a:t>
            </a:r>
          </a:p>
          <a:p>
            <a:pPr marL="292608" indent="-292608">
              <a:lnSpc>
                <a:spcPct val="122000"/>
              </a:lnSpc>
              <a:spcAft>
                <a:spcPts val="0"/>
              </a:spcAft>
            </a:pPr>
            <a:r>
              <a:rPr sz="1800" b="1" i="0">
                <a:solidFill>
                  <a:srgbClr val="37C6D4"/>
                </a:solidFill>
                <a:latin typeface="Arial"/>
              </a:rPr>
              <a:t>•  </a:t>
            </a:r>
            <a:r>
              <a:rPr sz="1800" b="1" i="0">
                <a:solidFill>
                  <a:srgbClr val="74A8FF"/>
                </a:solidFill>
                <a:latin typeface="Arial"/>
              </a:rPr>
              <a:t>Enforced, unlike CLAUDE.md.</a:t>
            </a:r>
            <a:r>
              <a:rPr sz="1800" b="0" i="0">
                <a:solidFill>
                  <a:srgbClr val="D6DCE6"/>
                </a:solidFill>
                <a:latin typeface="Arial"/>
              </a:rPr>
              <a:t>  </a:t>
            </a:r>
            <a:r>
              <a:rPr sz="1800" b="0" i="0">
                <a:solidFill>
                  <a:srgbClr val="D6DCE6"/>
                </a:solidFill>
                <a:latin typeface="Arial"/>
              </a:rPr>
              <a:t>CLAUDE.md is advice the model usually follows; a hook is a rule the program applies every 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9145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66072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11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74A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 i="0" spc="160">
                <a:solidFill>
                  <a:srgbClr val="74A8FF"/>
                </a:solidFill>
                <a:latin typeface="Arial"/>
              </a:rPr>
              <a:t>PART 7 OF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D6DCE6"/>
                </a:solidFill>
                <a:latin typeface="Arial"/>
              </a:rPr>
              <a:t>Claude Code on the cluster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127248"/>
            <a:ext cx="7680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 i="0">
                <a:solidFill>
                  <a:srgbClr val="9BA6B4"/>
                </a:solidFill>
                <a:latin typeface="Arial"/>
              </a:rPr>
              <a:t>Everyday Slurm and Midway3 work, in plain language.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4114800"/>
            <a:ext cx="7315200" cy="54864"/>
          </a:xfrm>
          <a:prstGeom prst="rect">
            <a:avLst/>
          </a:prstGeom>
          <a:solidFill>
            <a:srgbClr val="2A35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14400" y="4114800"/>
            <a:ext cx="6400800" cy="54864"/>
          </a:xfrm>
          <a:prstGeom prst="rect">
            <a:avLst/>
          </a:prstGeom>
          <a:solidFill>
            <a:srgbClr val="74A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479145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66072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046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 i="0">
                <a:solidFill>
                  <a:srgbClr val="D6DCE6"/>
                </a:solidFill>
                <a:latin typeface="Arial"/>
              </a:rPr>
              <a:t>The cluster chores it handles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32644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292608" indent="-292608">
              <a:lnSpc>
                <a:spcPct val="122000"/>
              </a:lnSpc>
              <a:spcAft>
                <a:spcPts val="1900"/>
              </a:spcAft>
            </a:pPr>
            <a:r>
              <a:rPr sz="1700" b="1" i="0">
                <a:solidFill>
                  <a:srgbClr val="37C6D4"/>
                </a:solidFill>
                <a:latin typeface="Arial"/>
              </a:rPr>
              <a:t>•  </a:t>
            </a:r>
            <a:r>
              <a:rPr sz="1700" b="1" i="0">
                <a:solidFill>
                  <a:srgbClr val="74A8FF"/>
                </a:solidFill>
                <a:latin typeface="Arial"/>
              </a:rPr>
              <a:t>Batch scripts.</a:t>
            </a:r>
            <a:r>
              <a:rPr sz="1700" b="0" i="0">
                <a:solidFill>
                  <a:srgbClr val="D6DCE6"/>
                </a:solidFill>
                <a:latin typeface="Arial"/>
              </a:rPr>
              <a:t>  </a:t>
            </a:r>
            <a:r>
              <a:rPr sz="1700" b="0" i="0">
                <a:solidFill>
                  <a:srgbClr val="D6DCE6"/>
                </a:solidFill>
                <a:latin typeface="Arial"/>
              </a:rPr>
              <a:t>Describe the job — cores, memory, time, a GPU — and it writes and explains the </a:t>
            </a:r>
            <a:r>
              <a:rPr sz="1700" b="0" i="0">
                <a:solidFill>
                  <a:srgbClr val="37C6D4"/>
                </a:solidFill>
                <a:latin typeface="Arial"/>
              </a:rPr>
              <a:t>sbatch</a:t>
            </a:r>
            <a:r>
              <a:rPr sz="1700" b="0" i="0">
                <a:solidFill>
                  <a:srgbClr val="D6DCE6"/>
                </a:solidFill>
                <a:latin typeface="Arial"/>
              </a:rPr>
              <a:t> script.</a:t>
            </a:r>
          </a:p>
          <a:p>
            <a:pPr marL="292608" indent="-292608">
              <a:lnSpc>
                <a:spcPct val="122000"/>
              </a:lnSpc>
              <a:spcAft>
                <a:spcPts val="1900"/>
              </a:spcAft>
            </a:pPr>
            <a:r>
              <a:rPr sz="1700" b="1" i="0">
                <a:solidFill>
                  <a:srgbClr val="37C6D4"/>
                </a:solidFill>
                <a:latin typeface="Arial"/>
              </a:rPr>
              <a:t>•  </a:t>
            </a:r>
            <a:r>
              <a:rPr sz="1700" b="1" i="0">
                <a:solidFill>
                  <a:srgbClr val="74A8FF"/>
                </a:solidFill>
                <a:latin typeface="Arial"/>
              </a:rPr>
              <a:t>Job triage.</a:t>
            </a:r>
            <a:r>
              <a:rPr sz="1700" b="0" i="0">
                <a:solidFill>
                  <a:srgbClr val="D6DCE6"/>
                </a:solidFill>
                <a:latin typeface="Arial"/>
              </a:rPr>
              <a:t>  </a:t>
            </a:r>
            <a:r>
              <a:rPr sz="1700" b="0" i="0">
                <a:solidFill>
                  <a:srgbClr val="D6DCE6"/>
                </a:solidFill>
                <a:latin typeface="Arial"/>
              </a:rPr>
              <a:t>When a job is stuck or fails, it checks </a:t>
            </a:r>
            <a:r>
              <a:rPr sz="1700" b="0" i="0">
                <a:solidFill>
                  <a:srgbClr val="37C6D4"/>
                </a:solidFill>
                <a:latin typeface="Arial"/>
              </a:rPr>
              <a:t>squeue</a:t>
            </a:r>
            <a:r>
              <a:rPr sz="1700" b="0" i="0">
                <a:solidFill>
                  <a:srgbClr val="D6DCE6"/>
                </a:solidFill>
                <a:latin typeface="Arial"/>
              </a:rPr>
              <a:t> and your allocation and explains why, in plain terms.</a:t>
            </a:r>
          </a:p>
          <a:p>
            <a:pPr marL="292608" indent="-292608">
              <a:lnSpc>
                <a:spcPct val="122000"/>
              </a:lnSpc>
              <a:spcAft>
                <a:spcPts val="0"/>
              </a:spcAft>
            </a:pPr>
            <a:r>
              <a:rPr sz="1700" b="1" i="0">
                <a:solidFill>
                  <a:srgbClr val="37C6D4"/>
                </a:solidFill>
                <a:latin typeface="Arial"/>
              </a:rPr>
              <a:t>•  </a:t>
            </a:r>
            <a:r>
              <a:rPr sz="1700" b="1" i="0">
                <a:solidFill>
                  <a:srgbClr val="74A8FF"/>
                </a:solidFill>
                <a:latin typeface="Arial"/>
              </a:rPr>
              <a:t>Getting oriented.</a:t>
            </a:r>
            <a:r>
              <a:rPr sz="1700" b="0" i="0">
                <a:solidFill>
                  <a:srgbClr val="D6DCE6"/>
                </a:solidFill>
                <a:latin typeface="Arial"/>
              </a:rPr>
              <a:t>  </a:t>
            </a:r>
            <a:r>
              <a:rPr sz="1700" b="0" i="0">
                <a:solidFill>
                  <a:srgbClr val="D6DCE6"/>
                </a:solidFill>
                <a:latin typeface="Arial"/>
              </a:rPr>
              <a:t>Disk quota, allocations, partitions, and the right </a:t>
            </a:r>
            <a:r>
              <a:rPr sz="1700" b="0" i="0">
                <a:solidFill>
                  <a:srgbClr val="37C6D4"/>
                </a:solidFill>
                <a:latin typeface="Arial"/>
              </a:rPr>
              <a:t>module load</a:t>
            </a:r>
            <a:r>
              <a:rPr sz="1700" b="0" i="0">
                <a:solidFill>
                  <a:srgbClr val="D6DCE6"/>
                </a:solidFill>
                <a:latin typeface="Arial"/>
              </a:rPr>
              <a:t> line — it runs the RCC commands and reads the answer back.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9145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66072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046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 i="0">
                <a:solidFill>
                  <a:srgbClr val="D6DCE6"/>
                </a:solidFill>
                <a:latin typeface="Arial"/>
              </a:rPr>
              <a:t>On the cluster, you might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32644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292608" indent="-292608">
              <a:lnSpc>
                <a:spcPct val="122000"/>
              </a:lnSpc>
              <a:spcAft>
                <a:spcPts val="2200"/>
              </a:spcAft>
            </a:pPr>
            <a:r>
              <a:rPr sz="1700" b="1" i="0">
                <a:solidFill>
                  <a:srgbClr val="37C6D4"/>
                </a:solidFill>
                <a:latin typeface="Arial"/>
              </a:rPr>
              <a:t>•  </a:t>
            </a:r>
            <a:r>
              <a:rPr sz="1700" b="1" i="0">
                <a:solidFill>
                  <a:srgbClr val="74A8FF"/>
                </a:solidFill>
                <a:latin typeface="Arial"/>
              </a:rPr>
              <a:t>“Write an sbatch script for </a:t>
            </a:r>
            <a:r>
              <a:rPr sz="1700" b="1" i="0">
                <a:solidFill>
                  <a:srgbClr val="37C6D4"/>
                </a:solidFill>
                <a:latin typeface="Arial"/>
              </a:rPr>
              <a:t>@train.py</a:t>
            </a:r>
            <a:r>
              <a:rPr sz="1700" b="1" i="0">
                <a:solidFill>
                  <a:srgbClr val="74A8FF"/>
                </a:solidFill>
                <a:latin typeface="Arial"/>
              </a:rPr>
              <a:t>: 1 GPU, 2 hours, 16 GB.”</a:t>
            </a:r>
            <a:r>
              <a:rPr sz="1700" b="0" i="0">
                <a:solidFill>
                  <a:srgbClr val="D6DCE6"/>
                </a:solidFill>
                <a:latin typeface="Arial"/>
              </a:rPr>
              <a:t>  </a:t>
            </a:r>
            <a:r>
              <a:rPr sz="1700" b="0" i="0">
                <a:solidFill>
                  <a:srgbClr val="D6DCE6"/>
                </a:solidFill>
                <a:latin typeface="Arial"/>
              </a:rPr>
              <a:t>It drafts the script; you review it before submitting.</a:t>
            </a:r>
          </a:p>
          <a:p>
            <a:pPr marL="292608" indent="-292608">
              <a:lnSpc>
                <a:spcPct val="122000"/>
              </a:lnSpc>
              <a:spcAft>
                <a:spcPts val="2200"/>
              </a:spcAft>
            </a:pPr>
            <a:r>
              <a:rPr sz="1700" b="1" i="0">
                <a:solidFill>
                  <a:srgbClr val="37C6D4"/>
                </a:solidFill>
                <a:latin typeface="Arial"/>
              </a:rPr>
              <a:t>•  </a:t>
            </a:r>
            <a:r>
              <a:rPr sz="1700" b="1" i="0">
                <a:solidFill>
                  <a:srgbClr val="74A8FF"/>
                </a:solidFill>
                <a:latin typeface="Arial"/>
              </a:rPr>
              <a:t>“Why is my job stuck in PENDING?”</a:t>
            </a:r>
            <a:r>
              <a:rPr sz="1700" b="0" i="0">
                <a:solidFill>
                  <a:srgbClr val="D6DCE6"/>
                </a:solidFill>
                <a:latin typeface="Arial"/>
              </a:rPr>
              <a:t>  </a:t>
            </a:r>
            <a:r>
              <a:rPr sz="1700" b="0" i="0">
                <a:solidFill>
                  <a:srgbClr val="D6DCE6"/>
                </a:solidFill>
                <a:latin typeface="Arial"/>
              </a:rPr>
              <a:t>It reads the queue and your allocation and explains the hold-up.</a:t>
            </a:r>
          </a:p>
          <a:p>
            <a:pPr marL="292608" indent="-292608">
              <a:lnSpc>
                <a:spcPct val="122000"/>
              </a:lnSpc>
              <a:spcAft>
                <a:spcPts val="0"/>
              </a:spcAft>
            </a:pPr>
            <a:r>
              <a:rPr sz="1700" b="1" i="0">
                <a:solidFill>
                  <a:srgbClr val="37C6D4"/>
                </a:solidFill>
                <a:latin typeface="Arial"/>
              </a:rPr>
              <a:t>•  </a:t>
            </a:r>
            <a:r>
              <a:rPr sz="1700" b="1" i="0">
                <a:solidFill>
                  <a:srgbClr val="74A8FF"/>
                </a:solidFill>
                <a:latin typeface="Arial"/>
              </a:rPr>
              <a:t>“How much of my allocation is left this month?”</a:t>
            </a:r>
            <a:r>
              <a:rPr sz="1700" b="0" i="0">
                <a:solidFill>
                  <a:srgbClr val="D6DCE6"/>
                </a:solidFill>
                <a:latin typeface="Arial"/>
              </a:rPr>
              <a:t>  </a:t>
            </a:r>
            <a:r>
              <a:rPr sz="1700" b="0" i="0">
                <a:solidFill>
                  <a:srgbClr val="D6DCE6"/>
                </a:solidFill>
                <a:latin typeface="Arial"/>
              </a:rPr>
              <a:t>It runs the account command and reports the balance.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9145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66072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11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37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 i="0" spc="160">
                <a:solidFill>
                  <a:srgbClr val="37C6D4"/>
                </a:solidFill>
                <a:latin typeface="Arial"/>
              </a:rPr>
              <a:t>PART 8 OF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D6DCE6"/>
                </a:solidFill>
                <a:latin typeface="Arial"/>
              </a:rPr>
              <a:t>Hands-on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127248"/>
            <a:ext cx="7680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 i="0">
                <a:solidFill>
                  <a:srgbClr val="9BA6B4"/>
                </a:solidFill>
                <a:latin typeface="Arial"/>
              </a:rPr>
              <a:t>Applying Claude Code on the Midway3 cluster.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4114800"/>
            <a:ext cx="7315200" cy="54864"/>
          </a:xfrm>
          <a:prstGeom prst="rect">
            <a:avLst/>
          </a:prstGeom>
          <a:solidFill>
            <a:srgbClr val="2A35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14400" y="4114800"/>
            <a:ext cx="7315200" cy="54864"/>
          </a:xfrm>
          <a:prstGeom prst="rect">
            <a:avLst/>
          </a:prstGeom>
          <a:solidFill>
            <a:srgbClr val="37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479145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66072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046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 i="0">
                <a:solidFill>
                  <a:srgbClr val="D6DCE6"/>
                </a:solidFill>
                <a:latin typeface="Arial"/>
              </a:rPr>
              <a:t>The exercise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33856"/>
            <a:ext cx="8046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 i="0">
                <a:solidFill>
                  <a:srgbClr val="9BA6B4"/>
                </a:solidFill>
                <a:latin typeface="Arial"/>
              </a:rPr>
              <a:t>A set of short, plain-language tasks with a reference solution. No setup or downloads needed.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55648"/>
            <a:ext cx="804672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292608" indent="-292608">
              <a:lnSpc>
                <a:spcPct val="122000"/>
              </a:lnSpc>
              <a:spcAft>
                <a:spcPts val="1900"/>
              </a:spcAft>
            </a:pPr>
            <a:r>
              <a:rPr sz="1700" b="1" i="0">
                <a:solidFill>
                  <a:srgbClr val="37C6D4"/>
                </a:solidFill>
                <a:latin typeface="Arial"/>
              </a:rPr>
              <a:t>•  </a:t>
            </a:r>
            <a:r>
              <a:rPr sz="1700" b="1" i="0">
                <a:solidFill>
                  <a:srgbClr val="74A8FF"/>
                </a:solidFill>
                <a:latin typeface="Arial"/>
              </a:rPr>
              <a:t>Each task is stated in plain language.</a:t>
            </a:r>
            <a:r>
              <a:rPr sz="1700" b="0" i="0">
                <a:solidFill>
                  <a:srgbClr val="D6DCE6"/>
                </a:solidFill>
                <a:latin typeface="Arial"/>
              </a:rPr>
              <a:t>  </a:t>
            </a:r>
            <a:r>
              <a:rPr sz="1700" b="0" i="0">
                <a:solidFill>
                  <a:srgbClr val="D6DCE6"/>
                </a:solidFill>
                <a:latin typeface="Arial"/>
              </a:rPr>
              <a:t>The user pastes a task; Claude Code runs the commands, produces the analysis, and reports the result.</a:t>
            </a:r>
          </a:p>
          <a:p>
            <a:pPr marL="292608" indent="-292608">
              <a:lnSpc>
                <a:spcPct val="122000"/>
              </a:lnSpc>
              <a:spcAft>
                <a:spcPts val="1900"/>
              </a:spcAft>
            </a:pPr>
            <a:r>
              <a:rPr sz="1700" b="1" i="0">
                <a:solidFill>
                  <a:srgbClr val="37C6D4"/>
                </a:solidFill>
                <a:latin typeface="Arial"/>
              </a:rPr>
              <a:t>•  </a:t>
            </a:r>
            <a:r>
              <a:rPr sz="1700" b="1" i="0">
                <a:solidFill>
                  <a:srgbClr val="74A8FF"/>
                </a:solidFill>
                <a:latin typeface="Arial"/>
              </a:rPr>
              <a:t>The exercise has two parts.</a:t>
            </a:r>
            <a:r>
              <a:rPr sz="1700" b="0" i="0">
                <a:solidFill>
                  <a:srgbClr val="D6DCE6"/>
                </a:solidFill>
                <a:latin typeface="Arial"/>
              </a:rPr>
              <a:t>  </a:t>
            </a:r>
            <a:r>
              <a:rPr sz="1700" b="0" i="0">
                <a:solidFill>
                  <a:srgbClr val="D6DCE6"/>
                </a:solidFill>
                <a:latin typeface="Arial"/>
              </a:rPr>
              <a:t>First, examining the Midway3 environment; then, analyzing a dataset read directly from a URL.</a:t>
            </a:r>
          </a:p>
          <a:p>
            <a:pPr marL="292608" indent="-292608">
              <a:lnSpc>
                <a:spcPct val="122000"/>
              </a:lnSpc>
              <a:spcAft>
                <a:spcPts val="0"/>
              </a:spcAft>
            </a:pPr>
            <a:r>
              <a:rPr sz="1700" b="1" i="0">
                <a:solidFill>
                  <a:srgbClr val="37C6D4"/>
                </a:solidFill>
                <a:latin typeface="Arial"/>
              </a:rPr>
              <a:t>•  </a:t>
            </a:r>
            <a:r>
              <a:rPr sz="1700" b="1" i="0">
                <a:solidFill>
                  <a:srgbClr val="74A8FF"/>
                </a:solidFill>
                <a:latin typeface="Arial"/>
              </a:rPr>
              <a:t>The user reviews each result.</a:t>
            </a:r>
            <a:r>
              <a:rPr sz="1700" b="0" i="0">
                <a:solidFill>
                  <a:srgbClr val="D6DCE6"/>
                </a:solidFill>
                <a:latin typeface="Arial"/>
              </a:rPr>
              <a:t>  </a:t>
            </a:r>
            <a:r>
              <a:rPr sz="1700" b="0" i="0">
                <a:solidFill>
                  <a:srgbClr val="D6DCE6"/>
                </a:solidFill>
                <a:latin typeface="Arial"/>
              </a:rPr>
              <a:t>Each step is approved, and its output is checked against the reference 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9145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66072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046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 i="0">
                <a:solidFill>
                  <a:srgbClr val="D6DCE6"/>
                </a:solidFill>
                <a:latin typeface="Arial"/>
              </a:rPr>
              <a:t>The two parts of the exercise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33856"/>
            <a:ext cx="8046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 i="0">
                <a:solidFill>
                  <a:srgbClr val="9BA6B4"/>
                </a:solidFill>
                <a:latin typeface="Arial"/>
              </a:rPr>
              <a:t>Claude Code is run in the exercise directory; it executes the commands and reports back for review.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01368"/>
            <a:ext cx="3771900" cy="512064"/>
          </a:xfrm>
          <a:prstGeom prst="rect">
            <a:avLst/>
          </a:prstGeom>
          <a:solidFill>
            <a:srgbClr val="192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4944" y="1801368"/>
            <a:ext cx="351586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 i="0">
                <a:solidFill>
                  <a:srgbClr val="74A8FF"/>
                </a:solidFill>
                <a:latin typeface="Arial"/>
              </a:rPr>
              <a:t>Part 1 · The Midway3 environment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2459736"/>
            <a:ext cx="3515868" cy="2221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37744" indent="-237744">
              <a:lnSpc>
                <a:spcPct val="112000"/>
              </a:lnSpc>
              <a:spcAft>
                <a:spcPts val="1000"/>
              </a:spcAft>
            </a:pPr>
            <a:r>
              <a:rPr sz="1400" b="1" i="0">
                <a:solidFill>
                  <a:srgbClr val="37C6D4"/>
                </a:solidFill>
                <a:latin typeface="Arial"/>
              </a:rPr>
              <a:t>•  </a:t>
            </a:r>
            <a:r>
              <a:rPr sz="1400" b="0" i="0">
                <a:solidFill>
                  <a:srgbClr val="D6DCE6"/>
                </a:solidFill>
                <a:latin typeface="Arial"/>
              </a:rPr>
              <a:t>Account, allocation, and disk quota</a:t>
            </a:r>
          </a:p>
          <a:p>
            <a:pPr marL="237744" indent="-237744">
              <a:lnSpc>
                <a:spcPct val="112000"/>
              </a:lnSpc>
              <a:spcAft>
                <a:spcPts val="1000"/>
              </a:spcAft>
            </a:pPr>
            <a:r>
              <a:rPr sz="1400" b="1" i="0">
                <a:solidFill>
                  <a:srgbClr val="37C6D4"/>
                </a:solidFill>
                <a:latin typeface="Arial"/>
              </a:rPr>
              <a:t>•  </a:t>
            </a:r>
            <a:r>
              <a:rPr sz="1400" b="0" i="0">
                <a:solidFill>
                  <a:srgbClr val="D6DCE6"/>
                </a:solidFill>
                <a:latin typeface="Arial"/>
              </a:rPr>
              <a:t>Cluster and partition status</a:t>
            </a:r>
          </a:p>
          <a:p>
            <a:pPr marL="237744" indent="-237744">
              <a:lnSpc>
                <a:spcPct val="112000"/>
              </a:lnSpc>
              <a:spcAft>
                <a:spcPts val="1000"/>
              </a:spcAft>
            </a:pPr>
            <a:r>
              <a:rPr sz="1400" b="1" i="0">
                <a:solidFill>
                  <a:srgbClr val="37C6D4"/>
                </a:solidFill>
                <a:latin typeface="Arial"/>
              </a:rPr>
              <a:t>•  </a:t>
            </a:r>
            <a:r>
              <a:rPr sz="1400" b="0" i="0">
                <a:solidFill>
                  <a:srgbClr val="D6DCE6"/>
                </a:solidFill>
                <a:latin typeface="Arial"/>
              </a:rPr>
              <a:t>Interactive sessions and batch scripts</a:t>
            </a:r>
          </a:p>
          <a:p>
            <a:pPr marL="237744" indent="-237744">
              <a:lnSpc>
                <a:spcPct val="112000"/>
              </a:lnSpc>
              <a:spcAft>
                <a:spcPts val="1000"/>
              </a:spcAft>
            </a:pPr>
            <a:r>
              <a:rPr sz="1400" b="1" i="0">
                <a:solidFill>
                  <a:srgbClr val="37C6D4"/>
                </a:solidFill>
                <a:latin typeface="Arial"/>
              </a:rPr>
              <a:t>•  </a:t>
            </a:r>
            <a:r>
              <a:rPr sz="1400" b="0" i="0">
                <a:solidFill>
                  <a:srgbClr val="D6DCE6"/>
                </a:solidFill>
                <a:latin typeface="Arial"/>
              </a:rPr>
              <a:t>Job status and available software</a:t>
            </a:r>
          </a:p>
          <a:p>
            <a:pPr marL="237744" indent="-237744">
              <a:lnSpc>
                <a:spcPct val="112000"/>
              </a:lnSpc>
              <a:spcAft>
                <a:spcPts val="1000"/>
              </a:spcAft>
            </a:pPr>
            <a:r>
              <a:rPr sz="1400" b="1" i="0">
                <a:solidFill>
                  <a:srgbClr val="37C6D4"/>
                </a:solidFill>
                <a:latin typeface="Arial"/>
              </a:rPr>
              <a:t>•  </a:t>
            </a:r>
            <a:r>
              <a:rPr sz="1400" b="0" i="1">
                <a:solidFill>
                  <a:srgbClr val="D6DCE6"/>
                </a:solidFill>
                <a:latin typeface="Arial"/>
              </a:rPr>
              <a:t>Read-only inspection of the cluster.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4823459" y="1801368"/>
            <a:ext cx="3771900" cy="512064"/>
          </a:xfrm>
          <a:prstGeom prst="rect">
            <a:avLst/>
          </a:prstGeom>
          <a:solidFill>
            <a:srgbClr val="192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69764" y="1801368"/>
            <a:ext cx="351586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 i="0">
                <a:solidFill>
                  <a:srgbClr val="37C6D4"/>
                </a:solidFill>
                <a:latin typeface="Arial"/>
              </a:rPr>
              <a:t>Part 2 · Data analysis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69764" y="2459736"/>
            <a:ext cx="3515868" cy="2221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37744" indent="-237744">
              <a:lnSpc>
                <a:spcPct val="112000"/>
              </a:lnSpc>
              <a:spcAft>
                <a:spcPts val="1000"/>
              </a:spcAft>
            </a:pPr>
            <a:r>
              <a:rPr sz="1400" b="1" i="0">
                <a:solidFill>
                  <a:srgbClr val="37C6D4"/>
                </a:solidFill>
                <a:latin typeface="Arial"/>
              </a:rPr>
              <a:t>•  </a:t>
            </a:r>
            <a:r>
              <a:rPr sz="1400" b="0" i="0">
                <a:solidFill>
                  <a:srgbClr val="D6DCE6"/>
                </a:solidFill>
                <a:latin typeface="Arial"/>
              </a:rPr>
              <a:t>Loading and summarizing a dataset</a:t>
            </a:r>
          </a:p>
          <a:p>
            <a:pPr marL="237744" indent="-237744">
              <a:lnSpc>
                <a:spcPct val="112000"/>
              </a:lnSpc>
              <a:spcAft>
                <a:spcPts val="1000"/>
              </a:spcAft>
            </a:pPr>
            <a:r>
              <a:rPr sz="1400" b="1" i="0">
                <a:solidFill>
                  <a:srgbClr val="37C6D4"/>
                </a:solidFill>
                <a:latin typeface="Arial"/>
              </a:rPr>
              <a:t>•  </a:t>
            </a:r>
            <a:r>
              <a:rPr sz="1400" b="0" i="0">
                <a:solidFill>
                  <a:srgbClr val="D6DCE6"/>
                </a:solidFill>
                <a:latin typeface="Arial"/>
              </a:rPr>
              <a:t>Comparisons across groups</a:t>
            </a:r>
          </a:p>
          <a:p>
            <a:pPr marL="237744" indent="-237744">
              <a:lnSpc>
                <a:spcPct val="112000"/>
              </a:lnSpc>
              <a:spcAft>
                <a:spcPts val="1000"/>
              </a:spcAft>
            </a:pPr>
            <a:r>
              <a:rPr sz="1400" b="1" i="0">
                <a:solidFill>
                  <a:srgbClr val="37C6D4"/>
                </a:solidFill>
                <a:latin typeface="Arial"/>
              </a:rPr>
              <a:t>•  </a:t>
            </a:r>
            <a:r>
              <a:rPr sz="1400" b="0" i="0">
                <a:solidFill>
                  <a:srgbClr val="D6DCE6"/>
                </a:solidFill>
                <a:latin typeface="Arial"/>
              </a:rPr>
              <a:t>A correlation and a data-quality check</a:t>
            </a:r>
          </a:p>
          <a:p>
            <a:pPr marL="237744" indent="-237744">
              <a:lnSpc>
                <a:spcPct val="112000"/>
              </a:lnSpc>
              <a:spcAft>
                <a:spcPts val="1000"/>
              </a:spcAft>
            </a:pPr>
            <a:r>
              <a:rPr sz="1400" b="1" i="0">
                <a:solidFill>
                  <a:srgbClr val="37C6D4"/>
                </a:solidFill>
                <a:latin typeface="Arial"/>
              </a:rPr>
              <a:t>•  </a:t>
            </a:r>
            <a:r>
              <a:rPr sz="1400" b="0" i="0">
                <a:solidFill>
                  <a:srgbClr val="D6DCE6"/>
                </a:solidFill>
                <a:latin typeface="Arial"/>
              </a:rPr>
              <a:t>A generated figure and a written summary</a:t>
            </a:r>
          </a:p>
          <a:p>
            <a:pPr marL="237744" indent="-237744">
              <a:lnSpc>
                <a:spcPct val="112000"/>
              </a:lnSpc>
              <a:spcAft>
                <a:spcPts val="1000"/>
              </a:spcAft>
            </a:pPr>
            <a:r>
              <a:rPr sz="1400" b="1" i="0">
                <a:solidFill>
                  <a:srgbClr val="37C6D4"/>
                </a:solidFill>
                <a:latin typeface="Arial"/>
              </a:rPr>
              <a:t>•  </a:t>
            </a:r>
            <a:r>
              <a:rPr sz="1400" b="0" i="1">
                <a:solidFill>
                  <a:srgbClr val="D6DCE6"/>
                </a:solidFill>
                <a:latin typeface="Arial"/>
              </a:rPr>
              <a:t>Results checked against a reference solution.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479145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66072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046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 i="0">
                <a:solidFill>
                  <a:srgbClr val="D6DCE6"/>
                </a:solidFill>
                <a:latin typeface="Arial"/>
              </a:rPr>
              <a:t>The exercise on GitHub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33856"/>
            <a:ext cx="8046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 i="0">
                <a:solidFill>
                  <a:srgbClr val="9BA6B4"/>
                </a:solidFill>
                <a:latin typeface="Arial"/>
              </a:rPr>
              <a:t>Everything is in the README.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55648"/>
            <a:ext cx="804672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292608" indent="-292608">
              <a:lnSpc>
                <a:spcPct val="122000"/>
              </a:lnSpc>
              <a:spcAft>
                <a:spcPts val="0"/>
              </a:spcAft>
            </a:pPr>
            <a:r>
              <a:rPr sz="2100" b="1" i="0">
                <a:solidFill>
                  <a:srgbClr val="37C6D4"/>
                </a:solidFill>
                <a:latin typeface="Arial"/>
              </a:rPr>
              <a:t>•  </a:t>
            </a:r>
            <a:r>
              <a:rPr sz="2100" b="0" i="0">
                <a:solidFill>
                  <a:srgbClr val="37C6D4"/>
                </a:solidFill>
                <a:latin typeface="Arial"/>
              </a:rPr>
              <a:t>github.com/PursuitOfDataScience/uchicago-workshops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9145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66072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046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 i="0">
                <a:solidFill>
                  <a:srgbClr val="D6DCE6"/>
                </a:solidFill>
                <a:latin typeface="Arial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32644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292608" indent="-292608">
              <a:lnSpc>
                <a:spcPct val="122000"/>
              </a:lnSpc>
              <a:spcAft>
                <a:spcPts val="2400"/>
              </a:spcAft>
            </a:pPr>
            <a:r>
              <a:rPr sz="1800" b="1" i="0">
                <a:solidFill>
                  <a:srgbClr val="37C6D4"/>
                </a:solidFill>
                <a:latin typeface="Arial"/>
              </a:rPr>
              <a:t>•  </a:t>
            </a:r>
            <a:r>
              <a:rPr sz="1800" b="1" i="0">
                <a:solidFill>
                  <a:srgbClr val="74A8FF"/>
                </a:solidFill>
                <a:latin typeface="Arial"/>
              </a:rPr>
              <a:t>Claude Code is an agent that completes tasks.</a:t>
            </a:r>
            <a:r>
              <a:rPr sz="1800" b="0" i="0">
                <a:solidFill>
                  <a:srgbClr val="D6DCE6"/>
                </a:solidFill>
                <a:latin typeface="Arial"/>
              </a:rPr>
              <a:t>  </a:t>
            </a:r>
            <a:r>
              <a:rPr sz="1800" b="0" i="0">
                <a:solidFill>
                  <a:srgbClr val="D6DCE6"/>
                </a:solidFill>
                <a:latin typeface="Arial"/>
              </a:rPr>
              <a:t>It reads files, runs commands, and edits them in a verified loop, directed in plain language.</a:t>
            </a:r>
          </a:p>
          <a:p>
            <a:pPr marL="292608" indent="-292608">
              <a:lnSpc>
                <a:spcPct val="122000"/>
              </a:lnSpc>
              <a:spcAft>
                <a:spcPts val="2400"/>
              </a:spcAft>
            </a:pPr>
            <a:r>
              <a:rPr sz="1800" b="1" i="0">
                <a:solidFill>
                  <a:srgbClr val="37C6D4"/>
                </a:solidFill>
                <a:latin typeface="Arial"/>
              </a:rPr>
              <a:t>•  </a:t>
            </a:r>
            <a:r>
              <a:rPr sz="1800" b="1" i="0">
                <a:solidFill>
                  <a:srgbClr val="74A8FF"/>
                </a:solidFill>
                <a:latin typeface="Arial"/>
              </a:rPr>
              <a:t>The user stays in control.</a:t>
            </a:r>
            <a:r>
              <a:rPr sz="1800" b="0" i="0">
                <a:solidFill>
                  <a:srgbClr val="D6DCE6"/>
                </a:solidFill>
                <a:latin typeface="Arial"/>
              </a:rPr>
              <a:t>  </a:t>
            </a:r>
            <a:r>
              <a:rPr sz="1800" b="0" i="0">
                <a:solidFill>
                  <a:srgbClr val="D6DCE6"/>
                </a:solidFill>
                <a:latin typeface="Arial"/>
              </a:rPr>
              <a:t>The model, effort, context, permissions, and project memory (CLAUDE.md) determine how it behaves.</a:t>
            </a:r>
          </a:p>
          <a:p>
            <a:pPr marL="292608" indent="-292608">
              <a:lnSpc>
                <a:spcPct val="122000"/>
              </a:lnSpc>
              <a:spcAft>
                <a:spcPts val="2400"/>
              </a:spcAft>
            </a:pPr>
            <a:r>
              <a:rPr sz="1800" b="1" i="0">
                <a:solidFill>
                  <a:srgbClr val="37C6D4"/>
                </a:solidFill>
                <a:latin typeface="Arial"/>
              </a:rPr>
              <a:t>•  </a:t>
            </a:r>
            <a:r>
              <a:rPr sz="1800" b="1" i="0">
                <a:solidFill>
                  <a:srgbClr val="74A8FF"/>
                </a:solidFill>
                <a:latin typeface="Arial"/>
              </a:rPr>
              <a:t>The same tool runs anywhere.</a:t>
            </a:r>
            <a:r>
              <a:rPr sz="1800" b="0" i="0">
                <a:solidFill>
                  <a:srgbClr val="D6DCE6"/>
                </a:solidFill>
                <a:latin typeface="Arial"/>
              </a:rPr>
              <a:t>  </a:t>
            </a:r>
            <a:r>
              <a:rPr sz="1800" b="0" i="0">
                <a:solidFill>
                  <a:srgbClr val="D6DCE6"/>
                </a:solidFill>
                <a:latin typeface="Arial"/>
              </a:rPr>
              <a:t>Today's exercise uses Midway3, but Claude Code works the same on a laptop, another cluster, or inside an automated pipeline.</a:t>
            </a:r>
          </a:p>
          <a:p>
            <a:pPr marL="292608" indent="-292608">
              <a:lnSpc>
                <a:spcPct val="122000"/>
              </a:lnSpc>
              <a:spcAft>
                <a:spcPts val="0"/>
              </a:spcAft>
            </a:pPr>
            <a:r>
              <a:rPr sz="1800" b="1" i="0">
                <a:solidFill>
                  <a:srgbClr val="37C6D4"/>
                </a:solidFill>
                <a:latin typeface="Arial"/>
              </a:rPr>
              <a:t>•  </a:t>
            </a:r>
            <a:r>
              <a:rPr sz="1800" b="1" i="0">
                <a:solidFill>
                  <a:srgbClr val="74A8FF"/>
                </a:solidFill>
                <a:latin typeface="Arial"/>
              </a:rPr>
              <a:t>Always verify the output.</a:t>
            </a:r>
            <a:r>
              <a:rPr sz="1800" b="0" i="0">
                <a:solidFill>
                  <a:srgbClr val="D6DCE6"/>
                </a:solidFill>
                <a:latin typeface="Arial"/>
              </a:rPr>
              <a:t>  </a:t>
            </a:r>
            <a:r>
              <a:rPr sz="1800" b="0" i="0">
                <a:solidFill>
                  <a:srgbClr val="D6DCE6"/>
                </a:solidFill>
                <a:latin typeface="Arial"/>
              </a:rPr>
              <a:t>The tool is a capable assistant, not an authority; the researcher remains responsible for the result.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9145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66072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046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 i="0">
                <a:solidFill>
                  <a:srgbClr val="D6DCE6"/>
                </a:solidFill>
                <a:latin typeface="Arial"/>
              </a:rPr>
              <a:t>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3840480" cy="32644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200" b="1" i="0">
                <a:solidFill>
                  <a:srgbClr val="37C6D4"/>
                </a:solidFill>
                <a:latin typeface="Arial"/>
              </a:rPr>
              <a:t>1. </a:t>
            </a:r>
            <a:r>
              <a:rPr sz="1200" b="0" i="0">
                <a:solidFill>
                  <a:srgbClr val="9BA6B4"/>
                </a:solidFill>
                <a:latin typeface="Arial"/>
              </a:rPr>
              <a:t>Claude Code: Overview — Anthropic. code.claude.com/docs/en/overview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200" b="1" i="0">
                <a:solidFill>
                  <a:srgbClr val="37C6D4"/>
                </a:solidFill>
                <a:latin typeface="Arial"/>
              </a:rPr>
              <a:t>2. </a:t>
            </a:r>
            <a:r>
              <a:rPr sz="1200" b="0" i="0">
                <a:solidFill>
                  <a:srgbClr val="9BA6B4"/>
                </a:solidFill>
                <a:latin typeface="Arial"/>
              </a:rPr>
              <a:t>Model configuration — Anthropic. code.claude.com/docs/en/model-config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200" b="1" i="0">
                <a:solidFill>
                  <a:srgbClr val="37C6D4"/>
                </a:solidFill>
                <a:latin typeface="Arial"/>
              </a:rPr>
              <a:t>3. </a:t>
            </a:r>
            <a:r>
              <a:rPr sz="1200" b="0" i="0">
                <a:solidFill>
                  <a:srgbClr val="9BA6B4"/>
                </a:solidFill>
                <a:latin typeface="Arial"/>
              </a:rPr>
              <a:t>Memory (CLAUDE.md) — Anthropic. code.claude.com/docs/en/memory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200" b="1" i="0">
                <a:solidFill>
                  <a:srgbClr val="37C6D4"/>
                </a:solidFill>
                <a:latin typeface="Arial"/>
              </a:rPr>
              <a:t>4. </a:t>
            </a:r>
            <a:r>
              <a:rPr sz="1200" b="0" i="0">
                <a:solidFill>
                  <a:srgbClr val="9BA6B4"/>
                </a:solidFill>
                <a:latin typeface="Arial"/>
              </a:rPr>
              <a:t>Slash commands — Anthropic. code.claude.com/docs/en/commands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200" b="1" i="0">
                <a:solidFill>
                  <a:srgbClr val="37C6D4"/>
                </a:solidFill>
                <a:latin typeface="Arial"/>
              </a:rPr>
              <a:t>5. </a:t>
            </a:r>
            <a:r>
              <a:rPr sz="1200" b="0" i="0">
                <a:solidFill>
                  <a:srgbClr val="9BA6B4"/>
                </a:solidFill>
                <a:latin typeface="Arial"/>
              </a:rPr>
              <a:t>Permission modes — Anthropic. code.claude.com/docs/en/permission-modes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200" b="1" i="0">
                <a:solidFill>
                  <a:srgbClr val="37C6D4"/>
                </a:solidFill>
                <a:latin typeface="Arial"/>
              </a:rPr>
              <a:t>6. </a:t>
            </a:r>
            <a:r>
              <a:rPr sz="1200" b="0" i="0">
                <a:solidFill>
                  <a:srgbClr val="9BA6B4"/>
                </a:solidFill>
                <a:latin typeface="Arial"/>
              </a:rPr>
              <a:t>Custom subagents — Anthropic. code.claude.com/docs/en/sub-agents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417320"/>
            <a:ext cx="3840480" cy="32644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200" b="1" i="0">
                <a:solidFill>
                  <a:srgbClr val="37C6D4"/>
                </a:solidFill>
                <a:latin typeface="Arial"/>
              </a:rPr>
              <a:t>7. </a:t>
            </a:r>
            <a:r>
              <a:rPr sz="1200" b="0" i="0">
                <a:solidFill>
                  <a:srgbClr val="9BA6B4"/>
                </a:solidFill>
                <a:latin typeface="Arial"/>
              </a:rPr>
              <a:t>Extend Claude with Skills — Anthropic. code.claude.com/docs/en/skills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200" b="1" i="0">
                <a:solidFill>
                  <a:srgbClr val="37C6D4"/>
                </a:solidFill>
                <a:latin typeface="Arial"/>
              </a:rPr>
              <a:t>8. </a:t>
            </a:r>
            <a:r>
              <a:rPr sz="1200" b="0" i="0">
                <a:solidFill>
                  <a:srgbClr val="9BA6B4"/>
                </a:solidFill>
                <a:latin typeface="Arial"/>
              </a:rPr>
              <a:t>Connect tools via MCP — Anthropic. code.claude.com/docs/en/mcp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200" b="1" i="0">
                <a:solidFill>
                  <a:srgbClr val="37C6D4"/>
                </a:solidFill>
                <a:latin typeface="Arial"/>
              </a:rPr>
              <a:t>9. </a:t>
            </a:r>
            <a:r>
              <a:rPr sz="1200" b="0" i="0">
                <a:solidFill>
                  <a:srgbClr val="9BA6B4"/>
                </a:solidFill>
                <a:latin typeface="Arial"/>
              </a:rPr>
              <a:t>Models overview — Anthropic. platform.claude.com/docs/en/about-claude/models/overview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200" b="1" i="0">
                <a:solidFill>
                  <a:srgbClr val="37C6D4"/>
                </a:solidFill>
                <a:latin typeface="Arial"/>
              </a:rPr>
              <a:t>10. </a:t>
            </a:r>
            <a:r>
              <a:rPr sz="1200" b="0" i="0">
                <a:solidFill>
                  <a:srgbClr val="9BA6B4"/>
                </a:solidFill>
                <a:latin typeface="Arial"/>
              </a:rPr>
              <a:t>Building effective agents (2024) — Anthropic. anthropic.com/engineering/building-effective-agents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200" b="1" i="0">
                <a:solidFill>
                  <a:srgbClr val="37C6D4"/>
                </a:solidFill>
                <a:latin typeface="Arial"/>
              </a:rPr>
              <a:t>11. </a:t>
            </a:r>
            <a:r>
              <a:rPr sz="1200" b="0" i="0">
                <a:solidFill>
                  <a:srgbClr val="9BA6B4"/>
                </a:solidFill>
                <a:latin typeface="Arial"/>
              </a:rPr>
              <a:t>Running jobs with Slurm — UChicago RCC. docs.rcc.uchicago.edu/slurm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200" b="1" i="0">
                <a:solidFill>
                  <a:srgbClr val="37C6D4"/>
                </a:solidFill>
                <a:latin typeface="Arial"/>
              </a:rPr>
              <a:t>12. </a:t>
            </a:r>
            <a:r>
              <a:rPr sz="1200" b="0" i="0">
                <a:solidFill>
                  <a:srgbClr val="9BA6B4"/>
                </a:solidFill>
                <a:latin typeface="Arial"/>
              </a:rPr>
              <a:t>UChicago RCC user guide — docs.rcc.uchicago.edu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9145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66072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11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37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 i="0" spc="160">
                <a:solidFill>
                  <a:srgbClr val="37C6D4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D6DCE6"/>
                </a:solidFill>
                <a:latin typeface="Arial"/>
              </a:rPr>
              <a:t>Thank 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127248"/>
            <a:ext cx="7680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  <p:sp>
        <p:nvSpPr>
          <p:cNvPr id="8" name="Rectangle 7"/>
          <p:cNvSpPr/>
          <p:nvPr/>
        </p:nvSpPr>
        <p:spPr>
          <a:xfrm>
            <a:off x="914400" y="4114800"/>
            <a:ext cx="7315200" cy="54864"/>
          </a:xfrm>
          <a:prstGeom prst="rect">
            <a:avLst/>
          </a:prstGeom>
          <a:solidFill>
            <a:srgbClr val="2A35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14400" y="4114800"/>
            <a:ext cx="7315200" cy="54864"/>
          </a:xfrm>
          <a:prstGeom prst="rect">
            <a:avLst/>
          </a:prstGeom>
          <a:solidFill>
            <a:srgbClr val="37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479145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66072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