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lecture followed by a hands-on lab. By the end you can install Claude Code on Midway, use it for daily research work, keep it safe on a shared cluster, and scale one command into a batch job. CPU + internet only — no GPU required.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Autocomplete finishes a line; a chat assistant answers when you paste code in; an agent reads files, runs commands, edits, and checks the result — in a loop — while you supervise. Claude Code is the third kind.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definition: "an agentic coding tool that reads your codebase, edits files, runs commands, and integrates with your development tools." It is generally available (v2.x) with frequent releases. Every action is logged, permission-checked, and priced; a small-model call costs about a cent. Source: Claude Code overview docs.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describes an agent as an LLM "using tools based on environmental feedback in a loop": gather context, take an action (one tool call), verify the result, repeat until the goal is met. The 'act' step always clears a permission check first (Part 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mental model. The harness is the claude program on your machine — the thing this workshop configures. The model is a large language model (Claude) reached over the network, and it is swappable. Everything else in this talk configures the harness.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is everything the agent currently has in view. Unlike a search engine that builds an index first, there is nothing to embed and nothing to go stale — it reads the live files each session. This is why a clear repo structure pays off.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uses: point it at a folder of CSVs and standardize the column names; hand it a failing analysis script and ask why. It is auditable and can be isolated — but because the model samples, runs are not bit-for-bit reproducible. Verify the output.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Midway3: (1) get a node with internet egress — sinteractive/sbatch on the test or caslake partition, or a login node; many other compute nodes have no egress. (2) install with the one-line script (no sudo, no Node). (3) 'claude setup-token' does a one-time paste-URL login that works over SSH; or export ANTHROPIC_API_KEY. Run chmod 700 ~/.claude — cluster homes can be group-readable. Source: Claude Code setup docs.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Interactive is the conversational REPL. Headless (-p / --print) runs a single non-interactive turn and exits — the building block of automation. It pauses and asks before anything risky; we show exactly how in Part 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trace runs top to bottom: the user prompt, then Read/Grep/Edit/Bash tool calls with their results, then a plain-language summary with cost and turn count. The approve/deny prompts and Shift+Tab modes shown here are explained in Part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mid-2026 the family is Opus 4.8, Sonnet 5, and Haiku 4.5. Approximate list price per million tokens (input/output): Opus ~$5/$25, Sonnet ~$3/$15, Haiku ~$1/$5 — confirm on the pricing page, as prices change. Aliases (opus/sonnet/haiku) resolve to the current version; pin a full model id in shared configs. The lab runs on Haiku.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useful: '#' jots a quick note into project memory, '@' mentions a file, '/status' shows your account and model. Sessions are saved to disk: '--resume' continues one and '--fork-session' branches it. Esc-Esc rewind undoes Claude's edits locally — it is not a replacement for git.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roadmap for Parts 3 and 4. Each spoke is a way to shape the harness. One we will not give its own slide: subagents — a scoped helper (say, a reviewer that can only read) that keeps your main session focused. The hands-on lab exercises project memory (CLAUDE.md) and the approve-each-action permission prompt on a real data-analysis task; commands, skills, subagents, and hooks are covered 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a hierarchy: enterprise/managed policy, then your personal ~/.claude, then the project file, then a local override. For guarantees you cannot rely on advice — that is what permissions and hooks (Part 4) are for. Source: Claude Code memory docs.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slash command is a Markdown file in .claude/commands/&lt;name&gt;.md. Frontmatter can scope which tools it may use; $ARGUMENTS, inline !commands, and @files expand into the prompt. This is the prompt YOU fire — contrast with a skill, next. Source: Claude Code commands docs.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skill is a folder (SKILL.md plus optional scripts and reference files). Progressive disclosure: the one-line description is always in view (cheap); the body loads only when your request matches; extra files load only if needed. So a whole library of expertise costs almost no context until it is relevant. It is the model-invoked twin of a command.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Ask-first for everyday work, Plan to explore safely, Accept-edits for a tight loop but only in a clean git repo. The fourth mode is bypassPermissions (--dangerously-skip-permissions): never on a shared filesystem — a bad rm or chmod there hits your whole lab. Source: Claude Code permission-modes docs.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everyday interactive experience. The agent cannot approve itself — the harness asks you. Read-only commands (ls, cat, git status) run without a prompt; edits and shell commands need approval unless you have allowed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 ask / deny lists, e.g. Edit(analysis/**), Read(~/.ssh/**), Bash(rm -rf*). Precedence: deny beats everything, then a hook can veto, then an allow or mode lets it run, else it is denied (and asks, if interactive). You set these; the model cannot loosen them. Managed/enterprise settings can be locked so users cannot override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hook runs on a lifecycle event (e.g. before every Write). Exit 0 allows the action; exit 2 blocks it and hands the reason back to the model. CLAUDE.md is advice the model can forget; a hook is policy the harness enforces every time. Source: Claude Code hooks docs.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key leak: a plaintext ANTHROPIC_API_KEY in your shell would be copied by 'sbatch --export=ALL' into the job environment, readable via scontrol. Prefer the CLAUDE_CONFIG_DIR login token, or source a chmod-600 key at runtime. Also chmod 700 ~/.claude on shared homes.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-p "…" --output-format json' runs a single non-interactive turn and returns an object you can parse from any language: result (the text), total_cost_usd, session_id (to resume or audit), num_turns, is_error, permission_denials. Add --json-schema to force the reply into fields validated against a schema. Source: Claude Code headless docs.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launcher script loops the headless call over many inputs and totals the cost; a Slurm job runs it unattended. Preflight one cheap call first, so a node with no internet fails in seconds. Watch rate limits: dozens of simultaneous calls from one org key will throttle — stagger them or use per-user keys. The lab's Bonus A does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a Slurm submitter, a dataset catalog, or a SQL warehouse as an MCP tool and Claude calls it like any built-in (named mcp__&lt;server&gt;__&lt;tool&gt;). MCP is an open standard — "a USB-C port for AI applications." Tools are deny-by-default until you allow them. The lab's Bonus B ships a tiny MCP server you extend.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injection is the #1 risk in the OWASP Top 10 for LLM applications: external content the agent reads can try to alter its behavior. Defenses: least privilege (permissions), human approval for risky actions, and treating any ingested text as untrusted. Workspace trust means .mcp.json, hooks, and skills take effect only after you accept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commercial data policy: "By default, we will not use your inputs or outputs from our commercial products to train our models." Still, check your plan's retention and residency terms, and route through Bedrock or Vertex if you need a BAA. Source: Anthropic Privacy Center.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Long sessions degrade as the context window fills — use /clear between tasks and keep prompts scoped. The honest rule for research: anchor every result on something deterministic — a test, an exit code, a file that must or must not exist.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 is a flat set of Markdown task cards plus a CLAUDE.md naming a hosted CSV (Palmer Penguins). Claude reads the URL, writes and runs pandas analysis, and reports the results — the everyday data-analysis loop. Nothing to download; the node needs internet.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analysis builds on the last. Claude loads the hosted CSV, writes and runs the code, and reports the numbers; the learner reviews and spot-checks. Task 1 also proves CLAUDE.md loaded, via a codename planted there. A headless bonus and a bring-your-own-data take-home follow.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attendees can install, use, govern, and scale Claude Code on Midway. The hands-on lab makes each idea concrete on a real dataset.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566928"/>
            <a:ext cx="8046720" cy="365760"/>
          </a:xfrm>
          <a:prstGeom prst="rect">
            <a:avLst/>
          </a:prstGeom>
          <a:noFill/>
        </p:spPr>
        <p:txBody>
          <a:bodyPr wrap="square" anchor="t" lIns="0" rIns="0" tIns="0" bIns="0">
            <a:spAutoFit/>
          </a:bodyPr>
          <a:lstStyle/>
          <a:p>
            <a:r>
              <a:rPr sz="1200" b="1" i="0" spc="120">
                <a:solidFill>
                  <a:srgbClr val="007482"/>
                </a:solidFill>
                <a:latin typeface="Arial"/>
              </a:rPr>
              <a:t>RCC WORKSHOP · UNIVERSITY OF CHICAGO</a:t>
            </a:r>
          </a:p>
        </p:txBody>
      </p:sp>
      <p:sp>
        <p:nvSpPr>
          <p:cNvPr id="3" name="Rectangle 2"/>
          <p:cNvSpPr/>
          <p:nvPr/>
        </p:nvSpPr>
        <p:spPr>
          <a:xfrm>
            <a:off x="548640" y="2761488"/>
            <a:ext cx="1554480" cy="54864"/>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54480"/>
            <a:ext cx="8046720" cy="1188720"/>
          </a:xfrm>
          <a:prstGeom prst="rect">
            <a:avLst/>
          </a:prstGeom>
          <a:noFill/>
        </p:spPr>
        <p:txBody>
          <a:bodyPr wrap="square" anchor="t" lIns="0" rIns="0" tIns="0" bIns="0">
            <a:spAutoFit/>
          </a:bodyPr>
          <a:lstStyle/>
          <a:p>
            <a:r>
              <a:rPr sz="4000" b="1" i="0">
                <a:solidFill>
                  <a:srgbClr val="0B2E6B"/>
                </a:solidFill>
                <a:latin typeface="Arial"/>
              </a:rPr>
              <a:t>Claude Code on Midway</a:t>
            </a:r>
          </a:p>
        </p:txBody>
      </p:sp>
      <p:sp>
        <p:nvSpPr>
          <p:cNvPr id="5" name="TextBox 4"/>
          <p:cNvSpPr txBox="1"/>
          <p:nvPr/>
        </p:nvSpPr>
        <p:spPr>
          <a:xfrm>
            <a:off x="548640" y="2971800"/>
            <a:ext cx="8046720" cy="1280160"/>
          </a:xfrm>
          <a:prstGeom prst="rect">
            <a:avLst/>
          </a:prstGeom>
          <a:noFill/>
        </p:spPr>
        <p:txBody>
          <a:bodyPr wrap="square" anchor="t" lIns="0" rIns="0" tIns="0" bIns="0">
            <a:spAutoFit/>
          </a:bodyPr>
          <a:lstStyle/>
          <a:p>
            <a:r>
              <a:rPr sz="1600" b="0" i="0">
                <a:solidFill>
                  <a:srgbClr val="555A61"/>
                </a:solidFill>
                <a:latin typeface="Arial"/>
              </a:rPr>
              <a:t>An AI coding agent for everyday research work — in your terminal, on the cluster.</a:t>
            </a:r>
          </a:p>
          <a:p>
            <a:pPr>
              <a:spcBef>
                <a:spcPts val="1600"/>
              </a:spcBef>
            </a:pPr>
            <a:r>
              <a:rPr sz="1250" b="0" i="0">
                <a:solidFill>
                  <a:srgbClr val="555A61"/>
                </a:solidFill>
                <a:latin typeface="Arial"/>
              </a:rPr>
              <a:t>Youzhi Yu · Research Computing Center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Today's session</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457200" cy="467868"/>
          </a:xfrm>
          <a:prstGeom prst="rect">
            <a:avLst/>
          </a:prstGeom>
          <a:noFill/>
        </p:spPr>
        <p:txBody>
          <a:bodyPr wrap="square" anchor="ctr" lIns="0" rIns="0" tIns="0" bIns="0">
            <a:spAutoFit/>
          </a:bodyPr>
          <a:lstStyle/>
          <a:p>
            <a:r>
              <a:rPr sz="1700" b="1" i="0">
                <a:solidFill>
                  <a:srgbClr val="007482"/>
                </a:solidFill>
                <a:latin typeface="Arial"/>
              </a:rPr>
              <a:t>1</a:t>
            </a:r>
          </a:p>
        </p:txBody>
      </p:sp>
      <p:sp>
        <p:nvSpPr>
          <p:cNvPr id="5" name="TextBox 4"/>
          <p:cNvSpPr txBox="1"/>
          <p:nvPr/>
        </p:nvSpPr>
        <p:spPr>
          <a:xfrm>
            <a:off x="1024128" y="1417320"/>
            <a:ext cx="7571232" cy="467868"/>
          </a:xfrm>
          <a:prstGeom prst="rect">
            <a:avLst/>
          </a:prstGeom>
          <a:noFill/>
        </p:spPr>
        <p:txBody>
          <a:bodyPr wrap="square" anchor="ctr" lIns="0" rIns="0" tIns="0" bIns="0">
            <a:spAutoFit/>
          </a:bodyPr>
          <a:lstStyle/>
          <a:p>
            <a:r>
              <a:rPr sz="1550" b="1" i="0">
                <a:solidFill>
                  <a:srgbClr val="1E2126"/>
                </a:solidFill>
                <a:latin typeface="Arial"/>
              </a:rPr>
              <a:t>Meet Claude Code</a:t>
            </a:r>
            <a:r>
              <a:rPr sz="1550" b="0" i="0">
                <a:solidFill>
                  <a:srgbClr val="555A61"/>
                </a:solidFill>
                <a:latin typeface="Arial"/>
              </a:rPr>
              <a:t>     </a:t>
            </a:r>
            <a:r>
              <a:rPr sz="1350" b="0" i="0">
                <a:solidFill>
                  <a:srgbClr val="555A61"/>
                </a:solidFill>
                <a:latin typeface="Arial"/>
              </a:rPr>
              <a:t>what an AI agent in the terminal actually is, and why it helps research.</a:t>
            </a:r>
          </a:p>
        </p:txBody>
      </p:sp>
      <p:sp>
        <p:nvSpPr>
          <p:cNvPr id="6" name="TextBox 5"/>
          <p:cNvSpPr txBox="1"/>
          <p:nvPr/>
        </p:nvSpPr>
        <p:spPr>
          <a:xfrm>
            <a:off x="548640" y="1885187"/>
            <a:ext cx="457200" cy="467868"/>
          </a:xfrm>
          <a:prstGeom prst="rect">
            <a:avLst/>
          </a:prstGeom>
          <a:noFill/>
        </p:spPr>
        <p:txBody>
          <a:bodyPr wrap="square" anchor="ctr" lIns="0" rIns="0" tIns="0" bIns="0">
            <a:spAutoFit/>
          </a:bodyPr>
          <a:lstStyle/>
          <a:p>
            <a:r>
              <a:rPr sz="1700" b="1" i="0">
                <a:solidFill>
                  <a:srgbClr val="007482"/>
                </a:solidFill>
                <a:latin typeface="Arial"/>
              </a:rPr>
              <a:t>2</a:t>
            </a:r>
          </a:p>
        </p:txBody>
      </p:sp>
      <p:sp>
        <p:nvSpPr>
          <p:cNvPr id="7" name="TextBox 6"/>
          <p:cNvSpPr txBox="1"/>
          <p:nvPr/>
        </p:nvSpPr>
        <p:spPr>
          <a:xfrm>
            <a:off x="1024128" y="1885187"/>
            <a:ext cx="7571232" cy="467868"/>
          </a:xfrm>
          <a:prstGeom prst="rect">
            <a:avLst/>
          </a:prstGeom>
          <a:noFill/>
        </p:spPr>
        <p:txBody>
          <a:bodyPr wrap="square" anchor="ctr" lIns="0" rIns="0" tIns="0" bIns="0">
            <a:spAutoFit/>
          </a:bodyPr>
          <a:lstStyle/>
          <a:p>
            <a:r>
              <a:rPr sz="1550" b="1" i="0">
                <a:solidFill>
                  <a:srgbClr val="1E2126"/>
                </a:solidFill>
                <a:latin typeface="Arial"/>
              </a:rPr>
              <a:t>Getting started on Midway</a:t>
            </a:r>
            <a:r>
              <a:rPr sz="1550" b="0" i="0">
                <a:solidFill>
                  <a:srgbClr val="555A61"/>
                </a:solidFill>
                <a:latin typeface="Arial"/>
              </a:rPr>
              <a:t>     </a:t>
            </a:r>
            <a:r>
              <a:rPr sz="1350" b="0" i="0">
                <a:solidFill>
                  <a:srgbClr val="555A61"/>
                </a:solidFill>
                <a:latin typeface="Arial"/>
              </a:rPr>
              <a:t>install, log in, and run your first session.</a:t>
            </a:r>
          </a:p>
        </p:txBody>
      </p:sp>
      <p:sp>
        <p:nvSpPr>
          <p:cNvPr id="8" name="TextBox 7"/>
          <p:cNvSpPr txBox="1"/>
          <p:nvPr/>
        </p:nvSpPr>
        <p:spPr>
          <a:xfrm>
            <a:off x="548640" y="2353056"/>
            <a:ext cx="457200" cy="467868"/>
          </a:xfrm>
          <a:prstGeom prst="rect">
            <a:avLst/>
          </a:prstGeom>
          <a:noFill/>
        </p:spPr>
        <p:txBody>
          <a:bodyPr wrap="square" anchor="ctr" lIns="0" rIns="0" tIns="0" bIns="0">
            <a:spAutoFit/>
          </a:bodyPr>
          <a:lstStyle/>
          <a:p>
            <a:r>
              <a:rPr sz="1700" b="1" i="0">
                <a:solidFill>
                  <a:srgbClr val="007482"/>
                </a:solidFill>
                <a:latin typeface="Arial"/>
              </a:rPr>
              <a:t>3</a:t>
            </a:r>
          </a:p>
        </p:txBody>
      </p:sp>
      <p:sp>
        <p:nvSpPr>
          <p:cNvPr id="9" name="TextBox 8"/>
          <p:cNvSpPr txBox="1"/>
          <p:nvPr/>
        </p:nvSpPr>
        <p:spPr>
          <a:xfrm>
            <a:off x="1024128" y="2353056"/>
            <a:ext cx="7571232" cy="467868"/>
          </a:xfrm>
          <a:prstGeom prst="rect">
            <a:avLst/>
          </a:prstGeom>
          <a:noFill/>
        </p:spPr>
        <p:txBody>
          <a:bodyPr wrap="square" anchor="ctr" lIns="0" rIns="0" tIns="0" bIns="0">
            <a:spAutoFit/>
          </a:bodyPr>
          <a:lstStyle/>
          <a:p>
            <a:r>
              <a:rPr sz="1550" b="1" i="0">
                <a:solidFill>
                  <a:srgbClr val="1E2126"/>
                </a:solidFill>
                <a:latin typeface="Arial"/>
              </a:rPr>
              <a:t>Make it yours</a:t>
            </a:r>
            <a:r>
              <a:rPr sz="1550" b="0" i="0">
                <a:solidFill>
                  <a:srgbClr val="555A61"/>
                </a:solidFill>
                <a:latin typeface="Arial"/>
              </a:rPr>
              <a:t>     </a:t>
            </a:r>
            <a:r>
              <a:rPr sz="1350" b="0" i="0">
                <a:solidFill>
                  <a:srgbClr val="555A61"/>
                </a:solidFill>
                <a:latin typeface="Arial"/>
              </a:rPr>
              <a:t>teach it your project, save prompts, add your own tools.</a:t>
            </a:r>
          </a:p>
        </p:txBody>
      </p:sp>
      <p:sp>
        <p:nvSpPr>
          <p:cNvPr id="10" name="TextBox 9"/>
          <p:cNvSpPr txBox="1"/>
          <p:nvPr/>
        </p:nvSpPr>
        <p:spPr>
          <a:xfrm>
            <a:off x="548640" y="2820924"/>
            <a:ext cx="457200" cy="467868"/>
          </a:xfrm>
          <a:prstGeom prst="rect">
            <a:avLst/>
          </a:prstGeom>
          <a:noFill/>
        </p:spPr>
        <p:txBody>
          <a:bodyPr wrap="square" anchor="ctr" lIns="0" rIns="0" tIns="0" bIns="0">
            <a:spAutoFit/>
          </a:bodyPr>
          <a:lstStyle/>
          <a:p>
            <a:r>
              <a:rPr sz="1700" b="1" i="0">
                <a:solidFill>
                  <a:srgbClr val="007482"/>
                </a:solidFill>
                <a:latin typeface="Arial"/>
              </a:rPr>
              <a:t>4</a:t>
            </a:r>
          </a:p>
        </p:txBody>
      </p:sp>
      <p:sp>
        <p:nvSpPr>
          <p:cNvPr id="11" name="TextBox 10"/>
          <p:cNvSpPr txBox="1"/>
          <p:nvPr/>
        </p:nvSpPr>
        <p:spPr>
          <a:xfrm>
            <a:off x="1024128" y="2820924"/>
            <a:ext cx="7571232" cy="467868"/>
          </a:xfrm>
          <a:prstGeom prst="rect">
            <a:avLst/>
          </a:prstGeom>
          <a:noFill/>
        </p:spPr>
        <p:txBody>
          <a:bodyPr wrap="square" anchor="ctr" lIns="0" rIns="0" tIns="0" bIns="0">
            <a:spAutoFit/>
          </a:bodyPr>
          <a:lstStyle/>
          <a:p>
            <a:r>
              <a:rPr sz="1550" b="1" i="0">
                <a:solidFill>
                  <a:srgbClr val="1E2126"/>
                </a:solidFill>
                <a:latin typeface="Arial"/>
              </a:rPr>
              <a:t>Staying in control</a:t>
            </a:r>
            <a:r>
              <a:rPr sz="1550" b="0" i="0">
                <a:solidFill>
                  <a:srgbClr val="555A61"/>
                </a:solidFill>
                <a:latin typeface="Arial"/>
              </a:rPr>
              <a:t>     </a:t>
            </a:r>
            <a:r>
              <a:rPr sz="1350" b="0" i="0">
                <a:solidFill>
                  <a:srgbClr val="555A61"/>
                </a:solidFill>
                <a:latin typeface="Arial"/>
              </a:rPr>
              <a:t>the permission system that makes it safe on shared hardware.</a:t>
            </a:r>
          </a:p>
        </p:txBody>
      </p:sp>
      <p:sp>
        <p:nvSpPr>
          <p:cNvPr id="12" name="TextBox 11"/>
          <p:cNvSpPr txBox="1"/>
          <p:nvPr/>
        </p:nvSpPr>
        <p:spPr>
          <a:xfrm>
            <a:off x="548640" y="3288792"/>
            <a:ext cx="457200" cy="467868"/>
          </a:xfrm>
          <a:prstGeom prst="rect">
            <a:avLst/>
          </a:prstGeom>
          <a:noFill/>
        </p:spPr>
        <p:txBody>
          <a:bodyPr wrap="square" anchor="ctr" lIns="0" rIns="0" tIns="0" bIns="0">
            <a:spAutoFit/>
          </a:bodyPr>
          <a:lstStyle/>
          <a:p>
            <a:r>
              <a:rPr sz="1700" b="1" i="0">
                <a:solidFill>
                  <a:srgbClr val="007482"/>
                </a:solidFill>
                <a:latin typeface="Arial"/>
              </a:rPr>
              <a:t>5</a:t>
            </a:r>
          </a:p>
        </p:txBody>
      </p:sp>
      <p:sp>
        <p:nvSpPr>
          <p:cNvPr id="13" name="TextBox 12"/>
          <p:cNvSpPr txBox="1"/>
          <p:nvPr/>
        </p:nvSpPr>
        <p:spPr>
          <a:xfrm>
            <a:off x="1024128" y="3288792"/>
            <a:ext cx="7571232" cy="467868"/>
          </a:xfrm>
          <a:prstGeom prst="rect">
            <a:avLst/>
          </a:prstGeom>
          <a:noFill/>
        </p:spPr>
        <p:txBody>
          <a:bodyPr wrap="square" anchor="ctr" lIns="0" rIns="0" tIns="0" bIns="0">
            <a:spAutoFit/>
          </a:bodyPr>
          <a:lstStyle/>
          <a:p>
            <a:r>
              <a:rPr sz="1550" b="1" i="0">
                <a:solidFill>
                  <a:srgbClr val="1E2126"/>
                </a:solidFill>
                <a:latin typeface="Arial"/>
              </a:rPr>
              <a:t>Scaling up</a:t>
            </a:r>
            <a:r>
              <a:rPr sz="1550" b="0" i="0">
                <a:solidFill>
                  <a:srgbClr val="555A61"/>
                </a:solidFill>
                <a:latin typeface="Arial"/>
              </a:rPr>
              <a:t>     </a:t>
            </a:r>
            <a:r>
              <a:rPr sz="1350" b="0" i="0">
                <a:solidFill>
                  <a:srgbClr val="555A61"/>
                </a:solidFill>
                <a:latin typeface="Arial"/>
              </a:rPr>
              <a:t>turn one command into a batch, and connect your own cluster tools.</a:t>
            </a:r>
          </a:p>
        </p:txBody>
      </p:sp>
      <p:sp>
        <p:nvSpPr>
          <p:cNvPr id="14" name="TextBox 13"/>
          <p:cNvSpPr txBox="1"/>
          <p:nvPr/>
        </p:nvSpPr>
        <p:spPr>
          <a:xfrm>
            <a:off x="548640" y="3756660"/>
            <a:ext cx="457200" cy="467868"/>
          </a:xfrm>
          <a:prstGeom prst="rect">
            <a:avLst/>
          </a:prstGeom>
          <a:noFill/>
        </p:spPr>
        <p:txBody>
          <a:bodyPr wrap="square" anchor="ctr" lIns="0" rIns="0" tIns="0" bIns="0">
            <a:spAutoFit/>
          </a:bodyPr>
          <a:lstStyle/>
          <a:p>
            <a:r>
              <a:rPr sz="1700" b="1" i="0">
                <a:solidFill>
                  <a:srgbClr val="007482"/>
                </a:solidFill>
                <a:latin typeface="Arial"/>
              </a:rPr>
              <a:t>6</a:t>
            </a:r>
          </a:p>
        </p:txBody>
      </p:sp>
      <p:sp>
        <p:nvSpPr>
          <p:cNvPr id="15" name="TextBox 14"/>
          <p:cNvSpPr txBox="1"/>
          <p:nvPr/>
        </p:nvSpPr>
        <p:spPr>
          <a:xfrm>
            <a:off x="1024128" y="3756660"/>
            <a:ext cx="7571232" cy="467868"/>
          </a:xfrm>
          <a:prstGeom prst="rect">
            <a:avLst/>
          </a:prstGeom>
          <a:noFill/>
        </p:spPr>
        <p:txBody>
          <a:bodyPr wrap="square" anchor="ctr" lIns="0" rIns="0" tIns="0" bIns="0">
            <a:spAutoFit/>
          </a:bodyPr>
          <a:lstStyle/>
          <a:p>
            <a:r>
              <a:rPr sz="1550" b="1" i="0">
                <a:solidFill>
                  <a:srgbClr val="1E2126"/>
                </a:solidFill>
                <a:latin typeface="Arial"/>
              </a:rPr>
              <a:t>Trust and honest limits</a:t>
            </a:r>
            <a:r>
              <a:rPr sz="1550" b="0" i="0">
                <a:solidFill>
                  <a:srgbClr val="555A61"/>
                </a:solidFill>
                <a:latin typeface="Arial"/>
              </a:rPr>
              <a:t>     </a:t>
            </a:r>
            <a:r>
              <a:rPr sz="1350" b="0" i="0">
                <a:solidFill>
                  <a:srgbClr val="555A61"/>
                </a:solidFill>
                <a:latin typeface="Arial"/>
              </a:rPr>
              <a:t>prompt injection, your data, and when not to use it.</a:t>
            </a:r>
          </a:p>
        </p:txBody>
      </p:sp>
      <p:sp>
        <p:nvSpPr>
          <p:cNvPr id="16" name="TextBox 15"/>
          <p:cNvSpPr txBox="1"/>
          <p:nvPr/>
        </p:nvSpPr>
        <p:spPr>
          <a:xfrm>
            <a:off x="548640" y="4370832"/>
            <a:ext cx="8046720" cy="365760"/>
          </a:xfrm>
          <a:prstGeom prst="rect">
            <a:avLst/>
          </a:prstGeom>
          <a:noFill/>
        </p:spPr>
        <p:txBody>
          <a:bodyPr wrap="square" anchor="t" lIns="0" rIns="0" tIns="0" bIns="0">
            <a:spAutoFit/>
          </a:bodyPr>
          <a:lstStyle/>
          <a:p>
            <a:r>
              <a:rPr sz="1200" b="0" i="1">
                <a:solidFill>
                  <a:srgbClr val="555A61"/>
                </a:solidFill>
                <a:latin typeface="Arial"/>
              </a:rPr>
              <a:t>We close with a hands-on lab: you drive Claude Code to analyze a real dataset.</a:t>
            </a:r>
          </a:p>
        </p:txBody>
      </p:sp>
      <p:sp>
        <p:nvSpPr>
          <p:cNvPr id="17" name="TextBox 1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1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Meet Claude Code</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An AI agent that does research work in your terminal.</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12192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An agent does the work, not just the typing</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The step that matters is the last one.</a:t>
            </a:r>
          </a:p>
        </p:txBody>
      </p:sp>
      <p:pic>
        <p:nvPicPr>
          <p:cNvPr id="5" name="Picture 4" descr="image1.png"/>
          <p:cNvPicPr>
            <a:picLocks noChangeAspect="1"/>
          </p:cNvPicPr>
          <p:nvPr/>
        </p:nvPicPr>
        <p:blipFill>
          <a:blip r:embed="rId2"/>
          <a:stretch>
            <a:fillRect/>
          </a:stretch>
        </p:blipFill>
        <p:spPr>
          <a:xfrm>
            <a:off x="365760" y="1884942"/>
            <a:ext cx="8412480" cy="2758931"/>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Claude Code, in plain terms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You do not need to be a programmer. If you use a terminal, you can use it.</a:t>
            </a:r>
          </a:p>
        </p:txBody>
      </p:sp>
      <p:sp>
        <p:nvSpPr>
          <p:cNvPr id="5" name="TextBox 4"/>
          <p:cNvSpPr txBox="1"/>
          <p:nvPr/>
        </p:nvSpPr>
        <p:spPr>
          <a:xfrm>
            <a:off x="548640" y="2011680"/>
            <a:ext cx="8046720" cy="2670048"/>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An agent, not autocomplete.</a:t>
            </a:r>
            <a:r>
              <a:rPr sz="1500" b="0" i="0">
                <a:solidFill>
                  <a:srgbClr val="1E2126"/>
                </a:solidFill>
                <a:latin typeface="Arial"/>
              </a:rPr>
              <a:t>  </a:t>
            </a:r>
            <a:r>
              <a:rPr sz="1500" b="0" i="0">
                <a:solidFill>
                  <a:srgbClr val="1E2126"/>
                </a:solidFill>
                <a:latin typeface="Arial"/>
              </a:rPr>
              <a:t>It reads your files, runs commands, and edits them in a loop until the job is done.</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lives in your terminal.</a:t>
            </a:r>
            <a:r>
              <a:rPr sz="1500" b="0" i="0">
                <a:solidFill>
                  <a:srgbClr val="1E2126"/>
                </a:solidFill>
                <a:latin typeface="Arial"/>
              </a:rPr>
              <a:t>  </a:t>
            </a:r>
            <a:r>
              <a:rPr sz="1500" b="0" i="0">
                <a:solidFill>
                  <a:srgbClr val="1E2126"/>
                </a:solidFill>
                <a:latin typeface="Arial"/>
              </a:rPr>
              <a:t>The same place you already run Python and submit cluster jobs.</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One tool, many front doors.</a:t>
            </a:r>
            <a:r>
              <a:rPr sz="1500" b="0" i="0">
                <a:solidFill>
                  <a:srgbClr val="1E2126"/>
                </a:solidFill>
                <a:latin typeface="Arial"/>
              </a:rPr>
              <a:t>  </a:t>
            </a:r>
            <a:r>
              <a:rPr sz="1500" b="0" i="0">
                <a:solidFill>
                  <a:srgbClr val="1E2126"/>
                </a:solidFill>
                <a:latin typeface="Arial"/>
              </a:rPr>
              <a:t>Terminal, VS Code, JetBrains, GitHub, or driven from a script.</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It works in a loop: gather, act, check, repeat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Every setting later in this talk tunes one step of this loop.</a:t>
            </a:r>
          </a:p>
        </p:txBody>
      </p:sp>
      <p:pic>
        <p:nvPicPr>
          <p:cNvPr id="5" name="Picture 4" descr="image2.png"/>
          <p:cNvPicPr>
            <a:picLocks noChangeAspect="1"/>
          </p:cNvPicPr>
          <p:nvPr/>
        </p:nvPicPr>
        <p:blipFill>
          <a:blip r:embed="rId2"/>
          <a:stretch>
            <a:fillRect/>
          </a:stretch>
        </p:blipFill>
        <p:spPr>
          <a:xfrm>
            <a:off x="2452432" y="1700784"/>
            <a:ext cx="4239134"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Loop framing: Anthropic, "Building effective agents" (2024) and the Claude Agent SDK.</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Two parts: a program you control, a model it calls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The program — the diagrams call it the harness — is yours to shape; the model just answers.</a:t>
            </a:r>
          </a:p>
        </p:txBody>
      </p:sp>
      <p:pic>
        <p:nvPicPr>
          <p:cNvPr id="5" name="Picture 4" descr="image3.png"/>
          <p:cNvPicPr>
            <a:picLocks noChangeAspect="1"/>
          </p:cNvPicPr>
          <p:nvPr/>
        </p:nvPicPr>
        <p:blipFill>
          <a:blip r:embed="rId2"/>
          <a:stretch>
            <a:fillRect/>
          </a:stretch>
        </p:blipFill>
        <p:spPr>
          <a:xfrm>
            <a:off x="779380" y="1700784"/>
            <a:ext cx="7585239"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It finds its way around your project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looks the way you do.</a:t>
            </a:r>
            <a:r>
              <a:rPr sz="1500" b="0" i="0">
                <a:solidFill>
                  <a:srgbClr val="1E2126"/>
                </a:solidFill>
                <a:latin typeface="Arial"/>
              </a:rPr>
              <a:t>  </a:t>
            </a:r>
            <a:r>
              <a:rPr sz="1500" b="0" i="0">
                <a:solidFill>
                  <a:srgbClr val="1E2126"/>
                </a:solidFill>
                <a:latin typeface="Arial"/>
              </a:rPr>
              <a:t>It searches and opens your real files — nothing to index or set up first.</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Your layout is its context.</a:t>
            </a:r>
            <a:r>
              <a:rPr sz="1500" b="0" i="0">
                <a:solidFill>
                  <a:srgbClr val="1E2126"/>
                </a:solidFill>
                <a:latin typeface="Arial"/>
              </a:rPr>
              <a:t>  </a:t>
            </a:r>
            <a:r>
              <a:rPr sz="1500" b="0" i="0">
                <a:solidFill>
                  <a:srgbClr val="1E2126"/>
                </a:solidFill>
                <a:latin typeface="Arial"/>
              </a:rPr>
              <a:t>A tidy project folder helps it find the right things quickly.</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checks its own work.</a:t>
            </a:r>
            <a:r>
              <a:rPr sz="1500" b="0" i="0">
                <a:solidFill>
                  <a:srgbClr val="1E2126"/>
                </a:solidFill>
                <a:latin typeface="Arial"/>
              </a:rPr>
              <a:t>  </a:t>
            </a:r>
            <a:r>
              <a:rPr sz="1500" b="0" i="0">
                <a:solidFill>
                  <a:srgbClr val="1E2126"/>
                </a:solidFill>
                <a:latin typeface="Arial"/>
              </a:rPr>
              <a:t>A test passing, a program finishing cleanly, or a code checker confirms the change worked.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Where it earns its place in research</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Not only code.</a:t>
            </a:r>
            <a:r>
              <a:rPr sz="1500" b="0" i="0">
                <a:solidFill>
                  <a:srgbClr val="1E2126"/>
                </a:solidFill>
                <a:latin typeface="Arial"/>
              </a:rPr>
              <a:t>  </a:t>
            </a:r>
            <a:r>
              <a:rPr sz="1500" b="0" i="0">
                <a:solidFill>
                  <a:srgbClr val="1E2126"/>
                </a:solidFill>
                <a:latin typeface="Arial"/>
              </a:rPr>
              <a:t>Data wrangling, log triage, plotting, a first-draft methods paragraph, or lit-review notes.</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scripts.</a:t>
            </a:r>
            <a:r>
              <a:rPr sz="1500" b="0" i="0">
                <a:solidFill>
                  <a:srgbClr val="1E2126"/>
                </a:solidFill>
                <a:latin typeface="Arial"/>
              </a:rPr>
              <a:t>  </a:t>
            </a:r>
            <a:r>
              <a:rPr sz="1500" b="0" i="0">
                <a:solidFill>
                  <a:srgbClr val="1E2126"/>
                </a:solidFill>
                <a:latin typeface="Arial"/>
              </a:rPr>
              <a:t>One command in, a machine-readable answer out — drop it into a pipeline or a Slurm job.</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Everything is on the record.</a:t>
            </a:r>
            <a:r>
              <a:rPr sz="1500" b="0" i="0">
                <a:solidFill>
                  <a:srgbClr val="1E2126"/>
                </a:solidFill>
                <a:latin typeface="Arial"/>
              </a:rPr>
              <a:t>  </a:t>
            </a:r>
            <a:r>
              <a:rPr sz="1500" b="0" i="0">
                <a:solidFill>
                  <a:srgbClr val="1E2126"/>
                </a:solidFill>
                <a:latin typeface="Arial"/>
              </a:rPr>
              <a:t>Every action is logged, permission-checked, and costed.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2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Getting started on Midway</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Install once, log in once — then you are working.</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24384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Install and log in — once, and without admin rights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It installs into your home directory; log in once, then grab a node with internet.</a:t>
            </a:r>
          </a:p>
        </p:txBody>
      </p:sp>
      <p:pic>
        <p:nvPicPr>
          <p:cNvPr id="5" name="Picture 4" descr="image11.png"/>
          <p:cNvPicPr>
            <a:picLocks noChangeAspect="1"/>
          </p:cNvPicPr>
          <p:nvPr/>
        </p:nvPicPr>
        <p:blipFill>
          <a:blip r:embed="rId2"/>
          <a:stretch>
            <a:fillRect/>
          </a:stretch>
        </p:blipFill>
        <p:spPr>
          <a:xfrm>
            <a:off x="901307" y="1700784"/>
            <a:ext cx="7341385"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Two ways to work with it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463040"/>
            <a:ext cx="3771900" cy="457200"/>
          </a:xfrm>
          <a:prstGeom prst="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6656" y="1463040"/>
            <a:ext cx="3552444" cy="457200"/>
          </a:xfrm>
          <a:prstGeom prst="rect">
            <a:avLst/>
          </a:prstGeom>
          <a:noFill/>
        </p:spPr>
        <p:txBody>
          <a:bodyPr wrap="square" anchor="ctr" lIns="0" rIns="0" tIns="0" bIns="0">
            <a:spAutoFit/>
          </a:bodyPr>
          <a:lstStyle/>
          <a:p>
            <a:r>
              <a:rPr sz="1450" b="1" i="0">
                <a:solidFill>
                  <a:srgbClr val="1155CC"/>
                </a:solidFill>
                <a:latin typeface="Arial"/>
              </a:rPr>
              <a:t>Interactive — your daily driver</a:t>
            </a:r>
          </a:p>
        </p:txBody>
      </p:sp>
      <p:sp>
        <p:nvSpPr>
          <p:cNvPr id="6" name="TextBox 5"/>
          <p:cNvSpPr txBox="1"/>
          <p:nvPr/>
        </p:nvSpPr>
        <p:spPr>
          <a:xfrm>
            <a:off x="676656" y="2029968"/>
            <a:ext cx="3552444" cy="2651760"/>
          </a:xfrm>
          <a:prstGeom prst="rect">
            <a:avLst/>
          </a:prstGeom>
          <a:noFill/>
        </p:spPr>
        <p:txBody>
          <a:bodyPr wrap="square" anchor="t" lIns="0" rIns="0" tIns="0" bIns="0">
            <a:spAutoFit/>
          </a:bodyPr>
          <a:lstStyle/>
          <a:p>
            <a:pPr marL="219456" indent="-219456">
              <a:lnSpc>
                <a:spcPct val="106000"/>
              </a:lnSpc>
              <a:spcAft>
                <a:spcPts val="800"/>
              </a:spcAft>
            </a:pPr>
            <a:r>
              <a:rPr sz="1300" b="1" i="0">
                <a:solidFill>
                  <a:srgbClr val="007482"/>
                </a:solidFill>
                <a:latin typeface="Arial"/>
              </a:rPr>
              <a:t>•  </a:t>
            </a:r>
            <a:r>
              <a:rPr sz="1300" b="0" i="0">
                <a:solidFill>
                  <a:srgbClr val="1E2126"/>
                </a:solidFill>
                <a:latin typeface="Arial"/>
              </a:rPr>
              <a:t>Run </a:t>
            </a:r>
            <a:r>
              <a:rPr sz="1300" b="0" i="0">
                <a:solidFill>
                  <a:srgbClr val="007482"/>
                </a:solidFill>
                <a:latin typeface="Arial"/>
              </a:rPr>
              <a:t>claude</a:t>
            </a:r>
            <a:r>
              <a:rPr sz="1300" b="0" i="0">
                <a:solidFill>
                  <a:srgbClr val="1E2126"/>
                </a:solidFill>
                <a:latin typeface="Arial"/>
              </a:rPr>
              <a:t> in a folder and talk to it.</a:t>
            </a:r>
          </a:p>
          <a:p>
            <a:pPr marL="219456" indent="-219456">
              <a:lnSpc>
                <a:spcPct val="106000"/>
              </a:lnSpc>
              <a:spcAft>
                <a:spcPts val="800"/>
              </a:spcAft>
            </a:pPr>
            <a:r>
              <a:rPr sz="1300" b="1" i="0">
                <a:solidFill>
                  <a:srgbClr val="007482"/>
                </a:solidFill>
                <a:latin typeface="Arial"/>
              </a:rPr>
              <a:t>•  </a:t>
            </a:r>
            <a:r>
              <a:rPr sz="1300" b="0" i="0">
                <a:solidFill>
                  <a:srgbClr val="007482"/>
                </a:solidFill>
                <a:latin typeface="Arial"/>
              </a:rPr>
              <a:t>@file</a:t>
            </a:r>
            <a:r>
              <a:rPr sz="1300" b="0" i="0">
                <a:solidFill>
                  <a:srgbClr val="1E2126"/>
                </a:solidFill>
                <a:latin typeface="Arial"/>
              </a:rPr>
              <a:t> points at a file, </a:t>
            </a:r>
            <a:r>
              <a:rPr sz="1300" b="0" i="0">
                <a:solidFill>
                  <a:srgbClr val="007482"/>
                </a:solidFill>
                <a:latin typeface="Arial"/>
              </a:rPr>
              <a:t>!</a:t>
            </a:r>
            <a:r>
              <a:rPr sz="1300" b="0" i="0">
                <a:solidFill>
                  <a:srgbClr val="1E2126"/>
                </a:solidFill>
                <a:latin typeface="Arial"/>
              </a:rPr>
              <a:t> runs a shell command, </a:t>
            </a:r>
            <a:r>
              <a:rPr sz="1300" b="0" i="0">
                <a:solidFill>
                  <a:srgbClr val="007482"/>
                </a:solidFill>
                <a:latin typeface="Arial"/>
              </a:rPr>
              <a:t>/</a:t>
            </a:r>
            <a:r>
              <a:rPr sz="1300" b="0" i="0">
                <a:solidFill>
                  <a:srgbClr val="1E2126"/>
                </a:solidFill>
                <a:latin typeface="Arial"/>
              </a:rPr>
              <a:t> fires a saved command.</a:t>
            </a:r>
          </a:p>
          <a:p>
            <a:pPr marL="219456" indent="-219456">
              <a:lnSpc>
                <a:spcPct val="106000"/>
              </a:lnSpc>
              <a:spcAft>
                <a:spcPts val="800"/>
              </a:spcAft>
            </a:pPr>
            <a:r>
              <a:rPr sz="1300" b="1" i="0">
                <a:solidFill>
                  <a:srgbClr val="007482"/>
                </a:solidFill>
                <a:latin typeface="Arial"/>
              </a:rPr>
              <a:t>•  </a:t>
            </a:r>
            <a:r>
              <a:rPr sz="1300" b="0" i="0">
                <a:solidFill>
                  <a:srgbClr val="1E2126"/>
                </a:solidFill>
                <a:latin typeface="Arial"/>
              </a:rPr>
              <a:t>Where you will spend most of your time — and the hands-on lab.</a:t>
            </a:r>
          </a:p>
        </p:txBody>
      </p:sp>
      <p:sp>
        <p:nvSpPr>
          <p:cNvPr id="7" name="Rectangle 6"/>
          <p:cNvSpPr/>
          <p:nvPr/>
        </p:nvSpPr>
        <p:spPr>
          <a:xfrm>
            <a:off x="4823459" y="1463040"/>
            <a:ext cx="3771900" cy="457200"/>
          </a:xfrm>
          <a:prstGeom prst="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51475" y="1463040"/>
            <a:ext cx="3552444" cy="457200"/>
          </a:xfrm>
          <a:prstGeom prst="rect">
            <a:avLst/>
          </a:prstGeom>
          <a:noFill/>
        </p:spPr>
        <p:txBody>
          <a:bodyPr wrap="square" anchor="ctr" lIns="0" rIns="0" tIns="0" bIns="0">
            <a:spAutoFit/>
          </a:bodyPr>
          <a:lstStyle/>
          <a:p>
            <a:r>
              <a:rPr sz="1450" b="1" i="0">
                <a:solidFill>
                  <a:srgbClr val="007482"/>
                </a:solidFill>
                <a:latin typeface="Arial"/>
              </a:rPr>
              <a:t>Headless — </a:t>
            </a:r>
            <a:r>
              <a:rPr sz="1450" b="1" i="0">
                <a:solidFill>
                  <a:srgbClr val="007482"/>
                </a:solidFill>
                <a:latin typeface="Arial"/>
              </a:rPr>
              <a:t>claude -p "…"</a:t>
            </a:r>
          </a:p>
        </p:txBody>
      </p:sp>
      <p:sp>
        <p:nvSpPr>
          <p:cNvPr id="9" name="TextBox 8"/>
          <p:cNvSpPr txBox="1"/>
          <p:nvPr/>
        </p:nvSpPr>
        <p:spPr>
          <a:xfrm>
            <a:off x="4951475" y="2029968"/>
            <a:ext cx="3552444" cy="2651760"/>
          </a:xfrm>
          <a:prstGeom prst="rect">
            <a:avLst/>
          </a:prstGeom>
          <a:noFill/>
        </p:spPr>
        <p:txBody>
          <a:bodyPr wrap="square" anchor="t" lIns="0" rIns="0" tIns="0" bIns="0">
            <a:spAutoFit/>
          </a:bodyPr>
          <a:lstStyle/>
          <a:p>
            <a:pPr marL="219456" indent="-219456">
              <a:lnSpc>
                <a:spcPct val="106000"/>
              </a:lnSpc>
              <a:spcAft>
                <a:spcPts val="800"/>
              </a:spcAft>
            </a:pPr>
            <a:r>
              <a:rPr sz="1300" b="1" i="0">
                <a:solidFill>
                  <a:srgbClr val="007482"/>
                </a:solidFill>
                <a:latin typeface="Arial"/>
              </a:rPr>
              <a:t>•  </a:t>
            </a:r>
            <a:r>
              <a:rPr sz="1300" b="0" i="0">
                <a:solidFill>
                  <a:srgbClr val="1E2126"/>
                </a:solidFill>
                <a:latin typeface="Arial"/>
              </a:rPr>
              <a:t>One prompt in, one answer out.</a:t>
            </a:r>
          </a:p>
          <a:p>
            <a:pPr marL="219456" indent="-219456">
              <a:lnSpc>
                <a:spcPct val="106000"/>
              </a:lnSpc>
              <a:spcAft>
                <a:spcPts val="800"/>
              </a:spcAft>
            </a:pPr>
            <a:r>
              <a:rPr sz="1300" b="1" i="0">
                <a:solidFill>
                  <a:srgbClr val="007482"/>
                </a:solidFill>
                <a:latin typeface="Arial"/>
              </a:rPr>
              <a:t>•  </a:t>
            </a:r>
            <a:r>
              <a:rPr sz="1300" b="0" i="0">
                <a:solidFill>
                  <a:srgbClr val="1E2126"/>
                </a:solidFill>
                <a:latin typeface="Arial"/>
              </a:rPr>
              <a:t>For scripts, batch jobs, and pipelines.</a:t>
            </a:r>
          </a:p>
          <a:p>
            <a:pPr marL="219456" indent="-219456">
              <a:lnSpc>
                <a:spcPct val="106000"/>
              </a:lnSpc>
              <a:spcAft>
                <a:spcPts val="800"/>
              </a:spcAft>
            </a:pPr>
            <a:r>
              <a:rPr sz="1300" b="1" i="0">
                <a:solidFill>
                  <a:srgbClr val="007482"/>
                </a:solidFill>
                <a:latin typeface="Arial"/>
              </a:rPr>
              <a:t>•  </a:t>
            </a:r>
            <a:r>
              <a:rPr sz="1300" b="0" i="0">
                <a:solidFill>
                  <a:srgbClr val="1E2126"/>
                </a:solidFill>
                <a:latin typeface="Arial"/>
              </a:rPr>
              <a:t>The 'Scaling up' section, later.</a:t>
            </a:r>
          </a:p>
        </p:txBody>
      </p:sp>
      <p:sp>
        <p:nvSpPr>
          <p:cNvPr id="10" name="TextBox 9"/>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A session, step by step</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It reads, edits, runs the tests, and reports the cost — and you watch every step.</a:t>
            </a:r>
          </a:p>
        </p:txBody>
      </p:sp>
      <p:pic>
        <p:nvPicPr>
          <p:cNvPr id="5" name="Picture 4" descr="image18.png"/>
          <p:cNvPicPr>
            <a:picLocks noChangeAspect="1"/>
          </p:cNvPicPr>
          <p:nvPr/>
        </p:nvPicPr>
        <p:blipFill>
          <a:blip r:embed="rId2"/>
          <a:stretch>
            <a:fillRect/>
          </a:stretch>
        </p:blipFill>
        <p:spPr>
          <a:xfrm>
            <a:off x="2435394" y="1700784"/>
            <a:ext cx="4273211"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Choosing a model for the job</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Switch anytime with </a:t>
            </a:r>
            <a:r>
              <a:rPr sz="1250" b="0" i="0">
                <a:solidFill>
                  <a:srgbClr val="007482"/>
                </a:solidFill>
                <a:latin typeface="Arial"/>
              </a:rPr>
              <a:t>/model</a:t>
            </a:r>
            <a:r>
              <a:rPr sz="1250" b="0" i="0">
                <a:solidFill>
                  <a:srgbClr val="555A61"/>
                </a:solidFill>
                <a:latin typeface="Arial"/>
              </a:rPr>
              <a:t>. Bigger is smarter but pricier; smaller is fast and cheap for bulk.</a:t>
            </a:r>
          </a:p>
        </p:txBody>
      </p:sp>
      <p:graphicFrame>
        <p:nvGraphicFramePr>
          <p:cNvPr id="5" name="Table 4"/>
          <p:cNvGraphicFramePr>
            <a:graphicFrameLocks noGrp="1"/>
          </p:cNvGraphicFramePr>
          <p:nvPr/>
        </p:nvGraphicFramePr>
        <p:xfrm>
          <a:off x="548640" y="1920240"/>
          <a:ext cx="8046719" cy="2267712"/>
        </p:xfrm>
        <a:graphic>
          <a:graphicData uri="http://schemas.openxmlformats.org/drawingml/2006/table">
            <a:tbl>
              <a:tblPr firstRow="0" bandRow="0">
                <a:tableStyleId>{5C22544A-7EE6-4342-B048-85BDC9FD1C3A}</a:tableStyleId>
              </a:tblPr>
              <a:tblGrid>
                <a:gridCol w="1508760"/>
                <a:gridCol w="4626864"/>
                <a:gridCol w="1911095"/>
              </a:tblGrid>
              <a:tr h="566928">
                <a:tc>
                  <a:txBody>
                    <a:bodyPr wrap="square"/>
                    <a:lstStyle/>
                    <a:p>
                      <a:pPr algn="l"/>
                      <a:r>
                        <a:rPr sz="1300" b="1" i="0">
                          <a:solidFill>
                            <a:srgbClr val="FFFFFF"/>
                          </a:solidFill>
                          <a:latin typeface="Arial"/>
                        </a:rPr>
                        <a:t>Model</a:t>
                      </a:r>
                    </a:p>
                  </a:txBody>
                  <a:tcPr marL="128016" marR="91440" marT="45720" marB="45720" anchor="ctr">
                    <a:solidFill>
                      <a:srgbClr val="007482"/>
                    </a:solidFill>
                  </a:tcPr>
                </a:tc>
                <a:tc>
                  <a:txBody>
                    <a:bodyPr wrap="square"/>
                    <a:lstStyle/>
                    <a:p>
                      <a:pPr algn="l"/>
                      <a:r>
                        <a:rPr sz="1300" b="1" i="0">
                          <a:solidFill>
                            <a:srgbClr val="FFFFFF"/>
                          </a:solidFill>
                          <a:latin typeface="Arial"/>
                        </a:rPr>
                        <a:t>Best for</a:t>
                      </a:r>
                    </a:p>
                  </a:txBody>
                  <a:tcPr marL="128016" marR="91440" marT="45720" marB="45720" anchor="ctr">
                    <a:solidFill>
                      <a:srgbClr val="007482"/>
                    </a:solidFill>
                  </a:tcPr>
                </a:tc>
                <a:tc>
                  <a:txBody>
                    <a:bodyPr wrap="square"/>
                    <a:lstStyle/>
                    <a:p>
                      <a:pPr algn="l"/>
                      <a:r>
                        <a:rPr sz="1300" b="1" i="0">
                          <a:solidFill>
                            <a:srgbClr val="FFFFFF"/>
                          </a:solidFill>
                          <a:latin typeface="Arial"/>
                        </a:rPr>
                        <a:t>Relative cost</a:t>
                      </a:r>
                    </a:p>
                  </a:txBody>
                  <a:tcPr marL="128016" marR="91440" marT="45720" marB="45720" anchor="ctr">
                    <a:solidFill>
                      <a:srgbClr val="007482"/>
                    </a:solidFill>
                  </a:tcPr>
                </a:tc>
              </a:tr>
              <a:tr h="566928">
                <a:tc>
                  <a:txBody>
                    <a:bodyPr wrap="square"/>
                    <a:lstStyle/>
                    <a:p>
                      <a:pPr algn="l"/>
                      <a:r>
                        <a:rPr sz="1250" b="1" i="0">
                          <a:solidFill>
                            <a:srgbClr val="1E2126"/>
                          </a:solidFill>
                          <a:latin typeface="Arial"/>
                        </a:rPr>
                        <a:t>Opus</a:t>
                      </a:r>
                    </a:p>
                  </a:txBody>
                  <a:tcPr marL="128016" marR="91440" marT="45720" marB="45720" anchor="ctr">
                    <a:solidFill>
                      <a:srgbClr val="FFFFFF"/>
                    </a:solidFill>
                  </a:tcPr>
                </a:tc>
                <a:tc>
                  <a:txBody>
                    <a:bodyPr wrap="square"/>
                    <a:lstStyle/>
                    <a:p>
                      <a:pPr algn="l"/>
                      <a:r>
                        <a:rPr sz="1250" b="0" i="0">
                          <a:solidFill>
                            <a:srgbClr val="1E2126"/>
                          </a:solidFill>
                          <a:latin typeface="Arial"/>
                        </a:rPr>
                        <a:t>The hardest reasoning</a:t>
                      </a:r>
                    </a:p>
                  </a:txBody>
                  <a:tcPr marL="128016" marR="91440" marT="45720" marB="45720" anchor="ctr">
                    <a:solidFill>
                      <a:srgbClr val="FFFFFF"/>
                    </a:solidFill>
                  </a:tcPr>
                </a:tc>
                <a:tc>
                  <a:txBody>
                    <a:bodyPr wrap="square"/>
                    <a:lstStyle/>
                    <a:p>
                      <a:pPr algn="l"/>
                      <a:r>
                        <a:rPr sz="1250" b="0" i="0">
                          <a:solidFill>
                            <a:srgbClr val="1E2126"/>
                          </a:solidFill>
                          <a:latin typeface="Arial"/>
                        </a:rPr>
                        <a:t>$$$</a:t>
                      </a:r>
                    </a:p>
                  </a:txBody>
                  <a:tcPr marL="128016" marR="91440" marT="45720" marB="45720" anchor="ctr">
                    <a:solidFill>
                      <a:srgbClr val="FFFFFF"/>
                    </a:solidFill>
                  </a:tcPr>
                </a:tc>
              </a:tr>
              <a:tr h="566928">
                <a:tc>
                  <a:txBody>
                    <a:bodyPr wrap="square"/>
                    <a:lstStyle/>
                    <a:p>
                      <a:pPr algn="l"/>
                      <a:r>
                        <a:rPr sz="1250" b="1" i="0">
                          <a:solidFill>
                            <a:srgbClr val="1E2126"/>
                          </a:solidFill>
                          <a:latin typeface="Arial"/>
                        </a:rPr>
                        <a:t>Sonnet</a:t>
                      </a:r>
                    </a:p>
                  </a:txBody>
                  <a:tcPr marL="128016" marR="91440" marT="45720" marB="45720" anchor="ctr">
                    <a:solidFill>
                      <a:srgbClr val="EEF2FB"/>
                    </a:solidFill>
                  </a:tcPr>
                </a:tc>
                <a:tc>
                  <a:txBody>
                    <a:bodyPr wrap="square"/>
                    <a:lstStyle/>
                    <a:p>
                      <a:pPr algn="l"/>
                      <a:r>
                        <a:rPr sz="1250" b="0" i="0">
                          <a:solidFill>
                            <a:srgbClr val="1E2126"/>
                          </a:solidFill>
                          <a:latin typeface="Arial"/>
                        </a:rPr>
                        <a:t>Balanced, everyday work</a:t>
                      </a:r>
                    </a:p>
                  </a:txBody>
                  <a:tcPr marL="128016" marR="91440" marT="45720" marB="45720" anchor="ctr">
                    <a:solidFill>
                      <a:srgbClr val="EEF2FB"/>
                    </a:solidFill>
                  </a:tcPr>
                </a:tc>
                <a:tc>
                  <a:txBody>
                    <a:bodyPr wrap="square"/>
                    <a:lstStyle/>
                    <a:p>
                      <a:pPr algn="l"/>
                      <a:r>
                        <a:rPr sz="1250" b="0" i="0">
                          <a:solidFill>
                            <a:srgbClr val="1E2126"/>
                          </a:solidFill>
                          <a:latin typeface="Arial"/>
                        </a:rPr>
                        <a:t>$$</a:t>
                      </a:r>
                    </a:p>
                  </a:txBody>
                  <a:tcPr marL="128016" marR="91440" marT="45720" marB="45720" anchor="ctr">
                    <a:solidFill>
                      <a:srgbClr val="EEF2FB"/>
                    </a:solidFill>
                  </a:tcPr>
                </a:tc>
              </a:tr>
              <a:tr h="566928">
                <a:tc>
                  <a:txBody>
                    <a:bodyPr wrap="square"/>
                    <a:lstStyle/>
                    <a:p>
                      <a:pPr algn="l"/>
                      <a:r>
                        <a:rPr sz="1250" b="1" i="0">
                          <a:solidFill>
                            <a:srgbClr val="1E2126"/>
                          </a:solidFill>
                          <a:latin typeface="Arial"/>
                        </a:rPr>
                        <a:t>Haiku</a:t>
                      </a:r>
                    </a:p>
                  </a:txBody>
                  <a:tcPr marL="128016" marR="91440" marT="45720" marB="45720" anchor="ctr">
                    <a:solidFill>
                      <a:srgbClr val="FFFFFF"/>
                    </a:solidFill>
                  </a:tcPr>
                </a:tc>
                <a:tc>
                  <a:txBody>
                    <a:bodyPr wrap="square"/>
                    <a:lstStyle/>
                    <a:p>
                      <a:pPr algn="l"/>
                      <a:r>
                        <a:rPr sz="1250" b="0" i="0">
                          <a:solidFill>
                            <a:srgbClr val="1E2126"/>
                          </a:solidFill>
                          <a:latin typeface="Arial"/>
                        </a:rPr>
                        <a:t>Fast and cheap — ideal for batch</a:t>
                      </a:r>
                    </a:p>
                  </a:txBody>
                  <a:tcPr marL="128016" marR="91440" marT="45720" marB="45720" anchor="ctr">
                    <a:solidFill>
                      <a:srgbClr val="FFFFFF"/>
                    </a:solidFill>
                  </a:tcPr>
                </a:tc>
                <a:tc>
                  <a:txBody>
                    <a:bodyPr wrap="square"/>
                    <a:lstStyle/>
                    <a:p>
                      <a:pPr algn="l"/>
                      <a:r>
                        <a:rPr sz="1250" b="0" i="0">
                          <a:solidFill>
                            <a:srgbClr val="1E2126"/>
                          </a:solidFill>
                          <a:latin typeface="Arial"/>
                        </a:rPr>
                        <a:t>$</a:t>
                      </a:r>
                    </a:p>
                  </a:txBody>
                  <a:tcPr marL="128016" marR="91440" marT="45720" marB="45720" anchor="ctr">
                    <a:solidFill>
                      <a:srgbClr val="FFFFFF"/>
                    </a:solidFill>
                  </a:tcPr>
                </a:tc>
              </a:tr>
            </a:tbl>
          </a:graphicData>
        </a:graphic>
      </p:graphicFrame>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Current models and per-token pricing: Anthropic pricing page.</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A few moves worth knowing</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400"/>
              </a:spcAft>
            </a:pPr>
            <a:r>
              <a:rPr sz="1450" b="1" i="0">
                <a:solidFill>
                  <a:srgbClr val="007482"/>
                </a:solidFill>
                <a:latin typeface="Arial"/>
              </a:rPr>
              <a:t>•  </a:t>
            </a:r>
            <a:r>
              <a:rPr sz="1450" b="1" i="0">
                <a:solidFill>
                  <a:srgbClr val="1155CC"/>
                </a:solidFill>
                <a:latin typeface="Arial"/>
              </a:rPr>
              <a:t>Shift+Tab</a:t>
            </a:r>
            <a:r>
              <a:rPr sz="1450" b="0" i="0">
                <a:solidFill>
                  <a:srgbClr val="1E2126"/>
                </a:solidFill>
                <a:latin typeface="Arial"/>
              </a:rPr>
              <a:t>  </a:t>
            </a:r>
            <a:r>
              <a:rPr sz="1450" b="0" i="0">
                <a:solidFill>
                  <a:srgbClr val="1E2126"/>
                </a:solidFill>
                <a:latin typeface="Arial"/>
              </a:rPr>
              <a:t>cycles the permission mode — ask-first, then auto-edit, then read-only plan.</a:t>
            </a:r>
          </a:p>
          <a:p>
            <a:pPr marL="274320" indent="-274320">
              <a:lnSpc>
                <a:spcPct val="108000"/>
              </a:lnSpc>
              <a:spcAft>
                <a:spcPts val="1400"/>
              </a:spcAft>
            </a:pPr>
            <a:r>
              <a:rPr sz="1450" b="1" i="0">
                <a:solidFill>
                  <a:srgbClr val="007482"/>
                </a:solidFill>
                <a:latin typeface="Arial"/>
              </a:rPr>
              <a:t>•  </a:t>
            </a:r>
            <a:r>
              <a:rPr sz="1450" b="1" i="0">
                <a:solidFill>
                  <a:srgbClr val="1155CC"/>
                </a:solidFill>
                <a:latin typeface="Arial"/>
              </a:rPr>
              <a:t>Esc, then Esc Esc</a:t>
            </a:r>
            <a:r>
              <a:rPr sz="1450" b="0" i="0">
                <a:solidFill>
                  <a:srgbClr val="1E2126"/>
                </a:solidFill>
                <a:latin typeface="Arial"/>
              </a:rPr>
              <a:t>  </a:t>
            </a:r>
            <a:r>
              <a:rPr sz="1450" b="0" i="0">
                <a:solidFill>
                  <a:srgbClr val="1E2126"/>
                </a:solidFill>
                <a:latin typeface="Arial"/>
              </a:rPr>
              <a:t>stops it; or rewinds to before its last edit (a local checkpoint).</a:t>
            </a:r>
          </a:p>
          <a:p>
            <a:pPr marL="274320" indent="-274320">
              <a:lnSpc>
                <a:spcPct val="108000"/>
              </a:lnSpc>
              <a:spcAft>
                <a:spcPts val="1400"/>
              </a:spcAft>
            </a:pPr>
            <a:r>
              <a:rPr sz="1450" b="1" i="0">
                <a:solidFill>
                  <a:srgbClr val="007482"/>
                </a:solidFill>
                <a:latin typeface="Arial"/>
              </a:rPr>
              <a:t>•  </a:t>
            </a:r>
            <a:r>
              <a:rPr sz="1450" b="1" i="0">
                <a:solidFill>
                  <a:srgbClr val="1155CC"/>
                </a:solidFill>
                <a:latin typeface="Arial"/>
              </a:rPr>
              <a:t>/cost  ·  /clear  ·  /help</a:t>
            </a:r>
            <a:r>
              <a:rPr sz="1450" b="0" i="0">
                <a:solidFill>
                  <a:srgbClr val="1E2126"/>
                </a:solidFill>
                <a:latin typeface="Arial"/>
              </a:rPr>
              <a:t>  </a:t>
            </a:r>
            <a:r>
              <a:rPr sz="1450" b="0" i="0">
                <a:solidFill>
                  <a:srgbClr val="1E2126"/>
                </a:solidFill>
                <a:latin typeface="Arial"/>
              </a:rPr>
              <a:t>check spend, clear its memory for a fresh start, or list every command.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3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Make it yours</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Teach it your project, save your prompts, add your own tools.</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36576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Everything around the model is yours to shape</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A map of what you configure. The model sits in the middle; the harness surrounds it.</a:t>
            </a:r>
          </a:p>
        </p:txBody>
      </p:sp>
      <p:pic>
        <p:nvPicPr>
          <p:cNvPr id="5" name="Picture 4" descr="image4.png"/>
          <p:cNvPicPr>
            <a:picLocks noChangeAspect="1"/>
          </p:cNvPicPr>
          <p:nvPr/>
        </p:nvPicPr>
        <p:blipFill>
          <a:blip r:embed="rId2"/>
          <a:stretch>
            <a:fillRect/>
          </a:stretch>
        </p:blipFill>
        <p:spPr>
          <a:xfrm>
            <a:off x="1653235" y="1700784"/>
            <a:ext cx="5837529"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Project memory: a file it reads every time</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007482"/>
                </a:solidFill>
                <a:latin typeface="Arial"/>
              </a:rPr>
              <a:t>CLAUDE.md</a:t>
            </a:r>
            <a:r>
              <a:rPr sz="1250" b="0" i="0">
                <a:solidFill>
                  <a:srgbClr val="555A61"/>
                </a:solidFill>
                <a:latin typeface="Arial"/>
              </a:rPr>
              <a:t> — a plain Markdown file, loaded at the start of every session in that folder.</a:t>
            </a:r>
          </a:p>
        </p:txBody>
      </p:sp>
      <p:sp>
        <p:nvSpPr>
          <p:cNvPr id="5" name="TextBox 4"/>
          <p:cNvSpPr txBox="1"/>
          <p:nvPr/>
        </p:nvSpPr>
        <p:spPr>
          <a:xfrm>
            <a:off x="548640" y="2011680"/>
            <a:ext cx="8046720" cy="2670048"/>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Write down your project's facts.</a:t>
            </a:r>
            <a:r>
              <a:rPr sz="1500" b="0" i="0">
                <a:solidFill>
                  <a:srgbClr val="1E2126"/>
                </a:solidFill>
                <a:latin typeface="Arial"/>
              </a:rPr>
              <a:t>  </a:t>
            </a:r>
            <a:r>
              <a:rPr sz="1500" b="0" i="0">
                <a:solidFill>
                  <a:srgbClr val="1E2126"/>
                </a:solidFill>
                <a:latin typeface="Arial"/>
              </a:rPr>
              <a:t>“tests live here,” “use the conda env AI,” “raw data is read-only.”</a:t>
            </a:r>
          </a:p>
          <a:p>
            <a:pPr marL="274320" indent="-274320">
              <a:lnSpc>
                <a:spcPct val="108000"/>
              </a:lnSpc>
              <a:spcAft>
                <a:spcPts val="1300"/>
              </a:spcAft>
            </a:pPr>
            <a:r>
              <a:rPr sz="1500" b="1" i="0">
                <a:solidFill>
                  <a:srgbClr val="007482"/>
                </a:solidFill>
                <a:latin typeface="Arial"/>
              </a:rPr>
              <a:t>•  </a:t>
            </a:r>
            <a:r>
              <a:rPr sz="1500" b="1" i="0">
                <a:solidFill>
                  <a:srgbClr val="007482"/>
                </a:solidFill>
                <a:latin typeface="Arial"/>
              </a:rPr>
              <a:t>/init</a:t>
            </a:r>
            <a:r>
              <a:rPr sz="1500" b="1" i="0">
                <a:solidFill>
                  <a:srgbClr val="1155CC"/>
                </a:solidFill>
                <a:latin typeface="Arial"/>
              </a:rPr>
              <a:t> writes a starter for you.</a:t>
            </a:r>
            <a:r>
              <a:rPr sz="1500" b="0" i="0">
                <a:solidFill>
                  <a:srgbClr val="1E2126"/>
                </a:solidFill>
                <a:latin typeface="Arial"/>
              </a:rPr>
              <a:t>  </a:t>
            </a:r>
            <a:r>
              <a:rPr sz="1500" b="0" i="0">
                <a:solidFill>
                  <a:srgbClr val="1E2126"/>
                </a:solidFill>
                <a:latin typeface="Arial"/>
              </a:rPr>
              <a:t>Keep it short — under about 200 lines. It is advice, not a hard rule.</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is shared, via git.</a:t>
            </a:r>
            <a:r>
              <a:rPr sz="1500" b="0" i="0">
                <a:solidFill>
                  <a:srgbClr val="1E2126"/>
                </a:solidFill>
                <a:latin typeface="Arial"/>
              </a:rPr>
              <a:t>  </a:t>
            </a:r>
            <a:r>
              <a:rPr sz="1500" b="0" i="0">
                <a:solidFill>
                  <a:srgbClr val="1E2126"/>
                </a:solidFill>
                <a:latin typeface="Arial"/>
              </a:rPr>
              <a:t>Check it in and the whole lab gets the same onboarding.</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Save a prompt you reuse: slash commands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A prompt you write once and fire by name — versioned and shared with your lab.</a:t>
            </a:r>
          </a:p>
        </p:txBody>
      </p:sp>
      <p:pic>
        <p:nvPicPr>
          <p:cNvPr id="5" name="Picture 4" descr="image13.png"/>
          <p:cNvPicPr>
            <a:picLocks noChangeAspect="1"/>
          </p:cNvPicPr>
          <p:nvPr/>
        </p:nvPicPr>
        <p:blipFill>
          <a:blip r:embed="rId2"/>
          <a:stretch>
            <a:fillRect/>
          </a:stretch>
        </p:blipFill>
        <p:spPr>
          <a:xfrm>
            <a:off x="692715" y="1700784"/>
            <a:ext cx="7758569"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Skills: abilities the model reaches for itself</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You do not call a skill — the model reaches for it when your request matches its description.</a:t>
            </a:r>
          </a:p>
        </p:txBody>
      </p:sp>
      <p:pic>
        <p:nvPicPr>
          <p:cNvPr id="5" name="Picture 4" descr="image6.png"/>
          <p:cNvPicPr>
            <a:picLocks noChangeAspect="1"/>
          </p:cNvPicPr>
          <p:nvPr/>
        </p:nvPicPr>
        <p:blipFill>
          <a:blip r:embed="rId2"/>
          <a:stretch>
            <a:fillRect/>
          </a:stretch>
        </p:blipFill>
        <p:spPr>
          <a:xfrm>
            <a:off x="1234094" y="1700784"/>
            <a:ext cx="6675811"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Agent Skills: Anthropic, "Equipping agents for the real world with Agent Skills" (2025).</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4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Staying in control</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The part that makes it safe on a shared cluster.</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48768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You decide how much it can do</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Shift+Tab cycles these. You set the mode — the model cannot change it.</a:t>
            </a:r>
          </a:p>
        </p:txBody>
      </p:sp>
      <p:graphicFrame>
        <p:nvGraphicFramePr>
          <p:cNvPr id="5" name="Table 4"/>
          <p:cNvGraphicFramePr>
            <a:graphicFrameLocks noGrp="1"/>
          </p:cNvGraphicFramePr>
          <p:nvPr/>
        </p:nvGraphicFramePr>
        <p:xfrm>
          <a:off x="548640" y="1920240"/>
          <a:ext cx="8046720" cy="2194560"/>
        </p:xfrm>
        <a:graphic>
          <a:graphicData uri="http://schemas.openxmlformats.org/drawingml/2006/table">
            <a:tbl>
              <a:tblPr firstRow="0" bandRow="0">
                <a:tableStyleId>{5C22544A-7EE6-4342-B048-85BDC9FD1C3A}</a:tableStyleId>
              </a:tblPr>
              <a:tblGrid>
                <a:gridCol w="2313432"/>
                <a:gridCol w="5733288"/>
              </a:tblGrid>
              <a:tr h="548640">
                <a:tc>
                  <a:txBody>
                    <a:bodyPr wrap="square"/>
                    <a:lstStyle/>
                    <a:p>
                      <a:pPr algn="l"/>
                      <a:r>
                        <a:rPr sz="1300" b="1" i="0">
                          <a:solidFill>
                            <a:srgbClr val="FFFFFF"/>
                          </a:solidFill>
                          <a:latin typeface="Arial"/>
                        </a:rPr>
                        <a:t>Mode</a:t>
                      </a:r>
                    </a:p>
                  </a:txBody>
                  <a:tcPr marL="128016" marR="91440" marT="45720" marB="45720" anchor="ctr">
                    <a:solidFill>
                      <a:srgbClr val="007482"/>
                    </a:solidFill>
                  </a:tcPr>
                </a:tc>
                <a:tc>
                  <a:txBody>
                    <a:bodyPr wrap="square"/>
                    <a:lstStyle/>
                    <a:p>
                      <a:pPr algn="l"/>
                      <a:r>
                        <a:rPr sz="1300" b="1" i="0">
                          <a:solidFill>
                            <a:srgbClr val="FFFFFF"/>
                          </a:solidFill>
                          <a:latin typeface="Arial"/>
                        </a:rPr>
                        <a:t>What it does</a:t>
                      </a:r>
                    </a:p>
                  </a:txBody>
                  <a:tcPr marL="128016" marR="91440" marT="45720" marB="45720" anchor="ctr">
                    <a:solidFill>
                      <a:srgbClr val="007482"/>
                    </a:solidFill>
                  </a:tcPr>
                </a:tc>
              </a:tr>
              <a:tr h="548640">
                <a:tc>
                  <a:txBody>
                    <a:bodyPr wrap="square"/>
                    <a:lstStyle/>
                    <a:p>
                      <a:pPr algn="l"/>
                      <a:r>
                        <a:rPr sz="1300" b="1" i="0">
                          <a:solidFill>
                            <a:srgbClr val="1E2126"/>
                          </a:solidFill>
                          <a:latin typeface="Arial"/>
                        </a:rPr>
                        <a:t>Ask first (default)</a:t>
                      </a:r>
                    </a:p>
                  </a:txBody>
                  <a:tcPr marL="128016" marR="91440" marT="45720" marB="45720" anchor="ctr">
                    <a:solidFill>
                      <a:srgbClr val="FFFFFF"/>
                    </a:solidFill>
                  </a:tcPr>
                </a:tc>
                <a:tc>
                  <a:txBody>
                    <a:bodyPr wrap="square"/>
                    <a:lstStyle/>
                    <a:p>
                      <a:pPr algn="l"/>
                      <a:r>
                        <a:rPr sz="1300" b="0" i="0">
                          <a:solidFill>
                            <a:srgbClr val="1E2126"/>
                          </a:solidFill>
                          <a:latin typeface="Arial"/>
                        </a:rPr>
                        <a:t>Reads freely; asks before its first edit or command</a:t>
                      </a:r>
                    </a:p>
                  </a:txBody>
                  <a:tcPr marL="128016" marR="91440" marT="45720" marB="45720" anchor="ctr">
                    <a:solidFill>
                      <a:srgbClr val="FFFFFF"/>
                    </a:solidFill>
                  </a:tcPr>
                </a:tc>
              </a:tr>
              <a:tr h="548640">
                <a:tc>
                  <a:txBody>
                    <a:bodyPr wrap="square"/>
                    <a:lstStyle/>
                    <a:p>
                      <a:pPr algn="l"/>
                      <a:r>
                        <a:rPr sz="1300" b="1" i="0">
                          <a:solidFill>
                            <a:srgbClr val="1E2126"/>
                          </a:solidFill>
                          <a:latin typeface="Arial"/>
                        </a:rPr>
                        <a:t>Accept edits</a:t>
                      </a:r>
                    </a:p>
                  </a:txBody>
                  <a:tcPr marL="128016" marR="91440" marT="45720" marB="45720" anchor="ctr">
                    <a:solidFill>
                      <a:srgbClr val="EEF2FB"/>
                    </a:solidFill>
                  </a:tcPr>
                </a:tc>
                <a:tc>
                  <a:txBody>
                    <a:bodyPr wrap="square"/>
                    <a:lstStyle/>
                    <a:p>
                      <a:pPr algn="l"/>
                      <a:r>
                        <a:rPr sz="1300" b="0" i="0">
                          <a:solidFill>
                            <a:srgbClr val="1E2126"/>
                          </a:solidFill>
                          <a:latin typeface="Arial"/>
                        </a:rPr>
                        <a:t>Approves its own edits inside the current folder</a:t>
                      </a:r>
                    </a:p>
                  </a:txBody>
                  <a:tcPr marL="128016" marR="91440" marT="45720" marB="45720" anchor="ctr">
                    <a:solidFill>
                      <a:srgbClr val="EEF2FB"/>
                    </a:solidFill>
                  </a:tcPr>
                </a:tc>
              </a:tr>
              <a:tr h="548640">
                <a:tc>
                  <a:txBody>
                    <a:bodyPr wrap="square"/>
                    <a:lstStyle/>
                    <a:p>
                      <a:pPr algn="l"/>
                      <a:r>
                        <a:rPr sz="1300" b="1" i="0">
                          <a:solidFill>
                            <a:srgbClr val="1E2126"/>
                          </a:solidFill>
                          <a:latin typeface="Arial"/>
                        </a:rPr>
                        <a:t>Plan</a:t>
                      </a:r>
                    </a:p>
                  </a:txBody>
                  <a:tcPr marL="128016" marR="91440" marT="45720" marB="45720" anchor="ctr">
                    <a:solidFill>
                      <a:srgbClr val="FFFFFF"/>
                    </a:solidFill>
                  </a:tcPr>
                </a:tc>
                <a:tc>
                  <a:txBody>
                    <a:bodyPr wrap="square"/>
                    <a:lstStyle/>
                    <a:p>
                      <a:pPr algn="l"/>
                      <a:r>
                        <a:rPr sz="1300" b="0" i="0">
                          <a:solidFill>
                            <a:srgbClr val="1E2126"/>
                          </a:solidFill>
                          <a:latin typeface="Arial"/>
                        </a:rPr>
                        <a:t>Read-only — it proposes changes but makes none</a:t>
                      </a:r>
                    </a:p>
                  </a:txBody>
                  <a:tcPr marL="128016" marR="91440" marT="45720" marB="45720" anchor="ctr">
                    <a:solidFill>
                      <a:srgbClr val="FFFFFF"/>
                    </a:solidFill>
                  </a:tcPr>
                </a:tc>
              </a:tr>
            </a:tbl>
          </a:graphicData>
        </a:graphic>
      </p:graphicFrame>
      <p:sp>
        <p:nvSpPr>
          <p:cNvPr id="6" name="TextBox 5"/>
          <p:cNvSpPr txBox="1"/>
          <p:nvPr/>
        </p:nvSpPr>
        <p:spPr>
          <a:xfrm>
            <a:off x="548640" y="4160520"/>
            <a:ext cx="8046720" cy="411480"/>
          </a:xfrm>
          <a:prstGeom prst="rect">
            <a:avLst/>
          </a:prstGeom>
          <a:noFill/>
        </p:spPr>
        <p:txBody>
          <a:bodyPr wrap="square" anchor="t" lIns="0" rIns="0" tIns="0" bIns="0">
            <a:spAutoFit/>
          </a:bodyPr>
          <a:lstStyle/>
          <a:p>
            <a:r>
              <a:rPr sz="1100" b="0" i="1">
                <a:solidFill>
                  <a:srgbClr val="555A61"/>
                </a:solidFill>
                <a:latin typeface="Arial"/>
              </a:rPr>
              <a:t>A fourth mode skips all checks — only ever in a throwaway container or VM, never on shared files.</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Before anything risky, it stops and asks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You choose: allow once, always allow this kind, or say no and redirect it.</a:t>
            </a:r>
          </a:p>
        </p:txBody>
      </p:sp>
      <p:pic>
        <p:nvPicPr>
          <p:cNvPr id="5" name="Picture 4" descr="image19.png"/>
          <p:cNvPicPr>
            <a:picLocks noChangeAspect="1"/>
          </p:cNvPicPr>
          <p:nvPr/>
        </p:nvPicPr>
        <p:blipFill>
          <a:blip r:embed="rId2"/>
          <a:stretch>
            <a:fillRect/>
          </a:stretch>
        </p:blipFill>
        <p:spPr>
          <a:xfrm>
            <a:off x="1832728" y="1700784"/>
            <a:ext cx="5478542"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Rules live in a settings file — and a deny always wins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Listed in </a:t>
            </a:r>
            <a:r>
              <a:rPr sz="1250" b="0" i="0">
                <a:solidFill>
                  <a:srgbClr val="007482"/>
                </a:solidFill>
                <a:latin typeface="Arial"/>
              </a:rPr>
              <a:t>.claude/settings.json</a:t>
            </a:r>
            <a:r>
              <a:rPr sz="1250" b="0" i="0">
                <a:solidFill>
                  <a:srgbClr val="555A61"/>
                </a:solidFill>
                <a:latin typeface="Arial"/>
              </a:rPr>
              <a:t>. A hook can also veto, as we will see next.</a:t>
            </a:r>
          </a:p>
        </p:txBody>
      </p:sp>
      <p:pic>
        <p:nvPicPr>
          <p:cNvPr id="5" name="Picture 4" descr="image7.png"/>
          <p:cNvPicPr>
            <a:picLocks noChangeAspect="1"/>
          </p:cNvPicPr>
          <p:nvPr/>
        </p:nvPicPr>
        <p:blipFill>
          <a:blip r:embed="rId2"/>
          <a:stretch>
            <a:fillRect/>
          </a:stretch>
        </p:blipFill>
        <p:spPr>
          <a:xfrm>
            <a:off x="1858006" y="1700784"/>
            <a:ext cx="5427987"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Precedence and rule syntax: Anthropic, Claude Code permissions docs.</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Hooks: a check the program cannot skip</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Set it once in </a:t>
            </a:r>
            <a:r>
              <a:rPr sz="1250" b="0" i="0">
                <a:solidFill>
                  <a:srgbClr val="007482"/>
                </a:solidFill>
                <a:latin typeface="Arial"/>
              </a:rPr>
              <a:t>settings.json</a:t>
            </a:r>
            <a:r>
              <a:rPr sz="1250" b="0" i="0">
                <a:solidFill>
                  <a:srgbClr val="555A61"/>
                </a:solidFill>
                <a:latin typeface="Arial"/>
              </a:rPr>
              <a:t>; it runs before the tool, on every matching event.</a:t>
            </a:r>
          </a:p>
        </p:txBody>
      </p:sp>
      <p:pic>
        <p:nvPicPr>
          <p:cNvPr id="5" name="Picture 4" descr="image14.png"/>
          <p:cNvPicPr>
            <a:picLocks noChangeAspect="1"/>
          </p:cNvPicPr>
          <p:nvPr/>
        </p:nvPicPr>
        <p:blipFill>
          <a:blip r:embed="rId2"/>
          <a:stretch>
            <a:fillRect/>
          </a:stretch>
        </p:blipFill>
        <p:spPr>
          <a:xfrm>
            <a:off x="1065503" y="1700784"/>
            <a:ext cx="7012993"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Safe on a shared cluster</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Use the permission ladder.</a:t>
            </a:r>
            <a:r>
              <a:rPr sz="1500" b="0" i="0">
                <a:solidFill>
                  <a:srgbClr val="1E2126"/>
                </a:solidFill>
                <a:latin typeface="Arial"/>
              </a:rPr>
              <a:t>  </a:t>
            </a:r>
            <a:r>
              <a:rPr sz="1500" b="0" i="0">
                <a:solidFill>
                  <a:srgbClr val="1E2126"/>
                </a:solidFill>
                <a:latin typeface="Arial"/>
              </a:rPr>
              <a:t>Plan to explore; auto-edit only in a clean git repo; never bypass on shared files.</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can read what you can.</a:t>
            </a:r>
            <a:r>
              <a:rPr sz="1500" b="0" i="0">
                <a:solidFill>
                  <a:srgbClr val="1E2126"/>
                </a:solidFill>
                <a:latin typeface="Arial"/>
              </a:rPr>
              <a:t>  </a:t>
            </a:r>
            <a:r>
              <a:rPr sz="1500" b="0" i="0">
                <a:solidFill>
                  <a:srgbClr val="1E2126"/>
                </a:solidFill>
                <a:latin typeface="Arial"/>
              </a:rPr>
              <a:t>Start it in your project folder, and deny sensitive paths (e.g. </a:t>
            </a:r>
            <a:r>
              <a:rPr sz="1500" b="0" i="0">
                <a:solidFill>
                  <a:srgbClr val="007482"/>
                </a:solidFill>
                <a:latin typeface="Arial"/>
              </a:rPr>
              <a:t>~/.ssh</a:t>
            </a:r>
            <a:r>
              <a:rPr sz="1500" b="0" i="0">
                <a:solidFill>
                  <a:srgbClr val="1E2126"/>
                </a:solidFill>
                <a:latin typeface="Arial"/>
              </a:rPr>
              <a:t>, </a:t>
            </a:r>
            <a:r>
              <a:rPr sz="1500" b="0" i="0">
                <a:solidFill>
                  <a:srgbClr val="007482"/>
                </a:solidFill>
                <a:latin typeface="Arial"/>
              </a:rPr>
              <a:t>.env</a:t>
            </a:r>
            <a:r>
              <a:rPr sz="1500" b="0" i="0">
                <a:solidFill>
                  <a:srgbClr val="1E2126"/>
                </a:solidFill>
                <a:latin typeface="Arial"/>
              </a:rPr>
              <a:t>).</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Keep secrets out of jobs.</a:t>
            </a:r>
            <a:r>
              <a:rPr sz="1500" b="0" i="0">
                <a:solidFill>
                  <a:srgbClr val="1E2126"/>
                </a:solidFill>
                <a:latin typeface="Arial"/>
              </a:rPr>
              <a:t>  </a:t>
            </a:r>
            <a:r>
              <a:rPr sz="1500" b="0" i="0">
                <a:solidFill>
                  <a:srgbClr val="1E2126"/>
                </a:solidFill>
                <a:latin typeface="Arial"/>
              </a:rPr>
              <a:t>Log in with the token, not a raw API key, so nothing secret rides into a batch job.</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5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Scaling up</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From one command to a batch — and out to your own cluster tools.</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60960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One command, a structured answer</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One turn in, one machine-readable object out — the building block of every pipeline.</a:t>
            </a:r>
          </a:p>
        </p:txBody>
      </p:sp>
      <p:pic>
        <p:nvPicPr>
          <p:cNvPr id="5" name="Picture 4" descr="image5.png"/>
          <p:cNvPicPr>
            <a:picLocks noChangeAspect="1"/>
          </p:cNvPicPr>
          <p:nvPr/>
        </p:nvPicPr>
        <p:blipFill>
          <a:blip r:embed="rId2"/>
          <a:stretch>
            <a:fillRect/>
          </a:stretch>
        </p:blipFill>
        <p:spPr>
          <a:xfrm>
            <a:off x="365760" y="1918863"/>
            <a:ext cx="8412480" cy="2691089"/>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From one call to a Slurm batch</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One call is the unit of a batch job — loop it, sum the cost, submit it.</a:t>
            </a:r>
          </a:p>
        </p:txBody>
      </p:sp>
      <p:pic>
        <p:nvPicPr>
          <p:cNvPr id="5" name="Picture 4" descr="image9.png"/>
          <p:cNvPicPr>
            <a:picLocks noChangeAspect="1"/>
          </p:cNvPicPr>
          <p:nvPr/>
        </p:nvPicPr>
        <p:blipFill>
          <a:blip r:embed="rId2"/>
          <a:stretch>
            <a:fillRect/>
          </a:stretch>
        </p:blipFill>
        <p:spPr>
          <a:xfrm>
            <a:off x="565213" y="1700784"/>
            <a:ext cx="8013573" cy="3127248"/>
          </a:xfrm>
          <a:prstGeom prst="rect">
            <a:avLst/>
          </a:prstGeom>
        </p:spPr>
      </p:pic>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Give it your own tools with MCP</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The Model Context Protocol (MCP) is an open standard — the same tool server works in any MCP-aware app.</a:t>
            </a:r>
          </a:p>
        </p:txBody>
      </p:sp>
      <p:pic>
        <p:nvPicPr>
          <p:cNvPr id="5" name="Picture 4" descr="image15.png"/>
          <p:cNvPicPr>
            <a:picLocks noChangeAspect="1"/>
          </p:cNvPicPr>
          <p:nvPr/>
        </p:nvPicPr>
        <p:blipFill>
          <a:blip r:embed="rId2"/>
          <a:stretch>
            <a:fillRect/>
          </a:stretch>
        </p:blipFill>
        <p:spPr>
          <a:xfrm>
            <a:off x="1732046" y="1700784"/>
            <a:ext cx="5679906" cy="2980944"/>
          </a:xfrm>
          <a:prstGeom prst="rect">
            <a:avLst/>
          </a:prstGeom>
        </p:spPr>
      </p:pic>
      <p:sp>
        <p:nvSpPr>
          <p:cNvPr id="6" name="TextBox 5"/>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MCP: Anthropic, "Introducing the Model Context Protocol" (2024); modelcontextprotocol.io.</a:t>
            </a:r>
          </a:p>
        </p:txBody>
      </p:sp>
      <p:sp>
        <p:nvSpPr>
          <p:cNvPr id="7" name="TextBox 6"/>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1155CC"/>
                </a:solidFill>
                <a:latin typeface="Arial"/>
              </a:rPr>
              <a:t>PART 6 OF 6</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Trust and honest limits</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Non-negotiable on shared research infrastructure.</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7315200" cy="54864"/>
          </a:xfrm>
          <a:prstGeom prst="rect">
            <a:avLst/>
          </a:prstGeom>
          <a:solidFill>
            <a:srgbClr val="1155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The real risk is trust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600"/>
              </a:spcAft>
            </a:pPr>
            <a:r>
              <a:rPr sz="1500" b="1" i="0">
                <a:solidFill>
                  <a:srgbClr val="007482"/>
                </a:solidFill>
                <a:latin typeface="Arial"/>
              </a:rPr>
              <a:t>•  </a:t>
            </a:r>
            <a:r>
              <a:rPr sz="1500" b="1" i="0">
                <a:solidFill>
                  <a:srgbClr val="1155CC"/>
                </a:solidFill>
                <a:latin typeface="Arial"/>
              </a:rPr>
              <a:t>Prompt injection is real.</a:t>
            </a:r>
            <a:r>
              <a:rPr sz="1500" b="0" i="0">
                <a:solidFill>
                  <a:srgbClr val="1E2126"/>
                </a:solidFill>
                <a:latin typeface="Arial"/>
              </a:rPr>
              <a:t>  </a:t>
            </a:r>
            <a:r>
              <a:rPr sz="1500" b="0" i="0">
                <a:solidFill>
                  <a:srgbClr val="1E2126"/>
                </a:solidFill>
                <a:latin typeface="Arial"/>
              </a:rPr>
              <a:t>A web page, a pull request, or a tool's output can carry hidden instructions.</a:t>
            </a:r>
          </a:p>
          <a:p>
            <a:pPr marL="274320" indent="-274320">
              <a:lnSpc>
                <a:spcPct val="108000"/>
              </a:lnSpc>
              <a:spcAft>
                <a:spcPts val="1600"/>
              </a:spcAft>
            </a:pPr>
            <a:r>
              <a:rPr sz="1500" b="1" i="0">
                <a:solidFill>
                  <a:srgbClr val="007482"/>
                </a:solidFill>
                <a:latin typeface="Arial"/>
              </a:rPr>
              <a:t>•  </a:t>
            </a:r>
            <a:r>
              <a:rPr sz="1500" b="1" i="0">
                <a:solidFill>
                  <a:srgbClr val="1155CC"/>
                </a:solidFill>
                <a:latin typeface="Arial"/>
              </a:rPr>
              <a:t>A skill or tool is software.</a:t>
            </a:r>
            <a:r>
              <a:rPr sz="1500" b="0" i="0">
                <a:solidFill>
                  <a:srgbClr val="1E2126"/>
                </a:solidFill>
                <a:latin typeface="Arial"/>
              </a:rPr>
              <a:t>  </a:t>
            </a:r>
            <a:r>
              <a:rPr sz="1500" b="0" i="0">
                <a:solidFill>
                  <a:srgbClr val="1E2126"/>
                </a:solidFill>
                <a:latin typeface="Arial"/>
              </a:rPr>
              <a:t>Installing one runs its code as you — accept only tools and hooks you trust.</a:t>
            </a:r>
          </a:p>
        </p:txBody>
      </p:sp>
      <p:sp>
        <p:nvSpPr>
          <p:cNvPr id="5" name="TextBox 4"/>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OWASP Gen AI Security Project, "LLM01:2025 Prompt Injection."</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Your data, and your obligations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Restricted data needs approval.</a:t>
            </a:r>
            <a:r>
              <a:rPr sz="1500" b="0" i="0">
                <a:solidFill>
                  <a:srgbClr val="1E2126"/>
                </a:solidFill>
                <a:latin typeface="Arial"/>
              </a:rPr>
              <a:t>  </a:t>
            </a:r>
            <a:r>
              <a:rPr sz="1500" b="0" i="0">
                <a:solidFill>
                  <a:srgbClr val="1E2126"/>
                </a:solidFill>
                <a:latin typeface="Arial"/>
              </a:rPr>
              <a:t>IRB, PHI, or export-controlled data must clear institutional review first.</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Disclose AI assistance.</a:t>
            </a:r>
            <a:r>
              <a:rPr sz="1500" b="0" i="0">
                <a:solidFill>
                  <a:srgbClr val="1E2126"/>
                </a:solidFill>
                <a:latin typeface="Arial"/>
              </a:rPr>
              <a:t>  </a:t>
            </a:r>
            <a:r>
              <a:rPr sz="1500" b="0" i="0">
                <a:solidFill>
                  <a:srgbClr val="1E2126"/>
                </a:solidFill>
                <a:latin typeface="Arial"/>
              </a:rPr>
              <a:t>Follow your venue's policy, and keep the transcript as a record.</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Generated code is still yours.</a:t>
            </a:r>
            <a:r>
              <a:rPr sz="1500" b="0" i="0">
                <a:solidFill>
                  <a:srgbClr val="1E2126"/>
                </a:solidFill>
                <a:latin typeface="Arial"/>
              </a:rPr>
              <a:t>  </a:t>
            </a:r>
            <a:r>
              <a:rPr sz="1500" b="0" i="0">
                <a:solidFill>
                  <a:srgbClr val="1E2126"/>
                </a:solidFill>
                <a:latin typeface="Arial"/>
              </a:rPr>
              <a:t>Review and license it like any other dependency you take on.</a:t>
            </a:r>
          </a:p>
        </p:txBody>
      </p:sp>
      <p:sp>
        <p:nvSpPr>
          <p:cNvPr id="5" name="TextBox 4"/>
          <p:cNvSpPr txBox="1"/>
          <p:nvPr/>
        </p:nvSpPr>
        <p:spPr>
          <a:xfrm>
            <a:off x="548640" y="4791456"/>
            <a:ext cx="7315200" cy="274320"/>
          </a:xfrm>
          <a:prstGeom prst="rect">
            <a:avLst/>
          </a:prstGeom>
          <a:noFill/>
        </p:spPr>
        <p:txBody>
          <a:bodyPr wrap="square" anchor="ctr" lIns="0" rIns="0" tIns="0" bIns="0">
            <a:spAutoFit/>
          </a:bodyPr>
          <a:lstStyle/>
          <a:p>
            <a:r>
              <a:rPr sz="900" b="0" i="1">
                <a:solidFill>
                  <a:srgbClr val="989EA6"/>
                </a:solidFill>
                <a:latin typeface="Arial"/>
              </a:rPr>
              <a:t>Anthropic Privacy Center, "Is my data used for model training?"</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Where it falls short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can be confidently wrong.</a:t>
            </a:r>
            <a:r>
              <a:rPr sz="1500" b="0" i="0">
                <a:solidFill>
                  <a:srgbClr val="1E2126"/>
                </a:solidFill>
                <a:latin typeface="Arial"/>
              </a:rPr>
              <a:t>  </a:t>
            </a:r>
            <a:r>
              <a:rPr sz="1500" b="0" i="0">
                <a:solidFill>
                  <a:srgbClr val="1E2126"/>
                </a:solidFill>
                <a:latin typeface="Arial"/>
              </a:rPr>
              <a:t>Invented functions, plausible-but-broken fixes — verify everything it produces.</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It is not reproducible bit-for-bit.</a:t>
            </a:r>
            <a:r>
              <a:rPr sz="1500" b="0" i="0">
                <a:solidFill>
                  <a:srgbClr val="1E2126"/>
                </a:solidFill>
                <a:latin typeface="Arial"/>
              </a:rPr>
              <a:t>  </a:t>
            </a:r>
            <a:r>
              <a:rPr sz="1500" b="0" i="0">
                <a:solidFill>
                  <a:srgbClr val="1E2126"/>
                </a:solidFill>
                <a:latin typeface="Arial"/>
              </a:rPr>
              <a:t>The model samples, so two runs can differ. Pin what must be exact.</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Skip it for trivia or the unverifiable.</a:t>
            </a:r>
            <a:r>
              <a:rPr sz="1500" b="0" i="0">
                <a:solidFill>
                  <a:srgbClr val="1E2126"/>
                </a:solidFill>
                <a:latin typeface="Arial"/>
              </a:rPr>
              <a:t>  </a:t>
            </a:r>
            <a:r>
              <a:rPr sz="1500" b="0" i="0">
                <a:solidFill>
                  <a:srgbClr val="1E2126"/>
                </a:solidFill>
                <a:latin typeface="Arial"/>
              </a:rPr>
              <a:t>If you genuinely cannot check the output, do not ship it.</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007482"/>
                </a:solidFill>
                <a:latin typeface="Arial"/>
              </a:rPr>
              <a:t>HANDS-ON LAB</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Now you try it</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On a real dataset — Claude does the analysis, you review the results.</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7315200" cy="54864"/>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The lab: analyze a real dataset</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A flat folder of Markdown task cards and a </a:t>
            </a:r>
            <a:r>
              <a:rPr sz="1250" b="0" i="0">
                <a:solidFill>
                  <a:srgbClr val="007482"/>
                </a:solidFill>
                <a:latin typeface="Arial"/>
              </a:rPr>
              <a:t>CLAUDE.md</a:t>
            </a:r>
            <a:r>
              <a:rPr sz="1250" b="0" i="0">
                <a:solidFill>
                  <a:srgbClr val="555A61"/>
                </a:solidFill>
                <a:latin typeface="Arial"/>
              </a:rPr>
              <a:t> — no notebook, no setup, nothing to download.</a:t>
            </a:r>
          </a:p>
        </p:txBody>
      </p:sp>
      <p:sp>
        <p:nvSpPr>
          <p:cNvPr id="5" name="TextBox 4"/>
          <p:cNvSpPr txBox="1"/>
          <p:nvPr/>
        </p:nvSpPr>
        <p:spPr>
          <a:xfrm>
            <a:off x="548640" y="2011680"/>
            <a:ext cx="8046720" cy="2670048"/>
          </a:xfrm>
          <a:prstGeom prst="rect">
            <a:avLst/>
          </a:prstGeom>
          <a:noFill/>
        </p:spPr>
        <p:txBody>
          <a:bodyPr wrap="square" anchor="t" lIns="0" rIns="0" tIns="0" bIns="0">
            <a:spAutoFit/>
          </a:bodyPr>
          <a:lstStyle/>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The data lives online.</a:t>
            </a:r>
            <a:r>
              <a:rPr sz="1500" b="0" i="0">
                <a:solidFill>
                  <a:srgbClr val="1E2126"/>
                </a:solidFill>
                <a:latin typeface="Arial"/>
              </a:rPr>
              <a:t>  </a:t>
            </a:r>
            <a:r>
              <a:rPr sz="1500" b="0" i="0">
                <a:solidFill>
                  <a:srgbClr val="1E2126"/>
                </a:solidFill>
                <a:latin typeface="Arial"/>
              </a:rPr>
              <a:t>Palmer Penguins — 344 field measurements — read straight from a URL.</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You ask; it analyzes.</a:t>
            </a:r>
            <a:r>
              <a:rPr sz="1500" b="0" i="0">
                <a:solidFill>
                  <a:srgbClr val="1E2126"/>
                </a:solidFill>
                <a:latin typeface="Arial"/>
              </a:rPr>
              <a:t>  </a:t>
            </a:r>
            <a:r>
              <a:rPr sz="1500" b="0" i="0">
                <a:solidFill>
                  <a:srgbClr val="1E2126"/>
                </a:solidFill>
                <a:latin typeface="Arial"/>
              </a:rPr>
              <a:t>Open </a:t>
            </a:r>
            <a:r>
              <a:rPr sz="1500" b="0" i="0">
                <a:solidFill>
                  <a:srgbClr val="007482"/>
                </a:solidFill>
                <a:latin typeface="Arial"/>
              </a:rPr>
              <a:t>claude</a:t>
            </a:r>
            <a:r>
              <a:rPr sz="1500" b="0" i="0">
                <a:solidFill>
                  <a:srgbClr val="1E2126"/>
                </a:solidFill>
                <a:latin typeface="Arial"/>
              </a:rPr>
              <a:t> in the </a:t>
            </a:r>
            <a:r>
              <a:rPr sz="1500" b="0" i="0">
                <a:solidFill>
                  <a:srgbClr val="007482"/>
                </a:solidFill>
                <a:latin typeface="Arial"/>
              </a:rPr>
              <a:t>hands-on</a:t>
            </a:r>
            <a:r>
              <a:rPr sz="1500" b="0" i="0">
                <a:solidFill>
                  <a:srgbClr val="1E2126"/>
                </a:solidFill>
                <a:latin typeface="Arial"/>
              </a:rPr>
              <a:t> folder and paste each task card — it writes and runs the analysis and reports back.</a:t>
            </a:r>
          </a:p>
          <a:p>
            <a:pPr marL="274320" indent="-274320">
              <a:lnSpc>
                <a:spcPct val="108000"/>
              </a:lnSpc>
              <a:spcAft>
                <a:spcPts val="1300"/>
              </a:spcAft>
            </a:pPr>
            <a:r>
              <a:rPr sz="1500" b="1" i="0">
                <a:solidFill>
                  <a:srgbClr val="007482"/>
                </a:solidFill>
                <a:latin typeface="Arial"/>
              </a:rPr>
              <a:t>•  </a:t>
            </a:r>
            <a:r>
              <a:rPr sz="1500" b="1" i="0">
                <a:solidFill>
                  <a:srgbClr val="1155CC"/>
                </a:solidFill>
                <a:latin typeface="Arial"/>
              </a:rPr>
              <a:t>You stay the reviewer.</a:t>
            </a:r>
            <a:r>
              <a:rPr sz="1500" b="0" i="0">
                <a:solidFill>
                  <a:srgbClr val="1E2126"/>
                </a:solidFill>
                <a:latin typeface="Arial"/>
              </a:rPr>
              <a:t>  </a:t>
            </a:r>
            <a:r>
              <a:rPr sz="1500" b="0" i="0">
                <a:solidFill>
                  <a:srgbClr val="1E2126"/>
                </a:solidFill>
                <a:latin typeface="Arial"/>
              </a:rPr>
              <a:t>Approve each step, then check its numbers — an agent can be confidently wrong.</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The tasks map to what you just learned</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33856"/>
            <a:ext cx="8046720" cy="502920"/>
          </a:xfrm>
          <a:prstGeom prst="rect">
            <a:avLst/>
          </a:prstGeom>
          <a:noFill/>
        </p:spPr>
        <p:txBody>
          <a:bodyPr wrap="square" anchor="t" lIns="0" rIns="0" tIns="0" bIns="0">
            <a:spAutoFit/>
          </a:bodyPr>
          <a:lstStyle/>
          <a:p>
            <a:r>
              <a:rPr sz="1250" b="0" i="0">
                <a:solidFill>
                  <a:srgbClr val="555A61"/>
                </a:solidFill>
                <a:latin typeface="Arial"/>
              </a:rPr>
              <a:t>Seven short analyses — Claude does the work, you check it — then a bonus on your own data.</a:t>
            </a:r>
          </a:p>
        </p:txBody>
      </p:sp>
      <p:graphicFrame>
        <p:nvGraphicFramePr>
          <p:cNvPr id="5" name="Table 4"/>
          <p:cNvGraphicFramePr>
            <a:graphicFrameLocks noGrp="1"/>
          </p:cNvGraphicFramePr>
          <p:nvPr/>
        </p:nvGraphicFramePr>
        <p:xfrm>
          <a:off x="548640" y="1920240"/>
          <a:ext cx="8046720" cy="2633472"/>
        </p:xfrm>
        <a:graphic>
          <a:graphicData uri="http://schemas.openxmlformats.org/drawingml/2006/table">
            <a:tbl>
              <a:tblPr firstRow="0" bandRow="0">
                <a:tableStyleId>{5C22544A-7EE6-4342-B048-85BDC9FD1C3A}</a:tableStyleId>
              </a:tblPr>
              <a:tblGrid>
                <a:gridCol w="2715768"/>
                <a:gridCol w="5330952"/>
              </a:tblGrid>
              <a:tr h="329184">
                <a:tc>
                  <a:txBody>
                    <a:bodyPr wrap="square"/>
                    <a:lstStyle/>
                    <a:p>
                      <a:pPr algn="l"/>
                      <a:r>
                        <a:rPr sz="1200" b="1" i="0">
                          <a:solidFill>
                            <a:srgbClr val="FFFFFF"/>
                          </a:solidFill>
                          <a:latin typeface="Arial"/>
                        </a:rPr>
                        <a:t>Task</a:t>
                      </a:r>
                    </a:p>
                  </a:txBody>
                  <a:tcPr marL="128016" marR="91440" marT="45720" marB="45720" anchor="ctr">
                    <a:solidFill>
                      <a:srgbClr val="007482"/>
                    </a:solidFill>
                  </a:tcPr>
                </a:tc>
                <a:tc>
                  <a:txBody>
                    <a:bodyPr wrap="square"/>
                    <a:lstStyle/>
                    <a:p>
                      <a:pPr algn="l"/>
                      <a:r>
                        <a:rPr sz="1200" b="1" i="0">
                          <a:solidFill>
                            <a:srgbClr val="FFFFFF"/>
                          </a:solidFill>
                          <a:latin typeface="Arial"/>
                        </a:rPr>
                        <a:t>You practice</a:t>
                      </a:r>
                    </a:p>
                  </a:txBody>
                  <a:tcPr marL="128016" marR="91440" marT="45720" marB="45720" anchor="ctr">
                    <a:solidFill>
                      <a:srgbClr val="007482"/>
                    </a:solidFill>
                  </a:tcPr>
                </a:tc>
              </a:tr>
              <a:tr h="329184">
                <a:tc>
                  <a:txBody>
                    <a:bodyPr wrap="square"/>
                    <a:lstStyle/>
                    <a:p>
                      <a:pPr algn="l"/>
                      <a:r>
                        <a:rPr sz="1100" b="1" i="0">
                          <a:solidFill>
                            <a:srgbClr val="1E2126"/>
                          </a:solidFill>
                          <a:latin typeface="Arial"/>
                        </a:rPr>
                        <a:t>1 · First look</a:t>
                      </a:r>
                    </a:p>
                  </a:txBody>
                  <a:tcPr marL="128016" marR="91440" marT="45720" marB="45720" anchor="ctr">
                    <a:solidFill>
                      <a:srgbClr val="FFFFFF"/>
                    </a:solidFill>
                  </a:tcPr>
                </a:tc>
                <a:tc>
                  <a:txBody>
                    <a:bodyPr wrap="square"/>
                    <a:lstStyle/>
                    <a:p>
                      <a:pPr algn="l"/>
                      <a:r>
                        <a:rPr sz="1100" b="0" i="0">
                          <a:solidFill>
                            <a:srgbClr val="1E2126"/>
                          </a:solidFill>
                          <a:latin typeface="Arial"/>
                        </a:rPr>
                        <a:t>reading remote data; project memory (CLAUDE.md)</a:t>
                      </a:r>
                    </a:p>
                  </a:txBody>
                  <a:tcPr marL="128016" marR="91440" marT="45720" marB="45720" anchor="ctr">
                    <a:solidFill>
                      <a:srgbClr val="FFFFFF"/>
                    </a:solidFill>
                  </a:tcPr>
                </a:tc>
              </a:tr>
              <a:tr h="329184">
                <a:tc>
                  <a:txBody>
                    <a:bodyPr wrap="square"/>
                    <a:lstStyle/>
                    <a:p>
                      <a:pPr algn="l"/>
                      <a:r>
                        <a:rPr sz="1100" b="1" i="0">
                          <a:solidFill>
                            <a:srgbClr val="1E2126"/>
                          </a:solidFill>
                          <a:latin typeface="Arial"/>
                        </a:rPr>
                        <a:t>2 · Summary by species</a:t>
                      </a:r>
                    </a:p>
                  </a:txBody>
                  <a:tcPr marL="128016" marR="91440" marT="45720" marB="45720" anchor="ctr">
                    <a:solidFill>
                      <a:srgbClr val="EEF2FB"/>
                    </a:solidFill>
                  </a:tcPr>
                </a:tc>
                <a:tc>
                  <a:txBody>
                    <a:bodyPr wrap="square"/>
                    <a:lstStyle/>
                    <a:p>
                      <a:pPr algn="l"/>
                      <a:r>
                        <a:rPr sz="1100" b="0" i="0">
                          <a:solidFill>
                            <a:srgbClr val="1E2126"/>
                          </a:solidFill>
                          <a:latin typeface="Arial"/>
                        </a:rPr>
                        <a:t>group-and-summarize, reported as a table</a:t>
                      </a:r>
                    </a:p>
                  </a:txBody>
                  <a:tcPr marL="128016" marR="91440" marT="45720" marB="45720" anchor="ctr">
                    <a:solidFill>
                      <a:srgbClr val="EEF2FB"/>
                    </a:solidFill>
                  </a:tcPr>
                </a:tc>
              </a:tr>
              <a:tr h="329184">
                <a:tc>
                  <a:txBody>
                    <a:bodyPr wrap="square"/>
                    <a:lstStyle/>
                    <a:p>
                      <a:pPr algn="l"/>
                      <a:r>
                        <a:rPr sz="1100" b="1" i="0">
                          <a:solidFill>
                            <a:srgbClr val="1E2126"/>
                          </a:solidFill>
                          <a:latin typeface="Arial"/>
                        </a:rPr>
                        <a:t>3 · The heaviest species</a:t>
                      </a:r>
                    </a:p>
                  </a:txBody>
                  <a:tcPr marL="128016" marR="91440" marT="45720" marB="45720" anchor="ctr">
                    <a:solidFill>
                      <a:srgbClr val="FFFFFF"/>
                    </a:solidFill>
                  </a:tcPr>
                </a:tc>
                <a:tc>
                  <a:txBody>
                    <a:bodyPr wrap="square"/>
                    <a:lstStyle/>
                    <a:p>
                      <a:pPr algn="l"/>
                      <a:r>
                        <a:rPr sz="1100" b="0" i="0">
                          <a:solidFill>
                            <a:srgbClr val="1E2126"/>
                          </a:solidFill>
                          <a:latin typeface="Arial"/>
                        </a:rPr>
                        <a:t>a comparison and a judgment call</a:t>
                      </a:r>
                    </a:p>
                  </a:txBody>
                  <a:tcPr marL="128016" marR="91440" marT="45720" marB="45720" anchor="ctr">
                    <a:solidFill>
                      <a:srgbClr val="FFFFFF"/>
                    </a:solidFill>
                  </a:tcPr>
                </a:tc>
              </a:tr>
              <a:tr h="329184">
                <a:tc>
                  <a:txBody>
                    <a:bodyPr wrap="square"/>
                    <a:lstStyle/>
                    <a:p>
                      <a:pPr algn="l"/>
                      <a:r>
                        <a:rPr sz="1100" b="1" i="0">
                          <a:solidFill>
                            <a:srgbClr val="1E2126"/>
                          </a:solidFill>
                          <a:latin typeface="Arial"/>
                        </a:rPr>
                        <a:t>4 · Flipper vs body mass</a:t>
                      </a:r>
                    </a:p>
                  </a:txBody>
                  <a:tcPr marL="128016" marR="91440" marT="45720" marB="45720" anchor="ctr">
                    <a:solidFill>
                      <a:srgbClr val="EEF2FB"/>
                    </a:solidFill>
                  </a:tcPr>
                </a:tc>
                <a:tc>
                  <a:txBody>
                    <a:bodyPr wrap="square"/>
                    <a:lstStyle/>
                    <a:p>
                      <a:pPr algn="l"/>
                      <a:r>
                        <a:rPr sz="1100" b="0" i="0">
                          <a:solidFill>
                            <a:srgbClr val="1E2126"/>
                          </a:solidFill>
                          <a:latin typeface="Arial"/>
                        </a:rPr>
                        <a:t>correlations — overall and within groups</a:t>
                      </a:r>
                    </a:p>
                  </a:txBody>
                  <a:tcPr marL="128016" marR="91440" marT="45720" marB="45720" anchor="ctr">
                    <a:solidFill>
                      <a:srgbClr val="EEF2FB"/>
                    </a:solidFill>
                  </a:tcPr>
                </a:tc>
              </a:tr>
              <a:tr h="329184">
                <a:tc>
                  <a:txBody>
                    <a:bodyPr wrap="square"/>
                    <a:lstStyle/>
                    <a:p>
                      <a:pPr algn="l"/>
                      <a:r>
                        <a:rPr sz="1100" b="1" i="0">
                          <a:solidFill>
                            <a:srgbClr val="1E2126"/>
                          </a:solidFill>
                          <a:latin typeface="Arial"/>
                        </a:rPr>
                        <a:t>5 · Data quality</a:t>
                      </a:r>
                    </a:p>
                  </a:txBody>
                  <a:tcPr marL="128016" marR="91440" marT="45720" marB="45720" anchor="ctr">
                    <a:solidFill>
                      <a:srgbClr val="FFFFFF"/>
                    </a:solidFill>
                  </a:tcPr>
                </a:tc>
                <a:tc>
                  <a:txBody>
                    <a:bodyPr wrap="square"/>
                    <a:lstStyle/>
                    <a:p>
                      <a:pPr algn="l"/>
                      <a:r>
                        <a:rPr sz="1100" b="0" i="0">
                          <a:solidFill>
                            <a:srgbClr val="1E2126"/>
                          </a:solidFill>
                          <a:latin typeface="Arial"/>
                        </a:rPr>
                        <a:t>spotting missing / odd values (without dropping them)</a:t>
                      </a:r>
                    </a:p>
                  </a:txBody>
                  <a:tcPr marL="128016" marR="91440" marT="45720" marB="45720" anchor="ctr">
                    <a:solidFill>
                      <a:srgbClr val="FFFFFF"/>
                    </a:solidFill>
                  </a:tcPr>
                </a:tc>
              </a:tr>
              <a:tr h="329184">
                <a:tc>
                  <a:txBody>
                    <a:bodyPr wrap="square"/>
                    <a:lstStyle/>
                    <a:p>
                      <a:pPr algn="l"/>
                      <a:r>
                        <a:rPr sz="1100" b="1" i="0">
                          <a:solidFill>
                            <a:srgbClr val="1E2126"/>
                          </a:solidFill>
                          <a:latin typeface="Arial"/>
                        </a:rPr>
                        <a:t>6 · Make a figure</a:t>
                      </a:r>
                    </a:p>
                  </a:txBody>
                  <a:tcPr marL="128016" marR="91440" marT="45720" marB="45720" anchor="ctr">
                    <a:solidFill>
                      <a:srgbClr val="EEF2FB"/>
                    </a:solidFill>
                  </a:tcPr>
                </a:tc>
                <a:tc>
                  <a:txBody>
                    <a:bodyPr wrap="square"/>
                    <a:lstStyle/>
                    <a:p>
                      <a:pPr algn="l"/>
                      <a:r>
                        <a:rPr sz="1100" b="0" i="0">
                          <a:solidFill>
                            <a:srgbClr val="1E2126"/>
                          </a:solidFill>
                          <a:latin typeface="Arial"/>
                        </a:rPr>
                        <a:t>write + run a plotting script → a saved figure</a:t>
                      </a:r>
                    </a:p>
                  </a:txBody>
                  <a:tcPr marL="128016" marR="91440" marT="45720" marB="45720" anchor="ctr">
                    <a:solidFill>
                      <a:srgbClr val="EEF2FB"/>
                    </a:solidFill>
                  </a:tcPr>
                </a:tc>
              </a:tr>
              <a:tr h="329184">
                <a:tc>
                  <a:txBody>
                    <a:bodyPr wrap="square"/>
                    <a:lstStyle/>
                    <a:p>
                      <a:pPr algn="l"/>
                      <a:r>
                        <a:rPr sz="1100" b="1" i="0">
                          <a:solidFill>
                            <a:srgbClr val="1E2126"/>
                          </a:solidFill>
                          <a:latin typeface="Arial"/>
                        </a:rPr>
                        <a:t>7 · Write it up</a:t>
                      </a:r>
                    </a:p>
                  </a:txBody>
                  <a:tcPr marL="128016" marR="91440" marT="45720" marB="45720" anchor="ctr">
                    <a:solidFill>
                      <a:srgbClr val="FFFFFF"/>
                    </a:solidFill>
                  </a:tcPr>
                </a:tc>
                <a:tc>
                  <a:txBody>
                    <a:bodyPr wrap="square"/>
                    <a:lstStyle/>
                    <a:p>
                      <a:pPr algn="l"/>
                      <a:r>
                        <a:rPr sz="1100" b="0" i="0">
                          <a:solidFill>
                            <a:srgbClr val="1E2126"/>
                          </a:solidFill>
                          <a:latin typeface="Arial"/>
                        </a:rPr>
                        <a:t>turn the numbers into a Results paragraph</a:t>
                      </a:r>
                    </a:p>
                  </a:txBody>
                  <a:tcPr marL="128016" marR="91440" marT="45720" marB="45720" anchor="ctr">
                    <a:solidFill>
                      <a:srgbClr val="FFFFFF"/>
                    </a:solidFill>
                  </a:tcPr>
                </a:tc>
              </a:tr>
            </a:tbl>
          </a:graphicData>
        </a:graphic>
      </p:graphicFrame>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Takeaways</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73352"/>
            <a:ext cx="8046720" cy="3008376"/>
          </a:xfrm>
          <a:prstGeom prst="rect">
            <a:avLst/>
          </a:prstGeom>
          <a:noFill/>
        </p:spPr>
        <p:txBody>
          <a:bodyPr wrap="square" anchor="t" lIns="0" rIns="0" tIns="0" bIns="0">
            <a:spAutoFit/>
          </a:bodyPr>
          <a:lstStyle/>
          <a:p>
            <a:pPr marL="274320" indent="-274320">
              <a:lnSpc>
                <a:spcPct val="108000"/>
              </a:lnSpc>
              <a:spcAft>
                <a:spcPts val="1800"/>
              </a:spcAft>
            </a:pPr>
            <a:r>
              <a:rPr sz="1500" b="1" i="0">
                <a:solidFill>
                  <a:srgbClr val="007482"/>
                </a:solidFill>
                <a:latin typeface="Arial"/>
              </a:rPr>
              <a:t>•  </a:t>
            </a:r>
            <a:r>
              <a:rPr sz="1500" b="1" i="0">
                <a:solidFill>
                  <a:srgbClr val="1155CC"/>
                </a:solidFill>
                <a:latin typeface="Arial"/>
              </a:rPr>
              <a:t>You shape the program; the model is swappable.</a:t>
            </a:r>
            <a:r>
              <a:rPr sz="1500" b="0" i="0">
                <a:solidFill>
                  <a:srgbClr val="1E2126"/>
                </a:solidFill>
                <a:latin typeface="Arial"/>
              </a:rPr>
              <a:t>  </a:t>
            </a:r>
            <a:r>
              <a:rPr sz="1500" b="0" i="0">
                <a:solidFill>
                  <a:srgbClr val="1E2126"/>
                </a:solidFill>
                <a:latin typeface="Arial"/>
              </a:rPr>
              <a:t>Configure the harness — the model just answers.</a:t>
            </a:r>
          </a:p>
          <a:p>
            <a:pPr marL="274320" indent="-274320">
              <a:lnSpc>
                <a:spcPct val="108000"/>
              </a:lnSpc>
              <a:spcAft>
                <a:spcPts val="1800"/>
              </a:spcAft>
            </a:pPr>
            <a:r>
              <a:rPr sz="1500" b="1" i="0">
                <a:solidFill>
                  <a:srgbClr val="007482"/>
                </a:solidFill>
                <a:latin typeface="Arial"/>
              </a:rPr>
              <a:t>•  </a:t>
            </a:r>
            <a:r>
              <a:rPr sz="1500" b="1" i="0">
                <a:solidFill>
                  <a:srgbClr val="1155CC"/>
                </a:solidFill>
                <a:latin typeface="Arial"/>
              </a:rPr>
              <a:t>It is a loop you govern.</a:t>
            </a:r>
            <a:r>
              <a:rPr sz="1500" b="0" i="0">
                <a:solidFill>
                  <a:srgbClr val="1E2126"/>
                </a:solidFill>
                <a:latin typeface="Arial"/>
              </a:rPr>
              <a:t>  </a:t>
            </a:r>
            <a:r>
              <a:rPr sz="1500" b="0" i="0">
                <a:solidFill>
                  <a:srgbClr val="1E2126"/>
                </a:solidFill>
                <a:latin typeface="Arial"/>
              </a:rPr>
              <a:t>Advice (CLAUDE.md, skills) guides it; rules (permissions, hooks) bind it.</a:t>
            </a:r>
          </a:p>
          <a:p>
            <a:pPr marL="274320" indent="-274320">
              <a:lnSpc>
                <a:spcPct val="108000"/>
              </a:lnSpc>
              <a:spcAft>
                <a:spcPts val="1800"/>
              </a:spcAft>
            </a:pPr>
            <a:r>
              <a:rPr sz="1500" b="1" i="0">
                <a:solidFill>
                  <a:srgbClr val="007482"/>
                </a:solidFill>
                <a:latin typeface="Arial"/>
              </a:rPr>
              <a:t>•  </a:t>
            </a:r>
            <a:r>
              <a:rPr sz="1500" b="1" i="0">
                <a:solidFill>
                  <a:srgbClr val="1155CC"/>
                </a:solidFill>
                <a:latin typeface="Arial"/>
              </a:rPr>
              <a:t>Always give it a check.</a:t>
            </a:r>
            <a:r>
              <a:rPr sz="1500" b="0" i="0">
                <a:solidFill>
                  <a:srgbClr val="1E2126"/>
                </a:solidFill>
                <a:latin typeface="Arial"/>
              </a:rPr>
              <a:t>  </a:t>
            </a:r>
            <a:r>
              <a:rPr sz="1500" b="0" i="0">
                <a:solidFill>
                  <a:srgbClr val="1E2126"/>
                </a:solidFill>
                <a:latin typeface="Arial"/>
              </a:rPr>
              <a:t>A test or an exit code — never ship what you have not verified.</a:t>
            </a:r>
          </a:p>
        </p:txBody>
      </p:sp>
      <p:sp>
        <p:nvSpPr>
          <p:cNvPr id="5" name="TextBox 4"/>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References (1 of 2)</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1. </a:t>
            </a:r>
            <a:r>
              <a:rPr sz="1050" b="0" i="0">
                <a:solidFill>
                  <a:srgbClr val="555A61"/>
                </a:solidFill>
                <a:latin typeface="Arial"/>
              </a:rPr>
              <a:t>Claude Code: Overview — Anthropic. code.claude.com/docs/en/overview</a:t>
            </a:r>
          </a:p>
          <a:p>
            <a:pPr>
              <a:lnSpc>
                <a:spcPct val="102000"/>
              </a:lnSpc>
              <a:spcAft>
                <a:spcPts val="600"/>
              </a:spcAft>
            </a:pPr>
            <a:r>
              <a:rPr sz="1050" b="1" i="0">
                <a:solidFill>
                  <a:srgbClr val="007482"/>
                </a:solidFill>
                <a:latin typeface="Arial"/>
              </a:rPr>
              <a:t>2. </a:t>
            </a:r>
            <a:r>
              <a:rPr sz="1050" b="0" i="0">
                <a:solidFill>
                  <a:srgbClr val="555A61"/>
                </a:solidFill>
                <a:latin typeface="Arial"/>
              </a:rPr>
              <a:t>Advanced setup — Anthropic. code.claude.com/docs/en/setup</a:t>
            </a:r>
          </a:p>
          <a:p>
            <a:pPr>
              <a:lnSpc>
                <a:spcPct val="102000"/>
              </a:lnSpc>
              <a:spcAft>
                <a:spcPts val="600"/>
              </a:spcAft>
            </a:pPr>
            <a:r>
              <a:rPr sz="1050" b="1" i="0">
                <a:solidFill>
                  <a:srgbClr val="007482"/>
                </a:solidFill>
                <a:latin typeface="Arial"/>
              </a:rPr>
              <a:t>3. </a:t>
            </a:r>
            <a:r>
              <a:rPr sz="1050" b="0" i="0">
                <a:solidFill>
                  <a:srgbClr val="555A61"/>
                </a:solidFill>
                <a:latin typeface="Arial"/>
              </a:rPr>
              <a:t>Authentication — Anthropic. code.claude.com/docs/en/authentication</a:t>
            </a:r>
          </a:p>
          <a:p>
            <a:pPr>
              <a:lnSpc>
                <a:spcPct val="102000"/>
              </a:lnSpc>
              <a:spcAft>
                <a:spcPts val="600"/>
              </a:spcAft>
            </a:pPr>
            <a:r>
              <a:rPr sz="1050" b="1" i="0">
                <a:solidFill>
                  <a:srgbClr val="007482"/>
                </a:solidFill>
                <a:latin typeface="Arial"/>
              </a:rPr>
              <a:t>4. </a:t>
            </a:r>
            <a:r>
              <a:rPr sz="1050" b="0" i="0">
                <a:solidFill>
                  <a:srgbClr val="555A61"/>
                </a:solidFill>
                <a:latin typeface="Arial"/>
              </a:rPr>
              <a:t>Configure permissions — Anthropic. code.claude.com/docs/en/permissions</a:t>
            </a:r>
          </a:p>
          <a:p>
            <a:pPr>
              <a:lnSpc>
                <a:spcPct val="102000"/>
              </a:lnSpc>
              <a:spcAft>
                <a:spcPts val="600"/>
              </a:spcAft>
            </a:pPr>
            <a:r>
              <a:rPr sz="1050" b="1" i="0">
                <a:solidFill>
                  <a:srgbClr val="007482"/>
                </a:solidFill>
                <a:latin typeface="Arial"/>
              </a:rPr>
              <a:t>5. </a:t>
            </a:r>
            <a:r>
              <a:rPr sz="1050" b="0" i="0">
                <a:solidFill>
                  <a:srgbClr val="555A61"/>
                </a:solidFill>
                <a:latin typeface="Arial"/>
              </a:rPr>
              <a:t>Choose a permission mode — Anthropic. code.claude.com/docs/en/permission-modes</a:t>
            </a:r>
          </a:p>
          <a:p>
            <a:pPr>
              <a:lnSpc>
                <a:spcPct val="102000"/>
              </a:lnSpc>
              <a:spcAft>
                <a:spcPts val="600"/>
              </a:spcAft>
            </a:pPr>
            <a:r>
              <a:rPr sz="1050" b="1" i="0">
                <a:solidFill>
                  <a:srgbClr val="007482"/>
                </a:solidFill>
                <a:latin typeface="Arial"/>
              </a:rPr>
              <a:t>6. </a:t>
            </a:r>
            <a:r>
              <a:rPr sz="1050" b="0" i="0">
                <a:solidFill>
                  <a:srgbClr val="555A61"/>
                </a:solidFill>
                <a:latin typeface="Arial"/>
              </a:rPr>
              <a:t>Hooks reference — Anthropic. code.claude.com/docs/en/hooks</a:t>
            </a:r>
          </a:p>
        </p:txBody>
      </p:sp>
      <p:sp>
        <p:nvSpPr>
          <p:cNvPr id="5" name="TextBox 4"/>
          <p:cNvSpPr txBox="1"/>
          <p:nvPr/>
        </p:nvSpPr>
        <p:spPr>
          <a:xfrm>
            <a:off x="475488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7. </a:t>
            </a:r>
            <a:r>
              <a:rPr sz="1050" b="0" i="0">
                <a:solidFill>
                  <a:srgbClr val="555A61"/>
                </a:solidFill>
                <a:latin typeface="Arial"/>
              </a:rPr>
              <a:t>Memory (CLAUDE.md) — Anthropic. code.claude.com/docs/en/memory</a:t>
            </a:r>
          </a:p>
          <a:p>
            <a:pPr>
              <a:lnSpc>
                <a:spcPct val="102000"/>
              </a:lnSpc>
              <a:spcAft>
                <a:spcPts val="600"/>
              </a:spcAft>
            </a:pPr>
            <a:r>
              <a:rPr sz="1050" b="1" i="0">
                <a:solidFill>
                  <a:srgbClr val="007482"/>
                </a:solidFill>
                <a:latin typeface="Arial"/>
              </a:rPr>
              <a:t>8. </a:t>
            </a:r>
            <a:r>
              <a:rPr sz="1050" b="0" i="0">
                <a:solidFill>
                  <a:srgbClr val="555A61"/>
                </a:solidFill>
                <a:latin typeface="Arial"/>
              </a:rPr>
              <a:t>Custom subagents — Anthropic. code.claude.com/docs/en/sub-agents</a:t>
            </a:r>
          </a:p>
          <a:p>
            <a:pPr>
              <a:lnSpc>
                <a:spcPct val="102000"/>
              </a:lnSpc>
              <a:spcAft>
                <a:spcPts val="600"/>
              </a:spcAft>
            </a:pPr>
            <a:r>
              <a:rPr sz="1050" b="1" i="0">
                <a:solidFill>
                  <a:srgbClr val="007482"/>
                </a:solidFill>
                <a:latin typeface="Arial"/>
              </a:rPr>
              <a:t>9. </a:t>
            </a:r>
            <a:r>
              <a:rPr sz="1050" b="0" i="0">
                <a:solidFill>
                  <a:srgbClr val="555A61"/>
                </a:solidFill>
                <a:latin typeface="Arial"/>
              </a:rPr>
              <a:t>Extend Claude with Skills — Anthropic. code.claude.com/docs/en/skills</a:t>
            </a:r>
          </a:p>
          <a:p>
            <a:pPr>
              <a:lnSpc>
                <a:spcPct val="102000"/>
              </a:lnSpc>
              <a:spcAft>
                <a:spcPts val="600"/>
              </a:spcAft>
            </a:pPr>
            <a:r>
              <a:rPr sz="1050" b="1" i="0">
                <a:solidFill>
                  <a:srgbClr val="007482"/>
                </a:solidFill>
                <a:latin typeface="Arial"/>
              </a:rPr>
              <a:t>10. </a:t>
            </a:r>
            <a:r>
              <a:rPr sz="1050" b="0" i="0">
                <a:solidFill>
                  <a:srgbClr val="555A61"/>
                </a:solidFill>
                <a:latin typeface="Arial"/>
              </a:rPr>
              <a:t>Connect tools via MCP — Anthropic. code.claude.com/docs/en/mcp</a:t>
            </a:r>
          </a:p>
          <a:p>
            <a:pPr>
              <a:lnSpc>
                <a:spcPct val="102000"/>
              </a:lnSpc>
              <a:spcAft>
                <a:spcPts val="600"/>
              </a:spcAft>
            </a:pPr>
            <a:r>
              <a:rPr sz="1050" b="1" i="0">
                <a:solidFill>
                  <a:srgbClr val="007482"/>
                </a:solidFill>
                <a:latin typeface="Arial"/>
              </a:rPr>
              <a:t>11. </a:t>
            </a:r>
            <a:r>
              <a:rPr sz="1050" b="0" i="0">
                <a:solidFill>
                  <a:srgbClr val="555A61"/>
                </a:solidFill>
                <a:latin typeface="Arial"/>
              </a:rPr>
              <a:t>Run Claude Code programmatically — Anthropic. code.claude.com/docs/en/headless</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566928"/>
          </a:xfrm>
          <a:prstGeom prst="rect">
            <a:avLst/>
          </a:prstGeom>
          <a:noFill/>
        </p:spPr>
        <p:txBody>
          <a:bodyPr wrap="square" anchor="t" lIns="0" rIns="0" tIns="0" bIns="0">
            <a:spAutoFit/>
          </a:bodyPr>
          <a:lstStyle/>
          <a:p>
            <a:r>
              <a:rPr sz="2200" b="1" i="0">
                <a:solidFill>
                  <a:srgbClr val="1E2126"/>
                </a:solidFill>
                <a:latin typeface="Arial"/>
              </a:rPr>
              <a:t>References (2 of 2)</a:t>
            </a:r>
          </a:p>
        </p:txBody>
      </p:sp>
      <p:sp>
        <p:nvSpPr>
          <p:cNvPr id="3" name="Rectangle 2"/>
          <p:cNvSpPr/>
          <p:nvPr/>
        </p:nvSpPr>
        <p:spPr>
          <a:xfrm>
            <a:off x="548640" y="987552"/>
            <a:ext cx="1051560" cy="41148"/>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1. </a:t>
            </a:r>
            <a:r>
              <a:rPr sz="1050" b="0" i="0">
                <a:solidFill>
                  <a:srgbClr val="555A61"/>
                </a:solidFill>
                <a:latin typeface="Arial"/>
              </a:rPr>
              <a:t>Agent SDK overview — Anthropic. code.claude.com/docs/en/agent-sdk/overview</a:t>
            </a:r>
          </a:p>
          <a:p>
            <a:pPr>
              <a:lnSpc>
                <a:spcPct val="102000"/>
              </a:lnSpc>
              <a:spcAft>
                <a:spcPts val="600"/>
              </a:spcAft>
            </a:pPr>
            <a:r>
              <a:rPr sz="1050" b="1" i="0">
                <a:solidFill>
                  <a:srgbClr val="007482"/>
                </a:solidFill>
                <a:latin typeface="Arial"/>
              </a:rPr>
              <a:t>2. </a:t>
            </a:r>
            <a:r>
              <a:rPr sz="1050" b="0" i="0">
                <a:solidFill>
                  <a:srgbClr val="555A61"/>
                </a:solidFill>
                <a:latin typeface="Arial"/>
              </a:rPr>
              <a:t>Security — Anthropic. code.claude.com/docs/en/security</a:t>
            </a:r>
          </a:p>
          <a:p>
            <a:pPr>
              <a:lnSpc>
                <a:spcPct val="102000"/>
              </a:lnSpc>
              <a:spcAft>
                <a:spcPts val="600"/>
              </a:spcAft>
            </a:pPr>
            <a:r>
              <a:rPr sz="1050" b="1" i="0">
                <a:solidFill>
                  <a:srgbClr val="007482"/>
                </a:solidFill>
                <a:latin typeface="Arial"/>
              </a:rPr>
              <a:t>3. </a:t>
            </a:r>
            <a:r>
              <a:rPr sz="1050" b="0" i="0">
                <a:solidFill>
                  <a:srgbClr val="555A61"/>
                </a:solidFill>
                <a:latin typeface="Arial"/>
              </a:rPr>
              <a:t>Pricing — Anthropic. platform.claude.com/docs/en/docs/about-claude/pricing</a:t>
            </a:r>
          </a:p>
          <a:p>
            <a:pPr>
              <a:lnSpc>
                <a:spcPct val="102000"/>
              </a:lnSpc>
              <a:spcAft>
                <a:spcPts val="600"/>
              </a:spcAft>
            </a:pPr>
            <a:r>
              <a:rPr sz="1050" b="1" i="0">
                <a:solidFill>
                  <a:srgbClr val="007482"/>
                </a:solidFill>
                <a:latin typeface="Arial"/>
              </a:rPr>
              <a:t>4. </a:t>
            </a:r>
            <a:r>
              <a:rPr sz="1050" b="0" i="0">
                <a:solidFill>
                  <a:srgbClr val="555A61"/>
                </a:solidFill>
                <a:latin typeface="Arial"/>
              </a:rPr>
              <a:t>Building effective agents (2024) — Anthropic. anthropic.com/engineering/building-effective-agents</a:t>
            </a:r>
          </a:p>
          <a:p>
            <a:pPr>
              <a:lnSpc>
                <a:spcPct val="102000"/>
              </a:lnSpc>
              <a:spcAft>
                <a:spcPts val="600"/>
              </a:spcAft>
            </a:pPr>
            <a:r>
              <a:rPr sz="1050" b="1" i="0">
                <a:solidFill>
                  <a:srgbClr val="007482"/>
                </a:solidFill>
                <a:latin typeface="Arial"/>
              </a:rPr>
              <a:t>5. </a:t>
            </a:r>
            <a:r>
              <a:rPr sz="1050" b="0" i="0">
                <a:solidFill>
                  <a:srgbClr val="555A61"/>
                </a:solidFill>
                <a:latin typeface="Arial"/>
              </a:rPr>
              <a:t>Equipping agents with Agent Skills (2025) — Anthropic. anthropic.com/engineering</a:t>
            </a:r>
          </a:p>
          <a:p>
            <a:pPr>
              <a:lnSpc>
                <a:spcPct val="102000"/>
              </a:lnSpc>
              <a:spcAft>
                <a:spcPts val="600"/>
              </a:spcAft>
            </a:pPr>
            <a:r>
              <a:rPr sz="1050" b="1" i="0">
                <a:solidFill>
                  <a:srgbClr val="007482"/>
                </a:solidFill>
                <a:latin typeface="Arial"/>
              </a:rPr>
              <a:t>6. </a:t>
            </a:r>
            <a:r>
              <a:rPr sz="1050" b="0" i="0">
                <a:solidFill>
                  <a:srgbClr val="555A61"/>
                </a:solidFill>
                <a:latin typeface="Arial"/>
              </a:rPr>
              <a:t>Introducing the Model Context Protocol (2024) — Anthropic. anthropic.com/news/model-context-protocol</a:t>
            </a:r>
          </a:p>
        </p:txBody>
      </p:sp>
      <p:sp>
        <p:nvSpPr>
          <p:cNvPr id="5" name="TextBox 4"/>
          <p:cNvSpPr txBox="1"/>
          <p:nvPr/>
        </p:nvSpPr>
        <p:spPr>
          <a:xfrm>
            <a:off x="4754880" y="1463040"/>
            <a:ext cx="3840480" cy="3264408"/>
          </a:xfrm>
          <a:prstGeom prst="rect">
            <a:avLst/>
          </a:prstGeom>
          <a:noFill/>
        </p:spPr>
        <p:txBody>
          <a:bodyPr wrap="square" anchor="t" lIns="0" rIns="0" tIns="0" bIns="0">
            <a:spAutoFit/>
          </a:bodyPr>
          <a:lstStyle/>
          <a:p>
            <a:pPr>
              <a:lnSpc>
                <a:spcPct val="102000"/>
              </a:lnSpc>
              <a:spcAft>
                <a:spcPts val="600"/>
              </a:spcAft>
            </a:pPr>
            <a:r>
              <a:rPr sz="1050" b="1" i="0">
                <a:solidFill>
                  <a:srgbClr val="007482"/>
                </a:solidFill>
                <a:latin typeface="Arial"/>
              </a:rPr>
              <a:t>7. </a:t>
            </a:r>
            <a:r>
              <a:rPr sz="1050" b="0" i="0">
                <a:solidFill>
                  <a:srgbClr val="555A61"/>
                </a:solidFill>
                <a:latin typeface="Arial"/>
              </a:rPr>
              <a:t>Model Context Protocol — modelcontextprotocol.io</a:t>
            </a:r>
          </a:p>
          <a:p>
            <a:pPr>
              <a:lnSpc>
                <a:spcPct val="102000"/>
              </a:lnSpc>
              <a:spcAft>
                <a:spcPts val="600"/>
              </a:spcAft>
            </a:pPr>
            <a:r>
              <a:rPr sz="1050" b="1" i="0">
                <a:solidFill>
                  <a:srgbClr val="007482"/>
                </a:solidFill>
                <a:latin typeface="Arial"/>
              </a:rPr>
              <a:t>8. </a:t>
            </a:r>
            <a:r>
              <a:rPr sz="1050" b="0" i="0">
                <a:solidFill>
                  <a:srgbClr val="555A61"/>
                </a:solidFill>
                <a:latin typeface="Arial"/>
              </a:rPr>
              <a:t>Is my data used for model training? — Anthropic Privacy Center. privacy.claude.com</a:t>
            </a:r>
          </a:p>
          <a:p>
            <a:pPr>
              <a:lnSpc>
                <a:spcPct val="102000"/>
              </a:lnSpc>
              <a:spcAft>
                <a:spcPts val="600"/>
              </a:spcAft>
            </a:pPr>
            <a:r>
              <a:rPr sz="1050" b="1" i="0">
                <a:solidFill>
                  <a:srgbClr val="007482"/>
                </a:solidFill>
                <a:latin typeface="Arial"/>
              </a:rPr>
              <a:t>9. </a:t>
            </a:r>
            <a:r>
              <a:rPr sz="1050" b="0" i="0">
                <a:solidFill>
                  <a:srgbClr val="555A61"/>
                </a:solidFill>
                <a:latin typeface="Arial"/>
              </a:rPr>
              <a:t>LLM01:2025 Prompt Injection — OWASP Gen AI Security Project. genai.owasp.org</a:t>
            </a:r>
          </a:p>
          <a:p>
            <a:pPr>
              <a:lnSpc>
                <a:spcPct val="102000"/>
              </a:lnSpc>
              <a:spcAft>
                <a:spcPts val="600"/>
              </a:spcAft>
            </a:pPr>
            <a:r>
              <a:rPr sz="1050" b="1" i="0">
                <a:solidFill>
                  <a:srgbClr val="007482"/>
                </a:solidFill>
                <a:latin typeface="Arial"/>
              </a:rPr>
              <a:t>10. </a:t>
            </a:r>
            <a:r>
              <a:rPr sz="1050" b="0" i="0">
                <a:solidFill>
                  <a:srgbClr val="555A61"/>
                </a:solidFill>
                <a:latin typeface="Arial"/>
              </a:rPr>
              <a:t>Interactive Jobs — UChicago RCC. docs.rcc.uchicago.edu/slurm/sinteractive</a:t>
            </a:r>
          </a:p>
          <a:p>
            <a:pPr>
              <a:lnSpc>
                <a:spcPct val="102000"/>
              </a:lnSpc>
              <a:spcAft>
                <a:spcPts val="600"/>
              </a:spcAft>
            </a:pPr>
            <a:r>
              <a:rPr sz="1050" b="1" i="0">
                <a:solidFill>
                  <a:srgbClr val="007482"/>
                </a:solidFill>
                <a:latin typeface="Arial"/>
              </a:rPr>
              <a:t>11. </a:t>
            </a:r>
            <a:r>
              <a:rPr sz="1050" b="0" i="0">
                <a:solidFill>
                  <a:srgbClr val="555A61"/>
                </a:solidFill>
                <a:latin typeface="Arial"/>
              </a:rPr>
              <a:t>Python &amp; Jupyter — UChicago RCC. docs.rcc.uchicago.edu/software/apps-and-envs/python</a:t>
            </a:r>
          </a:p>
        </p:txBody>
      </p:sp>
      <p:sp>
        <p:nvSpPr>
          <p:cNvPr id="6" name="TextBox 5"/>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5143500"/>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7680960" cy="365760"/>
          </a:xfrm>
          <a:prstGeom prst="rect">
            <a:avLst/>
          </a:prstGeom>
          <a:noFill/>
        </p:spPr>
        <p:txBody>
          <a:bodyPr wrap="square" anchor="t" lIns="0" rIns="0" tIns="0" bIns="0">
            <a:spAutoFit/>
          </a:bodyPr>
          <a:lstStyle/>
          <a:p>
            <a:r>
              <a:rPr sz="1250" b="1" i="0" spc="160">
                <a:solidFill>
                  <a:srgbClr val="007482"/>
                </a:solidFill>
                <a:latin typeface="Arial"/>
              </a:rPr>
              <a:t/>
            </a:r>
          </a:p>
        </p:txBody>
      </p:sp>
      <p:sp>
        <p:nvSpPr>
          <p:cNvPr id="5" name="TextBox 4"/>
          <p:cNvSpPr txBox="1"/>
          <p:nvPr/>
        </p:nvSpPr>
        <p:spPr>
          <a:xfrm>
            <a:off x="914400" y="2286000"/>
            <a:ext cx="7680960" cy="822960"/>
          </a:xfrm>
          <a:prstGeom prst="rect">
            <a:avLst/>
          </a:prstGeom>
          <a:noFill/>
        </p:spPr>
        <p:txBody>
          <a:bodyPr wrap="square" anchor="t" lIns="0" rIns="0" tIns="0" bIns="0">
            <a:spAutoFit/>
          </a:bodyPr>
          <a:lstStyle/>
          <a:p>
            <a:r>
              <a:rPr sz="3000" b="1" i="0">
                <a:solidFill>
                  <a:srgbClr val="1E2126"/>
                </a:solidFill>
                <a:latin typeface="Arial"/>
              </a:rPr>
              <a:t>Thank you — questions?</a:t>
            </a:r>
          </a:p>
        </p:txBody>
      </p:sp>
      <p:sp>
        <p:nvSpPr>
          <p:cNvPr id="6" name="TextBox 5"/>
          <p:cNvSpPr txBox="1"/>
          <p:nvPr/>
        </p:nvSpPr>
        <p:spPr>
          <a:xfrm>
            <a:off x="914400" y="3127248"/>
            <a:ext cx="7680960" cy="640080"/>
          </a:xfrm>
          <a:prstGeom prst="rect">
            <a:avLst/>
          </a:prstGeom>
          <a:noFill/>
        </p:spPr>
        <p:txBody>
          <a:bodyPr wrap="square" anchor="t" lIns="0" rIns="0" tIns="0" bIns="0">
            <a:spAutoFit/>
          </a:bodyPr>
          <a:lstStyle/>
          <a:p>
            <a:r>
              <a:rPr sz="1400" b="0" i="0">
                <a:solidFill>
                  <a:srgbClr val="555A61"/>
                </a:solidFill>
                <a:latin typeface="Arial"/>
              </a:rPr>
              <a:t>RCC support: user guide at docs.rcc.uchicago.edu, the help desk, and office hours.</a:t>
            </a:r>
          </a:p>
        </p:txBody>
      </p:sp>
      <p:sp>
        <p:nvSpPr>
          <p:cNvPr id="7" name="Rectangle 6"/>
          <p:cNvSpPr/>
          <p:nvPr/>
        </p:nvSpPr>
        <p:spPr>
          <a:xfrm>
            <a:off x="914400" y="4114800"/>
            <a:ext cx="7315200" cy="54864"/>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4114800"/>
            <a:ext cx="7315200" cy="54864"/>
          </a:xfrm>
          <a:prstGeom prst="rect">
            <a:avLst/>
          </a:prstGeom>
          <a:solidFill>
            <a:srgbClr val="0074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4791456"/>
            <a:ext cx="548640" cy="274320"/>
          </a:xfrm>
          <a:prstGeom prst="rect">
            <a:avLst/>
          </a:prstGeom>
          <a:noFill/>
        </p:spPr>
        <p:txBody>
          <a:bodyPr wrap="square" anchor="ctr" lIns="0" rIns="0" tIns="0" bIns="0">
            <a:spAutoFit/>
          </a:bodyPr>
          <a:lstStyle/>
          <a:p>
            <a:pPr algn="r"/>
            <a:r>
              <a:rPr sz="900" b="0" i="0">
                <a:solidFill>
                  <a:srgbClr val="989EA6"/>
                </a:solidFill>
                <a:latin typeface="Arial"/>
              </a:rP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