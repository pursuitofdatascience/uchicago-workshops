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lecture followed by a hands-on lab. By the end you can install Claude Code on Midway, use it for daily research work, keep it safe on a shared cluster, and scale one command into a batch job. CPU + internet only — no GPU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Autocomplete finishes a line; a chat assistant answers when you paste code in; an agent reads files, runs commands, edits, and checks the result — in a loop — while you supervise. Claude Code is the third kind.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definition: "an agentic coding tool that reads your codebase, edits files, runs commands, and integrates with your development tools." It is generally available (v2.x) with frequent releases. Every action is logged, permission-checked, and priced; a small-model call costs about a cent. Source: Claude Code overview docs.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describes an agent as an LLM "using tools based on environmental feedback in a loop": gather context, take an action (one tool call), verify the result, repeat until the goal is met. The 'act' step always clears a permission check first (Part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mental model. The harness is the claude program on your machine — the thing this workshop configures. The model is a large language model (Claude) reached over the network, and it is swappable. Everything else in this talk configures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is everything the agent currently has in view. Unlike a search engine that builds an index first, there is nothing to embed and nothing to go stale — it reads the live files each session. This is why a clear repo structure pays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uses: point it at a folder of CSVs and standardize the column names; hand it a failing analysis script and ask why. It is auditable and can be isolated — but because the model samples, runs are not bit-for-bit reproducible. Verify the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Midway3: (1) get a node with internet egress — sinteractive/sbatch on the test or caslake partition, or a login node; many other compute nodes have no egress. (2) install with the one-line script (no sudo, no Node). (3) 'claude setup-token' does a one-time paste-URL login that works over SSH; or export ANTHROPIC_API_KEY. Run chmod 700 ~/.claude — cluster homes can be group-readable. Source: Claude Code setup docs.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is the conversational REPL. Headless (-p / --print) runs a single non-interactive turn and exits — the building block of automation. It pauses and asks before anything risky; we show exactly how in Part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runs top to bottom: the user prompt, then Read/Grep/Edit/Bash tool calls with their results, then a plain-language summary with cost and turn count. The approve/deny prompts and Shift+Tab modes shown here are explained in Part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mid-2026 the family is Opus 4.8, Sonnet 5, and Haiku 4.5. Approximate list price per million tokens (input/output): Opus ~$5/$25, Sonnet ~$3/$15, Haiku ~$1/$5 — confirm on the pricing page, as prices change. Aliases (opus/sonnet/haiku) resolve to the current version; pin a full model id in shared configs. The lab runs on Haiku.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useful: '#' jots a quick note into project memory, '@' mentions a file, '/status' shows your account and model. Sessions are saved to disk: '--resume' continues one and '--fork-session' branches it. Esc-Esc rewind undoes Claude's edits locally — it is not a replacement for git.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roadmap for Parts 3 and 4. Each spoke is a way to shape the harness. One we will not give its own slide: subagents — a scoped helper (say, a reviewer that can only read) that keeps your main session focused. You meet all of these in the lab.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hierarchy: enterprise/managed policy, then your personal ~/.claude, then the project file, then a local override. For guarantees you cannot rely on advice — that is what permissions and hooks (Part 4) are for. Source: Claude Code memory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slash command is a Markdown file in .claude/commands/&lt;name&gt;.md. Frontmatter can scope which tools it may use; $ARGUMENTS, inline !commands, and @files expand into the prompt. This is the prompt YOU fire — contrast with a skill, next. Source: Claude Code commands docs.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 is a folder (SKILL.md plus optional scripts and reference files). Progressive disclosure: the one-line description is always in view (cheap); the body loads only when your request matches; extra files load only if needed. So a whole library of expertise costs almost no context until it is relevant. It is the model-invoked twin of a command.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Ask-first for everyday work, Plan to explore safely, Accept-edits for a tight loop but only in a clean git repo. The fourth mode is bypassPermissions (--dangerously-skip-permissions): never on a shared filesystem — a bad rm or chmod there hits your whole lab. Source: Claude Code permission-modes 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everyday interactive experience. The agent cannot approve itself — the harness asks you. Read-only commands (ls, cat, git status) run without a prompt; edits and shell commands need approval unless you have allowed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 ask / deny lists, e.g. Edit(analysis/**), Read(~/.ssh/**), Bash(rm -rf*). Precedence: deny beats everything, then a hook can veto, then an allow or mode lets it run, else it is denied (and asks, if interactive). You set these; the model cannot loosen them. Managed/enterprise settings can be locked so users cannot override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hook runs on a lifecycle event (e.g. before every Write). Exit 0 allows the action; exit 2 blocks it and hands the reason back to the model. CLAUDE.md is advice the model can forget; a hook is policy the harness enforces every time. Source: Claude Code hooks docs.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key leak: a plaintext ANTHROPIC_API_KEY in your shell would be copied by 'sbatch --export=ALL' into the job environment, readable via scontrol. Prefer the CLAUDE_CONFIG_DIR login token, or source a chmod-600 key at runtime. Also chmod 700 ~/.claude on shared homes.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 "…" --output-format json' runs a single non-interactive turn and returns an object you can parse from any language: result (the text), total_cost_usd, session_id (to resume or audit), num_turns, is_error, permission_denials. Add --json-schema to force the reply into fields validated against a schema. Source: Claude Code headless docs.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launcher script loops the headless call over many inputs and totals the cost; a Slurm job runs it unattended. Preflight one cheap call first, so a node with no internet fails in seconds. Watch rate limits: dozens of simultaneous calls from one org key will throttle — stagger them or use per-user keys. The lab's Bonus A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a Slurm submitter, a dataset catalog, or a SQL warehouse as an MCP tool and Claude calls it like any built-in (named mcp__&lt;server&gt;__&lt;tool&gt;). MCP is an open standard — "a USB-C port for AI applications." Tools are deny-by-default until you allow them. The lab's Bonus B ships a tiny MCP server you extend.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injection is the #1 risk in the OWASP Top 10 for LLM applications: external content the agent reads can try to alter its behavior. Defenses: least privilege (permissions), human approval for risky actions, and treating any ingested text as untrusted. Workspace trust means .mcp.json, hooks, and skills take effect only after you accept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commercial data policy: "By default, we will not use your inputs or outputs from our commercial products to train our models." Still, check your plan's retention and residency terms, and route through Bedrock or Vertex if you need a BAA. Source: Anthropic Privacy Center.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sessions degrade as the context window fills — use /clear between tasks and keep prompts scoped. The honest rule for research: anchor every result on something deterministic — a test, an exit code, a file that must or must not exist.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Learners copy hands-on/project to a git-clean scratch dir, start claude, and paste the prompt on each task card. The project has three raw CSVs with mismatched columns and units, a planted bug with a failing test, half-finished docs, and free-text field notes — the everyday reality of research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task leaves the project in the state the next one expects. Task 3's bug is a one-line off-by-one in a rolling mean, caught by a failing test — the same pattern the session slide illustrated. The deny rule on the tests demonstrates that a deny is a hard veto.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attendees can install, use, govern, and scale Claude Code on Midway. The hands-on lab makes each idea concrete on a real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66928"/>
            <a:ext cx="8046720" cy="365760"/>
          </a:xfrm>
          <a:prstGeom prst="rect">
            <a:avLst/>
          </a:prstGeom>
          <a:noFill/>
        </p:spPr>
        <p:txBody>
          <a:bodyPr wrap="square" anchor="t" lIns="0" rIns="0" tIns="0" bIns="0">
            <a:spAutoFit/>
          </a:bodyPr>
          <a:lstStyle/>
          <a:p>
            <a:r>
              <a:rPr sz="1200" b="1" i="0" spc="120">
                <a:solidFill>
                  <a:srgbClr val="007482"/>
                </a:solidFill>
                <a:latin typeface="Arial"/>
              </a:rPr>
              <a:t>RCC WORKSHOP · UNIVERSITY OF CHICAGO</a:t>
            </a:r>
          </a:p>
        </p:txBody>
      </p:sp>
      <p:sp>
        <p:nvSpPr>
          <p:cNvPr id="3" name="Rectangle 2"/>
          <p:cNvSpPr/>
          <p:nvPr/>
        </p:nvSpPr>
        <p:spPr>
          <a:xfrm>
            <a:off x="548640" y="2761488"/>
            <a:ext cx="155448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8046720" cy="1188720"/>
          </a:xfrm>
          <a:prstGeom prst="rect">
            <a:avLst/>
          </a:prstGeom>
          <a:noFill/>
        </p:spPr>
        <p:txBody>
          <a:bodyPr wrap="square" anchor="t" lIns="0" rIns="0" tIns="0" bIns="0">
            <a:spAutoFit/>
          </a:bodyPr>
          <a:lstStyle/>
          <a:p>
            <a:r>
              <a:rPr sz="4000" b="1" i="0">
                <a:solidFill>
                  <a:srgbClr val="0B2E6B"/>
                </a:solidFill>
                <a:latin typeface="Arial"/>
              </a:rPr>
              <a:t>Claude Code on Midway</a:t>
            </a:r>
          </a:p>
        </p:txBody>
      </p:sp>
      <p:sp>
        <p:nvSpPr>
          <p:cNvPr id="5" name="TextBox 4"/>
          <p:cNvSpPr txBox="1"/>
          <p:nvPr/>
        </p:nvSpPr>
        <p:spPr>
          <a:xfrm>
            <a:off x="548640" y="2971800"/>
            <a:ext cx="8046720" cy="1280160"/>
          </a:xfrm>
          <a:prstGeom prst="rect">
            <a:avLst/>
          </a:prstGeom>
          <a:noFill/>
        </p:spPr>
        <p:txBody>
          <a:bodyPr wrap="square" anchor="t" lIns="0" rIns="0" tIns="0" bIns="0">
            <a:spAutoFit/>
          </a:bodyPr>
          <a:lstStyle/>
          <a:p>
            <a:r>
              <a:rPr sz="1600" b="0" i="0">
                <a:solidFill>
                  <a:srgbClr val="555A61"/>
                </a:solidFill>
                <a:latin typeface="Arial"/>
              </a:rPr>
              <a:t>An AI coding agent for everyday research work — in your terminal, on the cluster.</a:t>
            </a:r>
          </a:p>
          <a:p>
            <a:pPr>
              <a:spcBef>
                <a:spcPts val="1600"/>
              </a:spcBef>
            </a:pPr>
            <a:r>
              <a:rPr sz="1250" b="0" i="0">
                <a:solidFill>
                  <a:srgbClr val="555A61"/>
                </a:solidFill>
                <a:latin typeface="Arial"/>
              </a:rPr>
              <a:t>Youzhi Yu · Research Computing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Today's session</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457200" cy="467868"/>
          </a:xfrm>
          <a:prstGeom prst="rect">
            <a:avLst/>
          </a:prstGeom>
          <a:noFill/>
        </p:spPr>
        <p:txBody>
          <a:bodyPr wrap="square" anchor="ctr" lIns="0" rIns="0" tIns="0" bIns="0">
            <a:spAutoFit/>
          </a:bodyPr>
          <a:lstStyle/>
          <a:p>
            <a:r>
              <a:rPr sz="1700" b="1" i="0">
                <a:solidFill>
                  <a:srgbClr val="007482"/>
                </a:solidFill>
                <a:latin typeface="Arial"/>
              </a:rPr>
              <a:t>1</a:t>
            </a:r>
          </a:p>
        </p:txBody>
      </p:sp>
      <p:sp>
        <p:nvSpPr>
          <p:cNvPr id="5" name="TextBox 4"/>
          <p:cNvSpPr txBox="1"/>
          <p:nvPr/>
        </p:nvSpPr>
        <p:spPr>
          <a:xfrm>
            <a:off x="1024128" y="1417320"/>
            <a:ext cx="7571232" cy="467868"/>
          </a:xfrm>
          <a:prstGeom prst="rect">
            <a:avLst/>
          </a:prstGeom>
          <a:noFill/>
        </p:spPr>
        <p:txBody>
          <a:bodyPr wrap="square" anchor="ctr" lIns="0" rIns="0" tIns="0" bIns="0">
            <a:spAutoFit/>
          </a:bodyPr>
          <a:lstStyle/>
          <a:p>
            <a:r>
              <a:rPr sz="1550" b="1" i="0">
                <a:solidFill>
                  <a:srgbClr val="1E2126"/>
                </a:solidFill>
                <a:latin typeface="Arial"/>
              </a:rPr>
              <a:t>Meet Claude Code</a:t>
            </a:r>
            <a:r>
              <a:rPr sz="1550" b="0" i="0">
                <a:solidFill>
                  <a:srgbClr val="555A61"/>
                </a:solidFill>
                <a:latin typeface="Arial"/>
              </a:rPr>
              <a:t>     </a:t>
            </a:r>
            <a:r>
              <a:rPr sz="1350" b="0" i="0">
                <a:solidFill>
                  <a:srgbClr val="555A61"/>
                </a:solidFill>
                <a:latin typeface="Arial"/>
              </a:rPr>
              <a:t>what an AI agent in the terminal actually is, and why it helps research.</a:t>
            </a:r>
          </a:p>
        </p:txBody>
      </p:sp>
      <p:sp>
        <p:nvSpPr>
          <p:cNvPr id="6" name="TextBox 5"/>
          <p:cNvSpPr txBox="1"/>
          <p:nvPr/>
        </p:nvSpPr>
        <p:spPr>
          <a:xfrm>
            <a:off x="548640" y="1885187"/>
            <a:ext cx="457200" cy="467868"/>
          </a:xfrm>
          <a:prstGeom prst="rect">
            <a:avLst/>
          </a:prstGeom>
          <a:noFill/>
        </p:spPr>
        <p:txBody>
          <a:bodyPr wrap="square" anchor="ctr" lIns="0" rIns="0" tIns="0" bIns="0">
            <a:spAutoFit/>
          </a:bodyPr>
          <a:lstStyle/>
          <a:p>
            <a:r>
              <a:rPr sz="1700" b="1" i="0">
                <a:solidFill>
                  <a:srgbClr val="007482"/>
                </a:solidFill>
                <a:latin typeface="Arial"/>
              </a:rPr>
              <a:t>2</a:t>
            </a:r>
          </a:p>
        </p:txBody>
      </p:sp>
      <p:sp>
        <p:nvSpPr>
          <p:cNvPr id="7" name="TextBox 6"/>
          <p:cNvSpPr txBox="1"/>
          <p:nvPr/>
        </p:nvSpPr>
        <p:spPr>
          <a:xfrm>
            <a:off x="1024128" y="1885187"/>
            <a:ext cx="7571232" cy="467868"/>
          </a:xfrm>
          <a:prstGeom prst="rect">
            <a:avLst/>
          </a:prstGeom>
          <a:noFill/>
        </p:spPr>
        <p:txBody>
          <a:bodyPr wrap="square" anchor="ctr" lIns="0" rIns="0" tIns="0" bIns="0">
            <a:spAutoFit/>
          </a:bodyPr>
          <a:lstStyle/>
          <a:p>
            <a:r>
              <a:rPr sz="1550" b="1" i="0">
                <a:solidFill>
                  <a:srgbClr val="1E2126"/>
                </a:solidFill>
                <a:latin typeface="Arial"/>
              </a:rPr>
              <a:t>Getting started on Midway</a:t>
            </a:r>
            <a:r>
              <a:rPr sz="1550" b="0" i="0">
                <a:solidFill>
                  <a:srgbClr val="555A61"/>
                </a:solidFill>
                <a:latin typeface="Arial"/>
              </a:rPr>
              <a:t>     </a:t>
            </a:r>
            <a:r>
              <a:rPr sz="1350" b="0" i="0">
                <a:solidFill>
                  <a:srgbClr val="555A61"/>
                </a:solidFill>
                <a:latin typeface="Arial"/>
              </a:rPr>
              <a:t>install, log in, and run your first session.</a:t>
            </a:r>
          </a:p>
        </p:txBody>
      </p:sp>
      <p:sp>
        <p:nvSpPr>
          <p:cNvPr id="8" name="TextBox 7"/>
          <p:cNvSpPr txBox="1"/>
          <p:nvPr/>
        </p:nvSpPr>
        <p:spPr>
          <a:xfrm>
            <a:off x="548640" y="2353056"/>
            <a:ext cx="457200" cy="467868"/>
          </a:xfrm>
          <a:prstGeom prst="rect">
            <a:avLst/>
          </a:prstGeom>
          <a:noFill/>
        </p:spPr>
        <p:txBody>
          <a:bodyPr wrap="square" anchor="ctr" lIns="0" rIns="0" tIns="0" bIns="0">
            <a:spAutoFit/>
          </a:bodyPr>
          <a:lstStyle/>
          <a:p>
            <a:r>
              <a:rPr sz="1700" b="1" i="0">
                <a:solidFill>
                  <a:srgbClr val="007482"/>
                </a:solidFill>
                <a:latin typeface="Arial"/>
              </a:rPr>
              <a:t>3</a:t>
            </a:r>
          </a:p>
        </p:txBody>
      </p:sp>
      <p:sp>
        <p:nvSpPr>
          <p:cNvPr id="9" name="TextBox 8"/>
          <p:cNvSpPr txBox="1"/>
          <p:nvPr/>
        </p:nvSpPr>
        <p:spPr>
          <a:xfrm>
            <a:off x="1024128" y="2353056"/>
            <a:ext cx="7571232" cy="467868"/>
          </a:xfrm>
          <a:prstGeom prst="rect">
            <a:avLst/>
          </a:prstGeom>
          <a:noFill/>
        </p:spPr>
        <p:txBody>
          <a:bodyPr wrap="square" anchor="ctr" lIns="0" rIns="0" tIns="0" bIns="0">
            <a:spAutoFit/>
          </a:bodyPr>
          <a:lstStyle/>
          <a:p>
            <a:r>
              <a:rPr sz="1550" b="1" i="0">
                <a:solidFill>
                  <a:srgbClr val="1E2126"/>
                </a:solidFill>
                <a:latin typeface="Arial"/>
              </a:rPr>
              <a:t>Make it yours</a:t>
            </a:r>
            <a:r>
              <a:rPr sz="1550" b="0" i="0">
                <a:solidFill>
                  <a:srgbClr val="555A61"/>
                </a:solidFill>
                <a:latin typeface="Arial"/>
              </a:rPr>
              <a:t>     </a:t>
            </a:r>
            <a:r>
              <a:rPr sz="1350" b="0" i="0">
                <a:solidFill>
                  <a:srgbClr val="555A61"/>
                </a:solidFill>
                <a:latin typeface="Arial"/>
              </a:rPr>
              <a:t>teach it your project, save prompts, add your own tools.</a:t>
            </a:r>
          </a:p>
        </p:txBody>
      </p:sp>
      <p:sp>
        <p:nvSpPr>
          <p:cNvPr id="10" name="TextBox 9"/>
          <p:cNvSpPr txBox="1"/>
          <p:nvPr/>
        </p:nvSpPr>
        <p:spPr>
          <a:xfrm>
            <a:off x="548640" y="2820924"/>
            <a:ext cx="457200" cy="467868"/>
          </a:xfrm>
          <a:prstGeom prst="rect">
            <a:avLst/>
          </a:prstGeom>
          <a:noFill/>
        </p:spPr>
        <p:txBody>
          <a:bodyPr wrap="square" anchor="ctr" lIns="0" rIns="0" tIns="0" bIns="0">
            <a:spAutoFit/>
          </a:bodyPr>
          <a:lstStyle/>
          <a:p>
            <a:r>
              <a:rPr sz="1700" b="1" i="0">
                <a:solidFill>
                  <a:srgbClr val="007482"/>
                </a:solidFill>
                <a:latin typeface="Arial"/>
              </a:rPr>
              <a:t>4</a:t>
            </a:r>
          </a:p>
        </p:txBody>
      </p:sp>
      <p:sp>
        <p:nvSpPr>
          <p:cNvPr id="11" name="TextBox 10"/>
          <p:cNvSpPr txBox="1"/>
          <p:nvPr/>
        </p:nvSpPr>
        <p:spPr>
          <a:xfrm>
            <a:off x="1024128" y="2820924"/>
            <a:ext cx="7571232" cy="467868"/>
          </a:xfrm>
          <a:prstGeom prst="rect">
            <a:avLst/>
          </a:prstGeom>
          <a:noFill/>
        </p:spPr>
        <p:txBody>
          <a:bodyPr wrap="square" anchor="ctr" lIns="0" rIns="0" tIns="0" bIns="0">
            <a:spAutoFit/>
          </a:bodyPr>
          <a:lstStyle/>
          <a:p>
            <a:r>
              <a:rPr sz="1550" b="1" i="0">
                <a:solidFill>
                  <a:srgbClr val="1E2126"/>
                </a:solidFill>
                <a:latin typeface="Arial"/>
              </a:rPr>
              <a:t>Staying in control</a:t>
            </a:r>
            <a:r>
              <a:rPr sz="1550" b="0" i="0">
                <a:solidFill>
                  <a:srgbClr val="555A61"/>
                </a:solidFill>
                <a:latin typeface="Arial"/>
              </a:rPr>
              <a:t>     </a:t>
            </a:r>
            <a:r>
              <a:rPr sz="1350" b="0" i="0">
                <a:solidFill>
                  <a:srgbClr val="555A61"/>
                </a:solidFill>
                <a:latin typeface="Arial"/>
              </a:rPr>
              <a:t>the permission system that makes it safe on shared hardware.</a:t>
            </a:r>
          </a:p>
        </p:txBody>
      </p:sp>
      <p:sp>
        <p:nvSpPr>
          <p:cNvPr id="12" name="TextBox 11"/>
          <p:cNvSpPr txBox="1"/>
          <p:nvPr/>
        </p:nvSpPr>
        <p:spPr>
          <a:xfrm>
            <a:off x="548640" y="3288792"/>
            <a:ext cx="457200" cy="467868"/>
          </a:xfrm>
          <a:prstGeom prst="rect">
            <a:avLst/>
          </a:prstGeom>
          <a:noFill/>
        </p:spPr>
        <p:txBody>
          <a:bodyPr wrap="square" anchor="ctr" lIns="0" rIns="0" tIns="0" bIns="0">
            <a:spAutoFit/>
          </a:bodyPr>
          <a:lstStyle/>
          <a:p>
            <a:r>
              <a:rPr sz="1700" b="1" i="0">
                <a:solidFill>
                  <a:srgbClr val="007482"/>
                </a:solidFill>
                <a:latin typeface="Arial"/>
              </a:rPr>
              <a:t>5</a:t>
            </a:r>
          </a:p>
        </p:txBody>
      </p:sp>
      <p:sp>
        <p:nvSpPr>
          <p:cNvPr id="13" name="TextBox 12"/>
          <p:cNvSpPr txBox="1"/>
          <p:nvPr/>
        </p:nvSpPr>
        <p:spPr>
          <a:xfrm>
            <a:off x="1024128" y="3288792"/>
            <a:ext cx="7571232" cy="467868"/>
          </a:xfrm>
          <a:prstGeom prst="rect">
            <a:avLst/>
          </a:prstGeom>
          <a:noFill/>
        </p:spPr>
        <p:txBody>
          <a:bodyPr wrap="square" anchor="ctr" lIns="0" rIns="0" tIns="0" bIns="0">
            <a:spAutoFit/>
          </a:bodyPr>
          <a:lstStyle/>
          <a:p>
            <a:r>
              <a:rPr sz="1550" b="1" i="0">
                <a:solidFill>
                  <a:srgbClr val="1E2126"/>
                </a:solidFill>
                <a:latin typeface="Arial"/>
              </a:rPr>
              <a:t>Scaling up</a:t>
            </a:r>
            <a:r>
              <a:rPr sz="1550" b="0" i="0">
                <a:solidFill>
                  <a:srgbClr val="555A61"/>
                </a:solidFill>
                <a:latin typeface="Arial"/>
              </a:rPr>
              <a:t>     </a:t>
            </a:r>
            <a:r>
              <a:rPr sz="1350" b="0" i="0">
                <a:solidFill>
                  <a:srgbClr val="555A61"/>
                </a:solidFill>
                <a:latin typeface="Arial"/>
              </a:rPr>
              <a:t>turn one command into a batch over thousands of inputs.</a:t>
            </a:r>
          </a:p>
        </p:txBody>
      </p:sp>
      <p:sp>
        <p:nvSpPr>
          <p:cNvPr id="14" name="TextBox 13"/>
          <p:cNvSpPr txBox="1"/>
          <p:nvPr/>
        </p:nvSpPr>
        <p:spPr>
          <a:xfrm>
            <a:off x="548640" y="3756660"/>
            <a:ext cx="457200" cy="467868"/>
          </a:xfrm>
          <a:prstGeom prst="rect">
            <a:avLst/>
          </a:prstGeom>
          <a:noFill/>
        </p:spPr>
        <p:txBody>
          <a:bodyPr wrap="square" anchor="ctr" lIns="0" rIns="0" tIns="0" bIns="0">
            <a:spAutoFit/>
          </a:bodyPr>
          <a:lstStyle/>
          <a:p>
            <a:r>
              <a:rPr sz="1700" b="1" i="0">
                <a:solidFill>
                  <a:srgbClr val="007482"/>
                </a:solidFill>
                <a:latin typeface="Arial"/>
              </a:rPr>
              <a:t>6</a:t>
            </a:r>
          </a:p>
        </p:txBody>
      </p:sp>
      <p:sp>
        <p:nvSpPr>
          <p:cNvPr id="15" name="TextBox 14"/>
          <p:cNvSpPr txBox="1"/>
          <p:nvPr/>
        </p:nvSpPr>
        <p:spPr>
          <a:xfrm>
            <a:off x="1024128" y="3756660"/>
            <a:ext cx="7571232" cy="467868"/>
          </a:xfrm>
          <a:prstGeom prst="rect">
            <a:avLst/>
          </a:prstGeom>
          <a:noFill/>
        </p:spPr>
        <p:txBody>
          <a:bodyPr wrap="square" anchor="ctr" lIns="0" rIns="0" tIns="0" bIns="0">
            <a:spAutoFit/>
          </a:bodyPr>
          <a:lstStyle/>
          <a:p>
            <a:r>
              <a:rPr sz="1550" b="1" i="0">
                <a:solidFill>
                  <a:srgbClr val="1E2126"/>
                </a:solidFill>
                <a:latin typeface="Arial"/>
              </a:rPr>
              <a:t>Trust and honest limits</a:t>
            </a:r>
            <a:r>
              <a:rPr sz="1550" b="0" i="0">
                <a:solidFill>
                  <a:srgbClr val="555A61"/>
                </a:solidFill>
                <a:latin typeface="Arial"/>
              </a:rPr>
              <a:t>     </a:t>
            </a:r>
            <a:r>
              <a:rPr sz="1350" b="0" i="0">
                <a:solidFill>
                  <a:srgbClr val="555A61"/>
                </a:solidFill>
                <a:latin typeface="Arial"/>
              </a:rPr>
              <a:t>prompt injection, your data, and when not to use it.</a:t>
            </a:r>
          </a:p>
        </p:txBody>
      </p:sp>
      <p:sp>
        <p:nvSpPr>
          <p:cNvPr id="16" name="TextBox 15"/>
          <p:cNvSpPr txBox="1"/>
          <p:nvPr/>
        </p:nvSpPr>
        <p:spPr>
          <a:xfrm>
            <a:off x="548640" y="4370832"/>
            <a:ext cx="8046720" cy="365760"/>
          </a:xfrm>
          <a:prstGeom prst="rect">
            <a:avLst/>
          </a:prstGeom>
          <a:noFill/>
        </p:spPr>
        <p:txBody>
          <a:bodyPr wrap="square" anchor="t" lIns="0" rIns="0" tIns="0" bIns="0">
            <a:spAutoFit/>
          </a:bodyPr>
          <a:lstStyle/>
          <a:p>
            <a:r>
              <a:rPr sz="1200" b="0" i="1">
                <a:solidFill>
                  <a:srgbClr val="555A61"/>
                </a:solidFill>
                <a:latin typeface="Arial"/>
              </a:rPr>
              <a:t>We close with a hands-on lab: you drive Claude Code on a real, messy research project.</a:t>
            </a:r>
          </a:p>
        </p:txBody>
      </p:sp>
      <p:sp>
        <p:nvSpPr>
          <p:cNvPr id="17" name="TextBox 1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1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Meet Claude Code</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An AI agent that does research work in your terminal.</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1219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An agent does the work, not just the typing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step that matters is the last one.</a:t>
            </a:r>
          </a:p>
        </p:txBody>
      </p:sp>
      <p:pic>
        <p:nvPicPr>
          <p:cNvPr id="5" name="Picture 4" descr="image1.png"/>
          <p:cNvPicPr>
            <a:picLocks noChangeAspect="1"/>
          </p:cNvPicPr>
          <p:nvPr/>
        </p:nvPicPr>
        <p:blipFill>
          <a:blip r:embed="rId2"/>
          <a:stretch>
            <a:fillRect/>
          </a:stretch>
        </p:blipFill>
        <p:spPr>
          <a:xfrm>
            <a:off x="365760" y="1884942"/>
            <a:ext cx="8412480" cy="2758931"/>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Claude Code, in plain terms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need to be a programmer. If you use a terminal, you can use it.</a:t>
            </a:r>
          </a:p>
        </p:txBody>
      </p:sp>
      <p:sp>
        <p:nvSpPr>
          <p:cNvPr id="5" name="TextBox 4"/>
          <p:cNvSpPr txBox="1"/>
          <p:nvPr/>
        </p:nvSpPr>
        <p:spPr>
          <a:xfrm>
            <a:off x="548640" y="1755648"/>
            <a:ext cx="8046720" cy="2926080"/>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An agent, not autocomplete.</a:t>
            </a:r>
            <a:r>
              <a:rPr sz="1500" b="0" i="0">
                <a:solidFill>
                  <a:srgbClr val="1E2126"/>
                </a:solidFill>
                <a:latin typeface="Arial"/>
              </a:rPr>
              <a:t>  </a:t>
            </a:r>
            <a:r>
              <a:rPr sz="1500" b="0" i="0">
                <a:solidFill>
                  <a:srgbClr val="1E2126"/>
                </a:solidFill>
                <a:latin typeface="Arial"/>
              </a:rPr>
              <a:t>It reads your files, runs commands, and edits them in a loop until the job is done.</a:t>
            </a:r>
          </a:p>
          <a:p>
            <a:pPr>
              <a:lnSpc>
                <a:spcPct val="108000"/>
              </a:lnSpc>
              <a:spcAft>
                <a:spcPts val="1300"/>
              </a:spcAft>
            </a:pPr>
            <a:r>
              <a:rPr sz="1500" b="1" i="0">
                <a:solidFill>
                  <a:srgbClr val="007482"/>
                </a:solidFill>
                <a:latin typeface="Arial"/>
              </a:rPr>
              <a:t>•  </a:t>
            </a:r>
            <a:r>
              <a:rPr sz="1500" b="1" i="0">
                <a:solidFill>
                  <a:srgbClr val="1155CC"/>
                </a:solidFill>
                <a:latin typeface="Arial"/>
              </a:rPr>
              <a:t>It lives in your terminal.</a:t>
            </a:r>
            <a:r>
              <a:rPr sz="1500" b="0" i="0">
                <a:solidFill>
                  <a:srgbClr val="1E2126"/>
                </a:solidFill>
                <a:latin typeface="Arial"/>
              </a:rPr>
              <a:t>  </a:t>
            </a:r>
            <a:r>
              <a:rPr sz="1500" b="0" i="0">
                <a:solidFill>
                  <a:srgbClr val="1E2126"/>
                </a:solidFill>
                <a:latin typeface="Arial"/>
              </a:rPr>
              <a:t>The same place you already run Python and submit cluster jobs.</a:t>
            </a:r>
          </a:p>
          <a:p>
            <a:pPr>
              <a:lnSpc>
                <a:spcPct val="108000"/>
              </a:lnSpc>
              <a:spcAft>
                <a:spcPts val="1300"/>
              </a:spcAft>
            </a:pPr>
            <a:r>
              <a:rPr sz="1500" b="1" i="0">
                <a:solidFill>
                  <a:srgbClr val="007482"/>
                </a:solidFill>
                <a:latin typeface="Arial"/>
              </a:rPr>
              <a:t>•  </a:t>
            </a:r>
            <a:r>
              <a:rPr sz="1500" b="1" i="0">
                <a:solidFill>
                  <a:srgbClr val="1155CC"/>
                </a:solidFill>
                <a:latin typeface="Arial"/>
              </a:rPr>
              <a:t>One tool, many front doors.</a:t>
            </a:r>
            <a:r>
              <a:rPr sz="1500" b="0" i="0">
                <a:solidFill>
                  <a:srgbClr val="1E2126"/>
                </a:solidFill>
                <a:latin typeface="Arial"/>
              </a:rPr>
              <a:t>  </a:t>
            </a:r>
            <a:r>
              <a:rPr sz="1500" b="0" i="0">
                <a:solidFill>
                  <a:srgbClr val="1E2126"/>
                </a:solidFill>
                <a:latin typeface="Arial"/>
              </a:rPr>
              <a:t>Terminal, VS Code, JetBrains, GitHub, or driven from a script.</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works in a loop: gather, act, check, repeat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Every setting later in this talk tunes one step of this loop.</a:t>
            </a:r>
          </a:p>
        </p:txBody>
      </p:sp>
      <p:pic>
        <p:nvPicPr>
          <p:cNvPr id="5" name="Picture 4" descr="image2.png"/>
          <p:cNvPicPr>
            <a:picLocks noChangeAspect="1"/>
          </p:cNvPicPr>
          <p:nvPr/>
        </p:nvPicPr>
        <p:blipFill>
          <a:blip r:embed="rId2"/>
          <a:stretch>
            <a:fillRect/>
          </a:stretch>
        </p:blipFill>
        <p:spPr>
          <a:xfrm>
            <a:off x="2452432" y="1700784"/>
            <a:ext cx="4239134"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Loop framing: Anthropic, "Building effective agents" (2024) and the Claude Agent SDK.</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parts: a program you control, a model it calls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program — the diagrams call it the harness — is yours to shape; the model just answers.</a:t>
            </a:r>
          </a:p>
        </p:txBody>
      </p:sp>
      <p:pic>
        <p:nvPicPr>
          <p:cNvPr id="5" name="Picture 4" descr="image3.png"/>
          <p:cNvPicPr>
            <a:picLocks noChangeAspect="1"/>
          </p:cNvPicPr>
          <p:nvPr/>
        </p:nvPicPr>
        <p:blipFill>
          <a:blip r:embed="rId2"/>
          <a:stretch>
            <a:fillRect/>
          </a:stretch>
        </p:blipFill>
        <p:spPr>
          <a:xfrm>
            <a:off x="779380" y="1700784"/>
            <a:ext cx="758523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finds its way around your project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It looks the way you do.</a:t>
            </a:r>
            <a:r>
              <a:rPr sz="1500" b="0" i="0">
                <a:solidFill>
                  <a:srgbClr val="1E2126"/>
                </a:solidFill>
                <a:latin typeface="Arial"/>
              </a:rPr>
              <a:t>  </a:t>
            </a:r>
            <a:r>
              <a:rPr sz="1500" b="0" i="0">
                <a:solidFill>
                  <a:srgbClr val="1E2126"/>
                </a:solidFill>
                <a:latin typeface="Arial"/>
              </a:rPr>
              <a:t>It searches and opens your real files — nothing to index or set up first.</a:t>
            </a:r>
          </a:p>
          <a:p>
            <a:pPr>
              <a:lnSpc>
                <a:spcPct val="108000"/>
              </a:lnSpc>
              <a:spcAft>
                <a:spcPts val="1300"/>
              </a:spcAft>
            </a:pPr>
            <a:r>
              <a:rPr sz="1500" b="1" i="0">
                <a:solidFill>
                  <a:srgbClr val="007482"/>
                </a:solidFill>
                <a:latin typeface="Arial"/>
              </a:rPr>
              <a:t>•  </a:t>
            </a:r>
            <a:r>
              <a:rPr sz="1500" b="1" i="0">
                <a:solidFill>
                  <a:srgbClr val="1155CC"/>
                </a:solidFill>
                <a:latin typeface="Arial"/>
              </a:rPr>
              <a:t>Your layout is its context.</a:t>
            </a:r>
            <a:r>
              <a:rPr sz="1500" b="0" i="0">
                <a:solidFill>
                  <a:srgbClr val="1E2126"/>
                </a:solidFill>
                <a:latin typeface="Arial"/>
              </a:rPr>
              <a:t>  </a:t>
            </a:r>
            <a:r>
              <a:rPr sz="1500" b="0" i="0">
                <a:solidFill>
                  <a:srgbClr val="1E2126"/>
                </a:solidFill>
                <a:latin typeface="Arial"/>
              </a:rPr>
              <a:t>A tidy project folder helps it find the right things quickly.</a:t>
            </a:r>
          </a:p>
          <a:p>
            <a:pPr>
              <a:lnSpc>
                <a:spcPct val="108000"/>
              </a:lnSpc>
              <a:spcAft>
                <a:spcPts val="1300"/>
              </a:spcAft>
            </a:pPr>
            <a:r>
              <a:rPr sz="1500" b="1" i="0">
                <a:solidFill>
                  <a:srgbClr val="007482"/>
                </a:solidFill>
                <a:latin typeface="Arial"/>
              </a:rPr>
              <a:t>•  </a:t>
            </a:r>
            <a:r>
              <a:rPr sz="1500" b="1" i="0">
                <a:solidFill>
                  <a:srgbClr val="1155CC"/>
                </a:solidFill>
                <a:latin typeface="Arial"/>
              </a:rPr>
              <a:t>It checks its own work.</a:t>
            </a:r>
            <a:r>
              <a:rPr sz="1500" b="0" i="0">
                <a:solidFill>
                  <a:srgbClr val="1E2126"/>
                </a:solidFill>
                <a:latin typeface="Arial"/>
              </a:rPr>
              <a:t>  </a:t>
            </a:r>
            <a:r>
              <a:rPr sz="1500" b="0" i="0">
                <a:solidFill>
                  <a:srgbClr val="1E2126"/>
                </a:solidFill>
                <a:latin typeface="Arial"/>
              </a:rPr>
              <a:t>A test, an exit code, or a linter confirms a change actually worked.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earns its place in research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Not only code.</a:t>
            </a:r>
            <a:r>
              <a:rPr sz="1500" b="0" i="0">
                <a:solidFill>
                  <a:srgbClr val="1E2126"/>
                </a:solidFill>
                <a:latin typeface="Arial"/>
              </a:rPr>
              <a:t>  </a:t>
            </a:r>
            <a:r>
              <a:rPr sz="1500" b="0" i="0">
                <a:solidFill>
                  <a:srgbClr val="1E2126"/>
                </a:solidFill>
                <a:latin typeface="Arial"/>
              </a:rPr>
              <a:t>Data wrangling, log triage, plotting, a first-draft methods paragraph, or lit-review notes.</a:t>
            </a:r>
          </a:p>
          <a:p>
            <a:pPr>
              <a:lnSpc>
                <a:spcPct val="108000"/>
              </a:lnSpc>
              <a:spcAft>
                <a:spcPts val="1300"/>
              </a:spcAft>
            </a:pPr>
            <a:r>
              <a:rPr sz="1500" b="1" i="0">
                <a:solidFill>
                  <a:srgbClr val="007482"/>
                </a:solidFill>
                <a:latin typeface="Arial"/>
              </a:rPr>
              <a:t>•  </a:t>
            </a:r>
            <a:r>
              <a:rPr sz="1500" b="1" i="0">
                <a:solidFill>
                  <a:srgbClr val="1155CC"/>
                </a:solidFill>
                <a:latin typeface="Arial"/>
              </a:rPr>
              <a:t>It scripts.</a:t>
            </a:r>
            <a:r>
              <a:rPr sz="1500" b="0" i="0">
                <a:solidFill>
                  <a:srgbClr val="1E2126"/>
                </a:solidFill>
                <a:latin typeface="Arial"/>
              </a:rPr>
              <a:t>  </a:t>
            </a:r>
            <a:r>
              <a:rPr sz="1500" b="0" i="0">
                <a:solidFill>
                  <a:srgbClr val="1E2126"/>
                </a:solidFill>
                <a:latin typeface="Arial"/>
              </a:rPr>
              <a:t>One command in, a machine-readable answer out — drop it into a pipeline or a Slurm job.</a:t>
            </a:r>
          </a:p>
          <a:p>
            <a:pPr>
              <a:lnSpc>
                <a:spcPct val="108000"/>
              </a:lnSpc>
              <a:spcAft>
                <a:spcPts val="1300"/>
              </a:spcAft>
            </a:pPr>
            <a:r>
              <a:rPr sz="1500" b="1" i="0">
                <a:solidFill>
                  <a:srgbClr val="007482"/>
                </a:solidFill>
                <a:latin typeface="Arial"/>
              </a:rPr>
              <a:t>•  </a:t>
            </a:r>
            <a:r>
              <a:rPr sz="1500" b="1" i="0">
                <a:solidFill>
                  <a:srgbClr val="1155CC"/>
                </a:solidFill>
                <a:latin typeface="Arial"/>
              </a:rPr>
              <a:t>Everything is on the record.</a:t>
            </a:r>
            <a:r>
              <a:rPr sz="1500" b="0" i="0">
                <a:solidFill>
                  <a:srgbClr val="1E2126"/>
                </a:solidFill>
                <a:latin typeface="Arial"/>
              </a:rPr>
              <a:t>  </a:t>
            </a:r>
            <a:r>
              <a:rPr sz="1500" b="0" i="0">
                <a:solidFill>
                  <a:srgbClr val="1E2126"/>
                </a:solidFill>
                <a:latin typeface="Arial"/>
              </a:rPr>
              <a:t>Every action is logged, permission-checked, and costed.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2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Getting started on Midway</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Install once, log in once — then you are working.</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24384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Install and log in — once, and without admin rights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installs into your home directory; log in once, then grab a node with internet.</a:t>
            </a:r>
          </a:p>
        </p:txBody>
      </p:sp>
      <p:pic>
        <p:nvPicPr>
          <p:cNvPr id="5" name="Picture 4" descr="image11.png"/>
          <p:cNvPicPr>
            <a:picLocks noChangeAspect="1"/>
          </p:cNvPicPr>
          <p:nvPr/>
        </p:nvPicPr>
        <p:blipFill>
          <a:blip r:embed="rId2"/>
          <a:stretch>
            <a:fillRect/>
          </a:stretch>
        </p:blipFill>
        <p:spPr>
          <a:xfrm>
            <a:off x="901307" y="1700784"/>
            <a:ext cx="7341385"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ways to work with it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463040"/>
            <a:ext cx="3552444" cy="457200"/>
          </a:xfrm>
          <a:prstGeom prst="rect">
            <a:avLst/>
          </a:prstGeom>
          <a:noFill/>
        </p:spPr>
        <p:txBody>
          <a:bodyPr wrap="square" anchor="ctr" lIns="0" rIns="0" tIns="0" bIns="0">
            <a:spAutoFit/>
          </a:bodyPr>
          <a:lstStyle/>
          <a:p>
            <a:r>
              <a:rPr sz="1450" b="1" i="0">
                <a:solidFill>
                  <a:srgbClr val="1155CC"/>
                </a:solidFill>
                <a:latin typeface="Arial"/>
              </a:rPr>
              <a:t>Interactive — your daily driver</a:t>
            </a:r>
          </a:p>
        </p:txBody>
      </p:sp>
      <p:sp>
        <p:nvSpPr>
          <p:cNvPr id="6" name="TextBox 5"/>
          <p:cNvSpPr txBox="1"/>
          <p:nvPr/>
        </p:nvSpPr>
        <p:spPr>
          <a:xfrm>
            <a:off x="676656" y="2029968"/>
            <a:ext cx="3552444" cy="2651760"/>
          </a:xfrm>
          <a:prstGeom prst="rect">
            <a:avLst/>
          </a:prstGeom>
          <a:noFill/>
        </p:spPr>
        <p:txBody>
          <a:bodyPr wrap="square" anchor="t" lIns="0" rIns="0" tIns="0" bIns="0">
            <a:spAutoFit/>
          </a:bodyPr>
          <a:lstStyle/>
          <a:p>
            <a:pPr>
              <a:lnSpc>
                <a:spcPct val="106000"/>
              </a:lnSpc>
              <a:spcAft>
                <a:spcPts val="800"/>
              </a:spcAft>
            </a:pPr>
            <a:r>
              <a:rPr sz="1300" b="1" i="0">
                <a:solidFill>
                  <a:srgbClr val="007482"/>
                </a:solidFill>
                <a:latin typeface="Arial"/>
              </a:rPr>
              <a:t>•  </a:t>
            </a:r>
            <a:r>
              <a:rPr sz="1300" b="0" i="0">
                <a:solidFill>
                  <a:srgbClr val="1E2126"/>
                </a:solidFill>
                <a:latin typeface="Arial"/>
              </a:rPr>
              <a:t>Run </a:t>
            </a:r>
            <a:r>
              <a:rPr sz="1300" b="0" i="0">
                <a:solidFill>
                  <a:srgbClr val="007482"/>
                </a:solidFill>
                <a:latin typeface="Arial"/>
              </a:rPr>
              <a:t>claude</a:t>
            </a:r>
            <a:r>
              <a:rPr sz="1300" b="0" i="0">
                <a:solidFill>
                  <a:srgbClr val="1E2126"/>
                </a:solidFill>
                <a:latin typeface="Arial"/>
              </a:rPr>
              <a:t> in a folder and talk to it.</a:t>
            </a:r>
          </a:p>
          <a:p>
            <a:pPr>
              <a:lnSpc>
                <a:spcPct val="106000"/>
              </a:lnSpc>
              <a:spcAft>
                <a:spcPts val="800"/>
              </a:spcAft>
            </a:pPr>
            <a:r>
              <a:rPr sz="1300" b="1" i="0">
                <a:solidFill>
                  <a:srgbClr val="007482"/>
                </a:solidFill>
                <a:latin typeface="Arial"/>
              </a:rPr>
              <a:t>•  </a:t>
            </a:r>
            <a:r>
              <a:rPr sz="1300" b="0" i="0">
                <a:solidFill>
                  <a:srgbClr val="007482"/>
                </a:solidFill>
                <a:latin typeface="Arial"/>
              </a:rPr>
              <a:t>@file</a:t>
            </a:r>
            <a:r>
              <a:rPr sz="1300" b="0" i="0">
                <a:solidFill>
                  <a:srgbClr val="1E2126"/>
                </a:solidFill>
                <a:latin typeface="Arial"/>
              </a:rPr>
              <a:t> points at a file, </a:t>
            </a:r>
            <a:r>
              <a:rPr sz="1300" b="0" i="0">
                <a:solidFill>
                  <a:srgbClr val="007482"/>
                </a:solidFill>
                <a:latin typeface="Arial"/>
              </a:rPr>
              <a:t>!</a:t>
            </a:r>
            <a:r>
              <a:rPr sz="1300" b="0" i="0">
                <a:solidFill>
                  <a:srgbClr val="1E2126"/>
                </a:solidFill>
                <a:latin typeface="Arial"/>
              </a:rPr>
              <a:t> runs a shell command, </a:t>
            </a:r>
            <a:r>
              <a:rPr sz="1300" b="0" i="0">
                <a:solidFill>
                  <a:srgbClr val="007482"/>
                </a:solidFill>
                <a:latin typeface="Arial"/>
              </a:rPr>
              <a:t>/</a:t>
            </a:r>
            <a:r>
              <a:rPr sz="1300" b="0" i="0">
                <a:solidFill>
                  <a:srgbClr val="1E2126"/>
                </a:solidFill>
                <a:latin typeface="Arial"/>
              </a:rPr>
              <a:t> fires a saved command.</a:t>
            </a:r>
          </a:p>
          <a:p>
            <a:pPr>
              <a:lnSpc>
                <a:spcPct val="106000"/>
              </a:lnSpc>
              <a:spcAft>
                <a:spcPts val="800"/>
              </a:spcAft>
            </a:pPr>
            <a:r>
              <a:rPr sz="1300" b="1" i="0">
                <a:solidFill>
                  <a:srgbClr val="007482"/>
                </a:solidFill>
                <a:latin typeface="Arial"/>
              </a:rPr>
              <a:t>•  </a:t>
            </a:r>
            <a:r>
              <a:rPr sz="1300" b="0" i="0">
                <a:solidFill>
                  <a:srgbClr val="1E2126"/>
                </a:solidFill>
                <a:latin typeface="Arial"/>
              </a:rPr>
              <a:t>Where you will spend most of your time — and the hands-on lab.</a:t>
            </a:r>
          </a:p>
        </p:txBody>
      </p:sp>
      <p:sp>
        <p:nvSpPr>
          <p:cNvPr id="7" name="Rectangle 6"/>
          <p:cNvSpPr/>
          <p:nvPr/>
        </p:nvSpPr>
        <p:spPr>
          <a:xfrm>
            <a:off x="4823459"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1475" y="1463040"/>
            <a:ext cx="3552444" cy="457200"/>
          </a:xfrm>
          <a:prstGeom prst="rect">
            <a:avLst/>
          </a:prstGeom>
          <a:noFill/>
        </p:spPr>
        <p:txBody>
          <a:bodyPr wrap="square" anchor="ctr" lIns="0" rIns="0" tIns="0" bIns="0">
            <a:spAutoFit/>
          </a:bodyPr>
          <a:lstStyle/>
          <a:p>
            <a:r>
              <a:rPr sz="1450" b="1" i="0">
                <a:solidFill>
                  <a:srgbClr val="007482"/>
                </a:solidFill>
                <a:latin typeface="Arial"/>
              </a:rPr>
              <a:t>Headless — </a:t>
            </a:r>
            <a:r>
              <a:rPr sz="1450" b="1" i="0">
                <a:solidFill>
                  <a:srgbClr val="007482"/>
                </a:solidFill>
                <a:latin typeface="Arial"/>
              </a:rPr>
              <a:t>claude -p "…"</a:t>
            </a:r>
          </a:p>
        </p:txBody>
      </p:sp>
      <p:sp>
        <p:nvSpPr>
          <p:cNvPr id="9" name="TextBox 8"/>
          <p:cNvSpPr txBox="1"/>
          <p:nvPr/>
        </p:nvSpPr>
        <p:spPr>
          <a:xfrm>
            <a:off x="4951475" y="2029968"/>
            <a:ext cx="3552444" cy="2651760"/>
          </a:xfrm>
          <a:prstGeom prst="rect">
            <a:avLst/>
          </a:prstGeom>
          <a:noFill/>
        </p:spPr>
        <p:txBody>
          <a:bodyPr wrap="square" anchor="t" lIns="0" rIns="0" tIns="0" bIns="0">
            <a:spAutoFit/>
          </a:bodyPr>
          <a:lstStyle/>
          <a:p>
            <a:pPr>
              <a:lnSpc>
                <a:spcPct val="106000"/>
              </a:lnSpc>
              <a:spcAft>
                <a:spcPts val="800"/>
              </a:spcAft>
            </a:pPr>
            <a:r>
              <a:rPr sz="1300" b="1" i="0">
                <a:solidFill>
                  <a:srgbClr val="007482"/>
                </a:solidFill>
                <a:latin typeface="Arial"/>
              </a:rPr>
              <a:t>•  </a:t>
            </a:r>
            <a:r>
              <a:rPr sz="1300" b="0" i="0">
                <a:solidFill>
                  <a:srgbClr val="1E2126"/>
                </a:solidFill>
                <a:latin typeface="Arial"/>
              </a:rPr>
              <a:t>One prompt in, one answer out.</a:t>
            </a:r>
          </a:p>
          <a:p>
            <a:pPr>
              <a:lnSpc>
                <a:spcPct val="106000"/>
              </a:lnSpc>
              <a:spcAft>
                <a:spcPts val="800"/>
              </a:spcAft>
            </a:pPr>
            <a:r>
              <a:rPr sz="1300" b="1" i="0">
                <a:solidFill>
                  <a:srgbClr val="007482"/>
                </a:solidFill>
                <a:latin typeface="Arial"/>
              </a:rPr>
              <a:t>•  </a:t>
            </a:r>
            <a:r>
              <a:rPr sz="1300" b="0" i="0">
                <a:solidFill>
                  <a:srgbClr val="1E2126"/>
                </a:solidFill>
                <a:latin typeface="Arial"/>
              </a:rPr>
              <a:t>For scripts, batch jobs, and pipelines.</a:t>
            </a:r>
          </a:p>
          <a:p>
            <a:pPr>
              <a:lnSpc>
                <a:spcPct val="106000"/>
              </a:lnSpc>
              <a:spcAft>
                <a:spcPts val="800"/>
              </a:spcAft>
            </a:pPr>
            <a:r>
              <a:rPr sz="1300" b="1" i="0">
                <a:solidFill>
                  <a:srgbClr val="007482"/>
                </a:solidFill>
                <a:latin typeface="Arial"/>
              </a:rPr>
              <a:t>•  </a:t>
            </a:r>
            <a:r>
              <a:rPr sz="1300" b="0" i="0">
                <a:solidFill>
                  <a:srgbClr val="1E2126"/>
                </a:solidFill>
                <a:latin typeface="Arial"/>
              </a:rPr>
              <a:t>The 'Scaling up' section, later.</a:t>
            </a:r>
          </a:p>
        </p:txBody>
      </p:sp>
      <p:sp>
        <p:nvSpPr>
          <p:cNvPr id="10" name="TextBox 9"/>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session, step by step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reads, edits, runs the tests, and reports the cost — and you watch every step.</a:t>
            </a:r>
          </a:p>
        </p:txBody>
      </p:sp>
      <p:pic>
        <p:nvPicPr>
          <p:cNvPr id="5" name="Picture 4" descr="image18.png"/>
          <p:cNvPicPr>
            <a:picLocks noChangeAspect="1"/>
          </p:cNvPicPr>
          <p:nvPr/>
        </p:nvPicPr>
        <p:blipFill>
          <a:blip r:embed="rId2"/>
          <a:stretch>
            <a:fillRect/>
          </a:stretch>
        </p:blipFill>
        <p:spPr>
          <a:xfrm>
            <a:off x="2435394" y="1700784"/>
            <a:ext cx="4273211"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Choosing a model for the job</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Switch anytime with </a:t>
            </a:r>
            <a:r>
              <a:rPr sz="1250" b="0" i="0">
                <a:solidFill>
                  <a:srgbClr val="007482"/>
                </a:solidFill>
                <a:latin typeface="Arial"/>
              </a:rPr>
              <a:t>/model</a:t>
            </a:r>
            <a:r>
              <a:rPr sz="1250" b="0" i="0">
                <a:solidFill>
                  <a:srgbClr val="555A61"/>
                </a:solidFill>
                <a:latin typeface="Arial"/>
              </a:rPr>
              <a:t>. Bigger is smarter but pricier; smaller is fast and cheap for bulk.</a:t>
            </a:r>
          </a:p>
        </p:txBody>
      </p:sp>
      <p:graphicFrame>
        <p:nvGraphicFramePr>
          <p:cNvPr id="5" name="Table 4"/>
          <p:cNvGraphicFramePr>
            <a:graphicFrameLocks noGrp="1"/>
          </p:cNvGraphicFramePr>
          <p:nvPr/>
        </p:nvGraphicFramePr>
        <p:xfrm>
          <a:off x="548640" y="1920240"/>
          <a:ext cx="8046719" cy="2267712"/>
        </p:xfrm>
        <a:graphic>
          <a:graphicData uri="http://schemas.openxmlformats.org/drawingml/2006/table">
            <a:tbl>
              <a:tblPr firstRow="0" bandRow="0">
                <a:tableStyleId>{5C22544A-7EE6-4342-B048-85BDC9FD1C3A}</a:tableStyleId>
              </a:tblPr>
              <a:tblGrid>
                <a:gridCol w="1508760"/>
                <a:gridCol w="4626864"/>
                <a:gridCol w="1911095"/>
              </a:tblGrid>
              <a:tr h="566928">
                <a:tc>
                  <a:txBody>
                    <a:bodyPr wrap="square"/>
                    <a:lstStyle/>
                    <a:p>
                      <a:pPr algn="l"/>
                      <a:r>
                        <a:rPr sz="1300" b="1" i="0">
                          <a:solidFill>
                            <a:srgbClr val="FFFFFF"/>
                          </a:solidFill>
                          <a:latin typeface="Arial"/>
                        </a:rPr>
                        <a:t>Model</a:t>
                      </a:r>
                    </a:p>
                  </a:txBody>
                  <a:tcPr marL="128016" marR="91440" marT="45720" marB="45720" anchor="ctr">
                    <a:solidFill>
                      <a:srgbClr val="007482"/>
                    </a:solidFill>
                  </a:tcPr>
                </a:tc>
                <a:tc>
                  <a:txBody>
                    <a:bodyPr wrap="square"/>
                    <a:lstStyle/>
                    <a:p>
                      <a:pPr algn="l"/>
                      <a:r>
                        <a:rPr sz="1300" b="1" i="0">
                          <a:solidFill>
                            <a:srgbClr val="FFFFFF"/>
                          </a:solidFill>
                          <a:latin typeface="Arial"/>
                        </a:rPr>
                        <a:t>Best for</a:t>
                      </a:r>
                    </a:p>
                  </a:txBody>
                  <a:tcPr marL="128016" marR="91440" marT="45720" marB="45720" anchor="ctr">
                    <a:solidFill>
                      <a:srgbClr val="007482"/>
                    </a:solidFill>
                  </a:tcPr>
                </a:tc>
                <a:tc>
                  <a:txBody>
                    <a:bodyPr wrap="square"/>
                    <a:lstStyle/>
                    <a:p>
                      <a:pPr algn="l"/>
                      <a:r>
                        <a:rPr sz="1300" b="1" i="0">
                          <a:solidFill>
                            <a:srgbClr val="FFFFFF"/>
                          </a:solidFill>
                          <a:latin typeface="Arial"/>
                        </a:rPr>
                        <a:t>Relative cost</a:t>
                      </a:r>
                    </a:p>
                  </a:txBody>
                  <a:tcPr marL="128016" marR="91440" marT="45720" marB="45720" anchor="ctr">
                    <a:solidFill>
                      <a:srgbClr val="007482"/>
                    </a:solidFill>
                  </a:tcPr>
                </a:tc>
              </a:tr>
              <a:tr h="566928">
                <a:tc>
                  <a:txBody>
                    <a:bodyPr wrap="square"/>
                    <a:lstStyle/>
                    <a:p>
                      <a:pPr algn="l"/>
                      <a:r>
                        <a:rPr sz="1250" b="1" i="0">
                          <a:solidFill>
                            <a:srgbClr val="1E2126"/>
                          </a:solidFill>
                          <a:latin typeface="Arial"/>
                        </a:rPr>
                        <a:t>Opus</a:t>
                      </a:r>
                    </a:p>
                  </a:txBody>
                  <a:tcPr marL="128016" marR="91440" marT="45720" marB="45720" anchor="ctr">
                    <a:solidFill>
                      <a:srgbClr val="FFFFFF"/>
                    </a:solidFill>
                  </a:tcPr>
                </a:tc>
                <a:tc>
                  <a:txBody>
                    <a:bodyPr wrap="square"/>
                    <a:lstStyle/>
                    <a:p>
                      <a:pPr algn="l"/>
                      <a:r>
                        <a:rPr sz="1250" b="0" i="0">
                          <a:solidFill>
                            <a:srgbClr val="1E2126"/>
                          </a:solidFill>
                          <a:latin typeface="Arial"/>
                        </a:rPr>
                        <a:t>The hardest reasoning</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r h="566928">
                <a:tc>
                  <a:txBody>
                    <a:bodyPr wrap="square"/>
                    <a:lstStyle/>
                    <a:p>
                      <a:pPr algn="l"/>
                      <a:r>
                        <a:rPr sz="1250" b="1" i="0">
                          <a:solidFill>
                            <a:srgbClr val="1E2126"/>
                          </a:solidFill>
                          <a:latin typeface="Arial"/>
                        </a:rPr>
                        <a:t>Sonnet</a:t>
                      </a:r>
                    </a:p>
                  </a:txBody>
                  <a:tcPr marL="128016" marR="91440" marT="45720" marB="45720" anchor="ctr">
                    <a:solidFill>
                      <a:srgbClr val="EEF2FB"/>
                    </a:solidFill>
                  </a:tcPr>
                </a:tc>
                <a:tc>
                  <a:txBody>
                    <a:bodyPr wrap="square"/>
                    <a:lstStyle/>
                    <a:p>
                      <a:pPr algn="l"/>
                      <a:r>
                        <a:rPr sz="1250" b="0" i="0">
                          <a:solidFill>
                            <a:srgbClr val="1E2126"/>
                          </a:solidFill>
                          <a:latin typeface="Arial"/>
                        </a:rPr>
                        <a:t>Balanced, everyday work</a:t>
                      </a:r>
                    </a:p>
                  </a:txBody>
                  <a:tcPr marL="128016" marR="91440" marT="45720" marB="45720" anchor="ctr">
                    <a:solidFill>
                      <a:srgbClr val="EEF2FB"/>
                    </a:solidFill>
                  </a:tcPr>
                </a:tc>
                <a:tc>
                  <a:txBody>
                    <a:bodyPr wrap="square"/>
                    <a:lstStyle/>
                    <a:p>
                      <a:pPr algn="l"/>
                      <a:r>
                        <a:rPr sz="1250" b="0" i="0">
                          <a:solidFill>
                            <a:srgbClr val="1E2126"/>
                          </a:solidFill>
                          <a:latin typeface="Arial"/>
                        </a:rPr>
                        <a:t>$$</a:t>
                      </a:r>
                    </a:p>
                  </a:txBody>
                  <a:tcPr marL="128016" marR="91440" marT="45720" marB="45720" anchor="ctr">
                    <a:solidFill>
                      <a:srgbClr val="EEF2FB"/>
                    </a:solidFill>
                  </a:tcPr>
                </a:tc>
              </a:tr>
              <a:tr h="566928">
                <a:tc>
                  <a:txBody>
                    <a:bodyPr wrap="square"/>
                    <a:lstStyle/>
                    <a:p>
                      <a:pPr algn="l"/>
                      <a:r>
                        <a:rPr sz="1250" b="1" i="0">
                          <a:solidFill>
                            <a:srgbClr val="1E2126"/>
                          </a:solidFill>
                          <a:latin typeface="Arial"/>
                        </a:rPr>
                        <a:t>Haiku</a:t>
                      </a:r>
                    </a:p>
                  </a:txBody>
                  <a:tcPr marL="128016" marR="91440" marT="45720" marB="45720" anchor="ctr">
                    <a:solidFill>
                      <a:srgbClr val="FFFFFF"/>
                    </a:solidFill>
                  </a:tcPr>
                </a:tc>
                <a:tc>
                  <a:txBody>
                    <a:bodyPr wrap="square"/>
                    <a:lstStyle/>
                    <a:p>
                      <a:pPr algn="l"/>
                      <a:r>
                        <a:rPr sz="1250" b="0" i="0">
                          <a:solidFill>
                            <a:srgbClr val="1E2126"/>
                          </a:solidFill>
                          <a:latin typeface="Arial"/>
                        </a:rPr>
                        <a:t>Fast and cheap — ideal for batch</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bl>
          </a:graphicData>
        </a:graphic>
      </p:graphicFrame>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Current models and per-token pricing: Anthropic pricing page.</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few moves worth knowing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400"/>
              </a:spcAft>
            </a:pPr>
            <a:r>
              <a:rPr sz="1450" b="1" i="0">
                <a:solidFill>
                  <a:srgbClr val="007482"/>
                </a:solidFill>
                <a:latin typeface="Arial"/>
              </a:rPr>
              <a:t>•  </a:t>
            </a:r>
            <a:r>
              <a:rPr sz="1450" b="1" i="0">
                <a:solidFill>
                  <a:srgbClr val="1155CC"/>
                </a:solidFill>
                <a:latin typeface="Arial"/>
              </a:rPr>
              <a:t>Shift+Tab</a:t>
            </a:r>
            <a:r>
              <a:rPr sz="1450" b="0" i="0">
                <a:solidFill>
                  <a:srgbClr val="1E2126"/>
                </a:solidFill>
                <a:latin typeface="Arial"/>
              </a:rPr>
              <a:t>  </a:t>
            </a:r>
            <a:r>
              <a:rPr sz="1450" b="0" i="0">
                <a:solidFill>
                  <a:srgbClr val="1E2126"/>
                </a:solidFill>
                <a:latin typeface="Arial"/>
              </a:rPr>
              <a:t>cycles how much it may do on its own — from ask-first, to read-only plan, to auto-edit.</a:t>
            </a:r>
          </a:p>
          <a:p>
            <a:pPr>
              <a:lnSpc>
                <a:spcPct val="108000"/>
              </a:lnSpc>
              <a:spcAft>
                <a:spcPts val="1400"/>
              </a:spcAft>
            </a:pPr>
            <a:r>
              <a:rPr sz="1450" b="1" i="0">
                <a:solidFill>
                  <a:srgbClr val="007482"/>
                </a:solidFill>
                <a:latin typeface="Arial"/>
              </a:rPr>
              <a:t>•  </a:t>
            </a:r>
            <a:r>
              <a:rPr sz="1450" b="1" i="0">
                <a:solidFill>
                  <a:srgbClr val="1155CC"/>
                </a:solidFill>
                <a:latin typeface="Arial"/>
              </a:rPr>
              <a:t>Esc, then Esc Esc</a:t>
            </a:r>
            <a:r>
              <a:rPr sz="1450" b="0" i="0">
                <a:solidFill>
                  <a:srgbClr val="1E2126"/>
                </a:solidFill>
                <a:latin typeface="Arial"/>
              </a:rPr>
              <a:t>  </a:t>
            </a:r>
            <a:r>
              <a:rPr sz="1450" b="0" i="0">
                <a:solidFill>
                  <a:srgbClr val="1E2126"/>
                </a:solidFill>
                <a:latin typeface="Arial"/>
              </a:rPr>
              <a:t>stops it; or rewinds to before its last edit (a local checkpoint).</a:t>
            </a:r>
          </a:p>
          <a:p>
            <a:pPr>
              <a:lnSpc>
                <a:spcPct val="108000"/>
              </a:lnSpc>
              <a:spcAft>
                <a:spcPts val="1400"/>
              </a:spcAft>
            </a:pPr>
            <a:r>
              <a:rPr sz="1450" b="1" i="0">
                <a:solidFill>
                  <a:srgbClr val="007482"/>
                </a:solidFill>
                <a:latin typeface="Arial"/>
              </a:rPr>
              <a:t>•  </a:t>
            </a:r>
            <a:r>
              <a:rPr sz="1450" b="1" i="0">
                <a:solidFill>
                  <a:srgbClr val="1155CC"/>
                </a:solidFill>
                <a:latin typeface="Arial"/>
              </a:rPr>
              <a:t>/cost  ·  /clear  ·  /help</a:t>
            </a:r>
            <a:r>
              <a:rPr sz="1450" b="0" i="0">
                <a:solidFill>
                  <a:srgbClr val="1E2126"/>
                </a:solidFill>
                <a:latin typeface="Arial"/>
              </a:rPr>
              <a:t>  </a:t>
            </a:r>
            <a:r>
              <a:rPr sz="1450" b="0" i="0">
                <a:solidFill>
                  <a:srgbClr val="1E2126"/>
                </a:solidFill>
                <a:latin typeface="Arial"/>
              </a:rPr>
              <a:t>check spend, start a fresh context, or list every command.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3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Make it yours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Teach it your project, save your prompts, add your own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36576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Everything around the model is yours to shape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map of what you configure. The model sits in the middle; the harness surrounds it.</a:t>
            </a:r>
          </a:p>
        </p:txBody>
      </p:sp>
      <p:pic>
        <p:nvPicPr>
          <p:cNvPr id="5" name="Picture 4" descr="image4.png"/>
          <p:cNvPicPr>
            <a:picLocks noChangeAspect="1"/>
          </p:cNvPicPr>
          <p:nvPr/>
        </p:nvPicPr>
        <p:blipFill>
          <a:blip r:embed="rId2"/>
          <a:stretch>
            <a:fillRect/>
          </a:stretch>
        </p:blipFill>
        <p:spPr>
          <a:xfrm>
            <a:off x="1653235" y="1700784"/>
            <a:ext cx="583752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Project memory: a file it reads every time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007482"/>
                </a:solidFill>
                <a:latin typeface="Arial"/>
              </a:rPr>
              <a:t>CLAUDE.md</a:t>
            </a:r>
            <a:r>
              <a:rPr sz="1250" b="0" i="0">
                <a:solidFill>
                  <a:srgbClr val="555A61"/>
                </a:solidFill>
                <a:latin typeface="Arial"/>
              </a:rPr>
              <a:t> — a plain Markdown file, loaded at the start of every session in that folder.</a:t>
            </a:r>
          </a:p>
        </p:txBody>
      </p:sp>
      <p:sp>
        <p:nvSpPr>
          <p:cNvPr id="5" name="TextBox 4"/>
          <p:cNvSpPr txBox="1"/>
          <p:nvPr/>
        </p:nvSpPr>
        <p:spPr>
          <a:xfrm>
            <a:off x="548640" y="1755648"/>
            <a:ext cx="8046720" cy="2926080"/>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Write down your project's facts.</a:t>
            </a:r>
            <a:r>
              <a:rPr sz="1500" b="0" i="0">
                <a:solidFill>
                  <a:srgbClr val="1E2126"/>
                </a:solidFill>
                <a:latin typeface="Arial"/>
              </a:rPr>
              <a:t>  </a:t>
            </a:r>
            <a:r>
              <a:rPr sz="1500" b="0" i="0">
                <a:solidFill>
                  <a:srgbClr val="1E2126"/>
                </a:solidFill>
                <a:latin typeface="Arial"/>
              </a:rPr>
              <a:t>“tests live here,” “use the conda env AI,” “raw data is read-only.”</a:t>
            </a:r>
          </a:p>
          <a:p>
            <a:pPr>
              <a:lnSpc>
                <a:spcPct val="108000"/>
              </a:lnSpc>
              <a:spcAft>
                <a:spcPts val="1300"/>
              </a:spcAft>
            </a:pPr>
            <a:r>
              <a:rPr sz="1500" b="1" i="0">
                <a:solidFill>
                  <a:srgbClr val="007482"/>
                </a:solidFill>
                <a:latin typeface="Arial"/>
              </a:rPr>
              <a:t>•  </a:t>
            </a:r>
            <a:r>
              <a:rPr sz="1500" b="1" i="0">
                <a:solidFill>
                  <a:srgbClr val="007482"/>
                </a:solidFill>
                <a:latin typeface="Arial"/>
              </a:rPr>
              <a:t>/init</a:t>
            </a:r>
            <a:r>
              <a:rPr sz="1500" b="1" i="0">
                <a:solidFill>
                  <a:srgbClr val="1155CC"/>
                </a:solidFill>
                <a:latin typeface="Arial"/>
              </a:rPr>
              <a:t> writes a starter for you.</a:t>
            </a:r>
            <a:r>
              <a:rPr sz="1500" b="0" i="0">
                <a:solidFill>
                  <a:srgbClr val="1E2126"/>
                </a:solidFill>
                <a:latin typeface="Arial"/>
              </a:rPr>
              <a:t>  </a:t>
            </a:r>
            <a:r>
              <a:rPr sz="1500" b="0" i="0">
                <a:solidFill>
                  <a:srgbClr val="1E2126"/>
                </a:solidFill>
                <a:latin typeface="Arial"/>
              </a:rPr>
              <a:t>Keep it short — under about 200 lines. It is advice, not a hard rule.</a:t>
            </a:r>
          </a:p>
          <a:p>
            <a:pPr>
              <a:lnSpc>
                <a:spcPct val="108000"/>
              </a:lnSpc>
              <a:spcAft>
                <a:spcPts val="1300"/>
              </a:spcAft>
            </a:pPr>
            <a:r>
              <a:rPr sz="1500" b="1" i="0">
                <a:solidFill>
                  <a:srgbClr val="007482"/>
                </a:solidFill>
                <a:latin typeface="Arial"/>
              </a:rPr>
              <a:t>•  </a:t>
            </a:r>
            <a:r>
              <a:rPr sz="1500" b="1" i="0">
                <a:solidFill>
                  <a:srgbClr val="1155CC"/>
                </a:solidFill>
                <a:latin typeface="Arial"/>
              </a:rPr>
              <a:t>It is shared, via git.</a:t>
            </a:r>
            <a:r>
              <a:rPr sz="1500" b="0" i="0">
                <a:solidFill>
                  <a:srgbClr val="1E2126"/>
                </a:solidFill>
                <a:latin typeface="Arial"/>
              </a:rPr>
              <a:t>  </a:t>
            </a:r>
            <a:r>
              <a:rPr sz="1500" b="0" i="0">
                <a:solidFill>
                  <a:srgbClr val="1E2126"/>
                </a:solidFill>
                <a:latin typeface="Arial"/>
              </a:rPr>
              <a:t>Check it in and the whole lab gets the same onboarding.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Save a prompt you reuse: slash commands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prompt you write once and fire by name — versioned and shared with your lab.</a:t>
            </a:r>
          </a:p>
        </p:txBody>
      </p:sp>
      <p:pic>
        <p:nvPicPr>
          <p:cNvPr id="5" name="Picture 4" descr="image13.png"/>
          <p:cNvPicPr>
            <a:picLocks noChangeAspect="1"/>
          </p:cNvPicPr>
          <p:nvPr/>
        </p:nvPicPr>
        <p:blipFill>
          <a:blip r:embed="rId2"/>
          <a:stretch>
            <a:fillRect/>
          </a:stretch>
        </p:blipFill>
        <p:spPr>
          <a:xfrm>
            <a:off x="692715" y="1700784"/>
            <a:ext cx="775856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Skills: abilities the model reaches for itself</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call it — the model loads it when your request matches its description.</a:t>
            </a:r>
          </a:p>
        </p:txBody>
      </p:sp>
      <p:pic>
        <p:nvPicPr>
          <p:cNvPr id="5" name="Picture 4" descr="image6.png"/>
          <p:cNvPicPr>
            <a:picLocks noChangeAspect="1"/>
          </p:cNvPicPr>
          <p:nvPr/>
        </p:nvPicPr>
        <p:blipFill>
          <a:blip r:embed="rId2"/>
          <a:stretch>
            <a:fillRect/>
          </a:stretch>
        </p:blipFill>
        <p:spPr>
          <a:xfrm>
            <a:off x="1234094" y="1700784"/>
            <a:ext cx="6675811"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Agent Skills: Anthropic, "Equipping agents for the real world with Agent Skills" (2025).</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4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Staying in control</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The part that makes it safe on a shared cluster.</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48768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 decide how much it can do</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Shift+Tab cycles these. You set the mode — the model cannot change it.</a:t>
            </a:r>
          </a:p>
        </p:txBody>
      </p:sp>
      <p:graphicFrame>
        <p:nvGraphicFramePr>
          <p:cNvPr id="5" name="Table 4"/>
          <p:cNvGraphicFramePr>
            <a:graphicFrameLocks noGrp="1"/>
          </p:cNvGraphicFramePr>
          <p:nvPr/>
        </p:nvGraphicFramePr>
        <p:xfrm>
          <a:off x="548640" y="1920240"/>
          <a:ext cx="8046720" cy="2194560"/>
        </p:xfrm>
        <a:graphic>
          <a:graphicData uri="http://schemas.openxmlformats.org/drawingml/2006/table">
            <a:tbl>
              <a:tblPr firstRow="0" bandRow="0">
                <a:tableStyleId>{5C22544A-7EE6-4342-B048-85BDC9FD1C3A}</a:tableStyleId>
              </a:tblPr>
              <a:tblGrid>
                <a:gridCol w="2313432"/>
                <a:gridCol w="5733288"/>
              </a:tblGrid>
              <a:tr h="548640">
                <a:tc>
                  <a:txBody>
                    <a:bodyPr wrap="square"/>
                    <a:lstStyle/>
                    <a:p>
                      <a:pPr algn="l"/>
                      <a:r>
                        <a:rPr sz="1300" b="1" i="0">
                          <a:solidFill>
                            <a:srgbClr val="FFFFFF"/>
                          </a:solidFill>
                          <a:latin typeface="Arial"/>
                        </a:rPr>
                        <a:t>Mode</a:t>
                      </a:r>
                    </a:p>
                  </a:txBody>
                  <a:tcPr marL="128016" marR="91440" marT="45720" marB="45720" anchor="ctr">
                    <a:solidFill>
                      <a:srgbClr val="007482"/>
                    </a:solidFill>
                  </a:tcPr>
                </a:tc>
                <a:tc>
                  <a:txBody>
                    <a:bodyPr wrap="square"/>
                    <a:lstStyle/>
                    <a:p>
                      <a:pPr algn="l"/>
                      <a:r>
                        <a:rPr sz="1300" b="1" i="0">
                          <a:solidFill>
                            <a:srgbClr val="FFFFFF"/>
                          </a:solidFill>
                          <a:latin typeface="Arial"/>
                        </a:rPr>
                        <a:t>What it does</a:t>
                      </a:r>
                    </a:p>
                  </a:txBody>
                  <a:tcPr marL="128016" marR="91440" marT="45720" marB="45720" anchor="ctr">
                    <a:solidFill>
                      <a:srgbClr val="007482"/>
                    </a:solidFill>
                  </a:tcPr>
                </a:tc>
              </a:tr>
              <a:tr h="548640">
                <a:tc>
                  <a:txBody>
                    <a:bodyPr wrap="square"/>
                    <a:lstStyle/>
                    <a:p>
                      <a:pPr algn="l"/>
                      <a:r>
                        <a:rPr sz="1300" b="1" i="0">
                          <a:solidFill>
                            <a:srgbClr val="1E2126"/>
                          </a:solidFill>
                          <a:latin typeface="Arial"/>
                        </a:rPr>
                        <a:t>Ask first (default)</a:t>
                      </a:r>
                    </a:p>
                  </a:txBody>
                  <a:tcPr marL="128016" marR="91440" marT="45720" marB="45720" anchor="ctr">
                    <a:solidFill>
                      <a:srgbClr val="FFFFFF"/>
                    </a:solidFill>
                  </a:tcPr>
                </a:tc>
                <a:tc>
                  <a:txBody>
                    <a:bodyPr wrap="square"/>
                    <a:lstStyle/>
                    <a:p>
                      <a:pPr algn="l"/>
                      <a:r>
                        <a:rPr sz="1300" b="0" i="0">
                          <a:solidFill>
                            <a:srgbClr val="1E2126"/>
                          </a:solidFill>
                          <a:latin typeface="Arial"/>
                        </a:rPr>
                        <a:t>Reads freely; asks before its first edit or command</a:t>
                      </a:r>
                    </a:p>
                  </a:txBody>
                  <a:tcPr marL="128016" marR="91440" marT="45720" marB="45720" anchor="ctr">
                    <a:solidFill>
                      <a:srgbClr val="FFFFFF"/>
                    </a:solidFill>
                  </a:tcPr>
                </a:tc>
              </a:tr>
              <a:tr h="548640">
                <a:tc>
                  <a:txBody>
                    <a:bodyPr wrap="square"/>
                    <a:lstStyle/>
                    <a:p>
                      <a:pPr algn="l"/>
                      <a:r>
                        <a:rPr sz="1300" b="1" i="0">
                          <a:solidFill>
                            <a:srgbClr val="1E2126"/>
                          </a:solidFill>
                          <a:latin typeface="Arial"/>
                        </a:rPr>
                        <a:t>Plan</a:t>
                      </a:r>
                    </a:p>
                  </a:txBody>
                  <a:tcPr marL="128016" marR="91440" marT="45720" marB="45720" anchor="ctr">
                    <a:solidFill>
                      <a:srgbClr val="EEF2FB"/>
                    </a:solidFill>
                  </a:tcPr>
                </a:tc>
                <a:tc>
                  <a:txBody>
                    <a:bodyPr wrap="square"/>
                    <a:lstStyle/>
                    <a:p>
                      <a:pPr algn="l"/>
                      <a:r>
                        <a:rPr sz="1300" b="0" i="0">
                          <a:solidFill>
                            <a:srgbClr val="1E2126"/>
                          </a:solidFill>
                          <a:latin typeface="Arial"/>
                        </a:rPr>
                        <a:t>Read-only — it proposes changes but makes none</a:t>
                      </a:r>
                    </a:p>
                  </a:txBody>
                  <a:tcPr marL="128016" marR="91440" marT="45720" marB="45720" anchor="ctr">
                    <a:solidFill>
                      <a:srgbClr val="EEF2FB"/>
                    </a:solidFill>
                  </a:tcPr>
                </a:tc>
              </a:tr>
              <a:tr h="548640">
                <a:tc>
                  <a:txBody>
                    <a:bodyPr wrap="square"/>
                    <a:lstStyle/>
                    <a:p>
                      <a:pPr algn="l"/>
                      <a:r>
                        <a:rPr sz="1300" b="1" i="0">
                          <a:solidFill>
                            <a:srgbClr val="1E2126"/>
                          </a:solidFill>
                          <a:latin typeface="Arial"/>
                        </a:rPr>
                        <a:t>Accept edits</a:t>
                      </a:r>
                    </a:p>
                  </a:txBody>
                  <a:tcPr marL="128016" marR="91440" marT="45720" marB="45720" anchor="ctr">
                    <a:solidFill>
                      <a:srgbClr val="FFFFFF"/>
                    </a:solidFill>
                  </a:tcPr>
                </a:tc>
                <a:tc>
                  <a:txBody>
                    <a:bodyPr wrap="square"/>
                    <a:lstStyle/>
                    <a:p>
                      <a:pPr algn="l"/>
                      <a:r>
                        <a:rPr sz="1300" b="0" i="0">
                          <a:solidFill>
                            <a:srgbClr val="1E2126"/>
                          </a:solidFill>
                          <a:latin typeface="Arial"/>
                        </a:rPr>
                        <a:t>Approves its own edits inside the current folder</a:t>
                      </a:r>
                    </a:p>
                  </a:txBody>
                  <a:tcPr marL="128016" marR="91440" marT="45720" marB="45720" anchor="ctr">
                    <a:solidFill>
                      <a:srgbClr val="FFFFFF"/>
                    </a:solidFill>
                  </a:tcPr>
                </a:tc>
              </a:tr>
            </a:tbl>
          </a:graphicData>
        </a:graphic>
      </p:graphicFrame>
      <p:sp>
        <p:nvSpPr>
          <p:cNvPr id="6" name="TextBox 5"/>
          <p:cNvSpPr txBox="1"/>
          <p:nvPr/>
        </p:nvSpPr>
        <p:spPr>
          <a:xfrm>
            <a:off x="548640" y="4160520"/>
            <a:ext cx="8046720" cy="411480"/>
          </a:xfrm>
          <a:prstGeom prst="rect">
            <a:avLst/>
          </a:prstGeom>
          <a:noFill/>
        </p:spPr>
        <p:txBody>
          <a:bodyPr wrap="square" anchor="t" lIns="0" rIns="0" tIns="0" bIns="0">
            <a:spAutoFit/>
          </a:bodyPr>
          <a:lstStyle/>
          <a:p>
            <a:r>
              <a:rPr sz="1100" b="0" i="1">
                <a:solidFill>
                  <a:srgbClr val="555A61"/>
                </a:solidFill>
                <a:latin typeface="Arial"/>
              </a:rPr>
              <a:t>A fourth mode skips all checks — only ever in a throwaway container or VM, never on shared files.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Before anything risky, it stops and asks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choose: allow once, always allow this kind, or say no and redirect it.</a:t>
            </a:r>
          </a:p>
        </p:txBody>
      </p:sp>
      <p:pic>
        <p:nvPicPr>
          <p:cNvPr id="5" name="Picture 4" descr="image19.png"/>
          <p:cNvPicPr>
            <a:picLocks noChangeAspect="1"/>
          </p:cNvPicPr>
          <p:nvPr/>
        </p:nvPicPr>
        <p:blipFill>
          <a:blip r:embed="rId2"/>
          <a:stretch>
            <a:fillRect/>
          </a:stretch>
        </p:blipFill>
        <p:spPr>
          <a:xfrm>
            <a:off x="1832728" y="1700784"/>
            <a:ext cx="5478542"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Rules live in a settings file — and a deny always wins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Listed in </a:t>
            </a:r>
            <a:r>
              <a:rPr sz="1250" b="0" i="0">
                <a:solidFill>
                  <a:srgbClr val="007482"/>
                </a:solidFill>
                <a:latin typeface="Arial"/>
              </a:rPr>
              <a:t>.claude/settings.json</a:t>
            </a:r>
            <a:r>
              <a:rPr sz="1250" b="0" i="0">
                <a:solidFill>
                  <a:srgbClr val="555A61"/>
                </a:solidFill>
                <a:latin typeface="Arial"/>
              </a:rPr>
              <a:t>. A hook can also veto, as we will see next.</a:t>
            </a:r>
          </a:p>
        </p:txBody>
      </p:sp>
      <p:pic>
        <p:nvPicPr>
          <p:cNvPr id="5" name="Picture 4" descr="image7.png"/>
          <p:cNvPicPr>
            <a:picLocks noChangeAspect="1"/>
          </p:cNvPicPr>
          <p:nvPr/>
        </p:nvPicPr>
        <p:blipFill>
          <a:blip r:embed="rId2"/>
          <a:stretch>
            <a:fillRect/>
          </a:stretch>
        </p:blipFill>
        <p:spPr>
          <a:xfrm>
            <a:off x="1858006" y="1700784"/>
            <a:ext cx="5427987"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Precedence and rule syntax: Anthropic, Claude Code permissions docs.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Hooks: a check the program cannot skip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Set it once in </a:t>
            </a:r>
            <a:r>
              <a:rPr sz="1250" b="0" i="0">
                <a:solidFill>
                  <a:srgbClr val="007482"/>
                </a:solidFill>
                <a:latin typeface="Arial"/>
              </a:rPr>
              <a:t>settings.json</a:t>
            </a:r>
            <a:r>
              <a:rPr sz="1250" b="0" i="0">
                <a:solidFill>
                  <a:srgbClr val="555A61"/>
                </a:solidFill>
                <a:latin typeface="Arial"/>
              </a:rPr>
              <a:t>; it runs before the tool, on every matching event.</a:t>
            </a:r>
          </a:p>
        </p:txBody>
      </p:sp>
      <p:pic>
        <p:nvPicPr>
          <p:cNvPr id="5" name="Picture 4" descr="image14.png"/>
          <p:cNvPicPr>
            <a:picLocks noChangeAspect="1"/>
          </p:cNvPicPr>
          <p:nvPr/>
        </p:nvPicPr>
        <p:blipFill>
          <a:blip r:embed="rId2"/>
          <a:stretch>
            <a:fillRect/>
          </a:stretch>
        </p:blipFill>
        <p:spPr>
          <a:xfrm>
            <a:off x="1065503" y="1700784"/>
            <a:ext cx="701299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Safe on a shared cluster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Use the permission ladder.</a:t>
            </a:r>
            <a:r>
              <a:rPr sz="1500" b="0" i="0">
                <a:solidFill>
                  <a:srgbClr val="1E2126"/>
                </a:solidFill>
                <a:latin typeface="Arial"/>
              </a:rPr>
              <a:t>  </a:t>
            </a:r>
            <a:r>
              <a:rPr sz="1500" b="0" i="0">
                <a:solidFill>
                  <a:srgbClr val="1E2126"/>
                </a:solidFill>
                <a:latin typeface="Arial"/>
              </a:rPr>
              <a:t>Plan to explore; auto-edit only in a clean git repo; never bypass on shared files.</a:t>
            </a:r>
          </a:p>
          <a:p>
            <a:pPr>
              <a:lnSpc>
                <a:spcPct val="108000"/>
              </a:lnSpc>
              <a:spcAft>
                <a:spcPts val="1300"/>
              </a:spcAft>
            </a:pPr>
            <a:r>
              <a:rPr sz="1500" b="1" i="0">
                <a:solidFill>
                  <a:srgbClr val="007482"/>
                </a:solidFill>
                <a:latin typeface="Arial"/>
              </a:rPr>
              <a:t>•  </a:t>
            </a:r>
            <a:r>
              <a:rPr sz="1500" b="1" i="0">
                <a:solidFill>
                  <a:srgbClr val="1155CC"/>
                </a:solidFill>
                <a:latin typeface="Arial"/>
              </a:rPr>
              <a:t>It can read what you can.</a:t>
            </a:r>
            <a:r>
              <a:rPr sz="1500" b="0" i="0">
                <a:solidFill>
                  <a:srgbClr val="1E2126"/>
                </a:solidFill>
                <a:latin typeface="Arial"/>
              </a:rPr>
              <a:t>  </a:t>
            </a:r>
            <a:r>
              <a:rPr sz="1500" b="0" i="0">
                <a:solidFill>
                  <a:srgbClr val="1E2126"/>
                </a:solidFill>
                <a:latin typeface="Arial"/>
              </a:rPr>
              <a:t>Start it in your project folder, and deny sensitive paths (e.g. </a:t>
            </a:r>
            <a:r>
              <a:rPr sz="1500" b="0" i="0">
                <a:solidFill>
                  <a:srgbClr val="007482"/>
                </a:solidFill>
                <a:latin typeface="Arial"/>
              </a:rPr>
              <a:t>~/.ssh</a:t>
            </a:r>
            <a:r>
              <a:rPr sz="1500" b="0" i="0">
                <a:solidFill>
                  <a:srgbClr val="1E2126"/>
                </a:solidFill>
                <a:latin typeface="Arial"/>
              </a:rPr>
              <a:t>, </a:t>
            </a:r>
            <a:r>
              <a:rPr sz="1500" b="0" i="0">
                <a:solidFill>
                  <a:srgbClr val="007482"/>
                </a:solidFill>
                <a:latin typeface="Arial"/>
              </a:rPr>
              <a:t>.env</a:t>
            </a:r>
            <a:r>
              <a:rPr sz="1500" b="0" i="0">
                <a:solidFill>
                  <a:srgbClr val="1E2126"/>
                </a:solidFill>
                <a:latin typeface="Arial"/>
              </a:rPr>
              <a:t>).</a:t>
            </a:r>
          </a:p>
          <a:p>
            <a:pPr>
              <a:lnSpc>
                <a:spcPct val="108000"/>
              </a:lnSpc>
              <a:spcAft>
                <a:spcPts val="1300"/>
              </a:spcAft>
            </a:pPr>
            <a:r>
              <a:rPr sz="1500" b="1" i="0">
                <a:solidFill>
                  <a:srgbClr val="007482"/>
                </a:solidFill>
                <a:latin typeface="Arial"/>
              </a:rPr>
              <a:t>•  </a:t>
            </a:r>
            <a:r>
              <a:rPr sz="1500" b="1" i="0">
                <a:solidFill>
                  <a:srgbClr val="1155CC"/>
                </a:solidFill>
                <a:latin typeface="Arial"/>
              </a:rPr>
              <a:t>Keep secrets out of jobs.</a:t>
            </a:r>
            <a:r>
              <a:rPr sz="1500" b="0" i="0">
                <a:solidFill>
                  <a:srgbClr val="1E2126"/>
                </a:solidFill>
                <a:latin typeface="Arial"/>
              </a:rPr>
              <a:t>  </a:t>
            </a:r>
            <a:r>
              <a:rPr sz="1500" b="0" i="0">
                <a:solidFill>
                  <a:srgbClr val="1E2126"/>
                </a:solidFill>
                <a:latin typeface="Arial"/>
              </a:rPr>
              <a:t>Log in with the token, not a raw API key, so nothing secret rides into a batch job.</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5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Scaling up</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From one command to a batch over thousands of inputs.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60960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One command, a structured answer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turn in, one machine-readable object out — the building block of every pipeline.</a:t>
            </a:r>
          </a:p>
        </p:txBody>
      </p:sp>
      <p:pic>
        <p:nvPicPr>
          <p:cNvPr id="5" name="Picture 4" descr="image5.png"/>
          <p:cNvPicPr>
            <a:picLocks noChangeAspect="1"/>
          </p:cNvPicPr>
          <p:nvPr/>
        </p:nvPicPr>
        <p:blipFill>
          <a:blip r:embed="rId2"/>
          <a:stretch>
            <a:fillRect/>
          </a:stretch>
        </p:blipFill>
        <p:spPr>
          <a:xfrm>
            <a:off x="365760" y="1918863"/>
            <a:ext cx="8412480" cy="2691089"/>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From one call to a Slurm batch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call is the unit of a batch job — loop it, sum the cost, submit it.</a:t>
            </a:r>
          </a:p>
        </p:txBody>
      </p:sp>
      <p:pic>
        <p:nvPicPr>
          <p:cNvPr id="5" name="Picture 4" descr="image9.png"/>
          <p:cNvPicPr>
            <a:picLocks noChangeAspect="1"/>
          </p:cNvPicPr>
          <p:nvPr/>
        </p:nvPicPr>
        <p:blipFill>
          <a:blip r:embed="rId2"/>
          <a:stretch>
            <a:fillRect/>
          </a:stretch>
        </p:blipFill>
        <p:spPr>
          <a:xfrm>
            <a:off x="565213" y="1700784"/>
            <a:ext cx="801357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Give it your own tools with MCP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An open standard — the same tool server works in any MCP-aware app, not only Claude Code.</a:t>
            </a:r>
          </a:p>
        </p:txBody>
      </p:sp>
      <p:pic>
        <p:nvPicPr>
          <p:cNvPr id="5" name="Picture 4" descr="image15.png"/>
          <p:cNvPicPr>
            <a:picLocks noChangeAspect="1"/>
          </p:cNvPicPr>
          <p:nvPr/>
        </p:nvPicPr>
        <p:blipFill>
          <a:blip r:embed="rId2"/>
          <a:stretch>
            <a:fillRect/>
          </a:stretch>
        </p:blipFill>
        <p:spPr>
          <a:xfrm>
            <a:off x="1732046" y="1700784"/>
            <a:ext cx="5679906"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MCP: Anthropic, "Introducing the Model Context Protocol" (2024); modelcontextprotocol.io.</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6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Trust and honest limits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Non-negotiable on shared research infrastructure.</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real risk is trust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600"/>
              </a:spcAft>
            </a:pPr>
            <a:r>
              <a:rPr sz="1500" b="1" i="0">
                <a:solidFill>
                  <a:srgbClr val="007482"/>
                </a:solidFill>
                <a:latin typeface="Arial"/>
              </a:rPr>
              <a:t>•  </a:t>
            </a:r>
            <a:r>
              <a:rPr sz="1500" b="1" i="0">
                <a:solidFill>
                  <a:srgbClr val="1155CC"/>
                </a:solidFill>
                <a:latin typeface="Arial"/>
              </a:rPr>
              <a:t>Prompt injection is real.</a:t>
            </a:r>
            <a:r>
              <a:rPr sz="1500" b="0" i="0">
                <a:solidFill>
                  <a:srgbClr val="1E2126"/>
                </a:solidFill>
                <a:latin typeface="Arial"/>
              </a:rPr>
              <a:t>  </a:t>
            </a:r>
            <a:r>
              <a:rPr sz="1500" b="0" i="0">
                <a:solidFill>
                  <a:srgbClr val="1E2126"/>
                </a:solidFill>
                <a:latin typeface="Arial"/>
              </a:rPr>
              <a:t>A web page, a pull request, or a tool's output can carry hidden instructions.</a:t>
            </a:r>
          </a:p>
          <a:p>
            <a:pPr>
              <a:lnSpc>
                <a:spcPct val="108000"/>
              </a:lnSpc>
              <a:spcAft>
                <a:spcPts val="1600"/>
              </a:spcAft>
            </a:pPr>
            <a:r>
              <a:rPr sz="1500" b="1" i="0">
                <a:solidFill>
                  <a:srgbClr val="007482"/>
                </a:solidFill>
                <a:latin typeface="Arial"/>
              </a:rPr>
              <a:t>•  </a:t>
            </a:r>
            <a:r>
              <a:rPr sz="1500" b="1" i="0">
                <a:solidFill>
                  <a:srgbClr val="1155CC"/>
                </a:solidFill>
                <a:latin typeface="Arial"/>
              </a:rPr>
              <a:t>A skill or tool is software.</a:t>
            </a:r>
            <a:r>
              <a:rPr sz="1500" b="0" i="0">
                <a:solidFill>
                  <a:srgbClr val="1E2126"/>
                </a:solidFill>
                <a:latin typeface="Arial"/>
              </a:rPr>
              <a:t>  </a:t>
            </a:r>
            <a:r>
              <a:rPr sz="1500" b="0" i="0">
                <a:solidFill>
                  <a:srgbClr val="1E2126"/>
                </a:solidFill>
                <a:latin typeface="Arial"/>
              </a:rPr>
              <a:t>Installing one runs its code as you — accept only tools and hooks you trust.</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OWASP Gen AI Security Project, "LLM01:2025 Prompt Injection."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Your data, and your obligations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Restricted data needs approval.</a:t>
            </a:r>
            <a:r>
              <a:rPr sz="1500" b="0" i="0">
                <a:solidFill>
                  <a:srgbClr val="1E2126"/>
                </a:solidFill>
                <a:latin typeface="Arial"/>
              </a:rPr>
              <a:t>  </a:t>
            </a:r>
            <a:r>
              <a:rPr sz="1500" b="0" i="0">
                <a:solidFill>
                  <a:srgbClr val="1E2126"/>
                </a:solidFill>
                <a:latin typeface="Arial"/>
              </a:rPr>
              <a:t>IRB, PHI, or export-controlled data must clear institutional review first.</a:t>
            </a:r>
          </a:p>
          <a:p>
            <a:pPr>
              <a:lnSpc>
                <a:spcPct val="108000"/>
              </a:lnSpc>
              <a:spcAft>
                <a:spcPts val="1300"/>
              </a:spcAft>
            </a:pPr>
            <a:r>
              <a:rPr sz="1500" b="1" i="0">
                <a:solidFill>
                  <a:srgbClr val="007482"/>
                </a:solidFill>
                <a:latin typeface="Arial"/>
              </a:rPr>
              <a:t>•  </a:t>
            </a:r>
            <a:r>
              <a:rPr sz="1500" b="1" i="0">
                <a:solidFill>
                  <a:srgbClr val="1155CC"/>
                </a:solidFill>
                <a:latin typeface="Arial"/>
              </a:rPr>
              <a:t>Disclose AI assistance.</a:t>
            </a:r>
            <a:r>
              <a:rPr sz="1500" b="0" i="0">
                <a:solidFill>
                  <a:srgbClr val="1E2126"/>
                </a:solidFill>
                <a:latin typeface="Arial"/>
              </a:rPr>
              <a:t>  </a:t>
            </a:r>
            <a:r>
              <a:rPr sz="1500" b="0" i="0">
                <a:solidFill>
                  <a:srgbClr val="1E2126"/>
                </a:solidFill>
                <a:latin typeface="Arial"/>
              </a:rPr>
              <a:t>Follow your venue's policy, and keep the transcript as a record.</a:t>
            </a:r>
          </a:p>
          <a:p>
            <a:pPr>
              <a:lnSpc>
                <a:spcPct val="108000"/>
              </a:lnSpc>
              <a:spcAft>
                <a:spcPts val="1300"/>
              </a:spcAft>
            </a:pPr>
            <a:r>
              <a:rPr sz="1500" b="1" i="0">
                <a:solidFill>
                  <a:srgbClr val="007482"/>
                </a:solidFill>
                <a:latin typeface="Arial"/>
              </a:rPr>
              <a:t>•  </a:t>
            </a:r>
            <a:r>
              <a:rPr sz="1500" b="1" i="0">
                <a:solidFill>
                  <a:srgbClr val="1155CC"/>
                </a:solidFill>
                <a:latin typeface="Arial"/>
              </a:rPr>
              <a:t>Generated code is still yours.</a:t>
            </a:r>
            <a:r>
              <a:rPr sz="1500" b="0" i="0">
                <a:solidFill>
                  <a:srgbClr val="1E2126"/>
                </a:solidFill>
                <a:latin typeface="Arial"/>
              </a:rPr>
              <a:t>  </a:t>
            </a:r>
            <a:r>
              <a:rPr sz="1500" b="0" i="0">
                <a:solidFill>
                  <a:srgbClr val="1E2126"/>
                </a:solidFill>
                <a:latin typeface="Arial"/>
              </a:rPr>
              <a:t>Review and license it like any other dependency you take on.</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Anthropic Privacy Center, "Is my data used for model training?"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falls short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It can be confidently wrong.</a:t>
            </a:r>
            <a:r>
              <a:rPr sz="1500" b="0" i="0">
                <a:solidFill>
                  <a:srgbClr val="1E2126"/>
                </a:solidFill>
                <a:latin typeface="Arial"/>
              </a:rPr>
              <a:t>  </a:t>
            </a:r>
            <a:r>
              <a:rPr sz="1500" b="0" i="0">
                <a:solidFill>
                  <a:srgbClr val="1E2126"/>
                </a:solidFill>
                <a:latin typeface="Arial"/>
              </a:rPr>
              <a:t>Invented functions, plausible-but-broken fixes — verify everything it produces.</a:t>
            </a:r>
          </a:p>
          <a:p>
            <a:pPr>
              <a:lnSpc>
                <a:spcPct val="108000"/>
              </a:lnSpc>
              <a:spcAft>
                <a:spcPts val="1300"/>
              </a:spcAft>
            </a:pPr>
            <a:r>
              <a:rPr sz="1500" b="1" i="0">
                <a:solidFill>
                  <a:srgbClr val="007482"/>
                </a:solidFill>
                <a:latin typeface="Arial"/>
              </a:rPr>
              <a:t>•  </a:t>
            </a:r>
            <a:r>
              <a:rPr sz="1500" b="1" i="0">
                <a:solidFill>
                  <a:srgbClr val="1155CC"/>
                </a:solidFill>
                <a:latin typeface="Arial"/>
              </a:rPr>
              <a:t>It is not reproducible bit-for-bit.</a:t>
            </a:r>
            <a:r>
              <a:rPr sz="1500" b="0" i="0">
                <a:solidFill>
                  <a:srgbClr val="1E2126"/>
                </a:solidFill>
                <a:latin typeface="Arial"/>
              </a:rPr>
              <a:t>  </a:t>
            </a:r>
            <a:r>
              <a:rPr sz="1500" b="0" i="0">
                <a:solidFill>
                  <a:srgbClr val="1E2126"/>
                </a:solidFill>
                <a:latin typeface="Arial"/>
              </a:rPr>
              <a:t>The model samples, so two runs can differ. Pin what must be exact.</a:t>
            </a:r>
          </a:p>
          <a:p>
            <a:pPr>
              <a:lnSpc>
                <a:spcPct val="108000"/>
              </a:lnSpc>
              <a:spcAft>
                <a:spcPts val="1300"/>
              </a:spcAft>
            </a:pPr>
            <a:r>
              <a:rPr sz="1500" b="1" i="0">
                <a:solidFill>
                  <a:srgbClr val="007482"/>
                </a:solidFill>
                <a:latin typeface="Arial"/>
              </a:rPr>
              <a:t>•  </a:t>
            </a:r>
            <a:r>
              <a:rPr sz="1500" b="1" i="0">
                <a:solidFill>
                  <a:srgbClr val="1155CC"/>
                </a:solidFill>
                <a:latin typeface="Arial"/>
              </a:rPr>
              <a:t>Skip it for trivia or the unverifiable.</a:t>
            </a:r>
            <a:r>
              <a:rPr sz="1500" b="0" i="0">
                <a:solidFill>
                  <a:srgbClr val="1E2126"/>
                </a:solidFill>
                <a:latin typeface="Arial"/>
              </a:rPr>
              <a:t>  </a:t>
            </a:r>
            <a:r>
              <a:rPr sz="1500" b="0" i="0">
                <a:solidFill>
                  <a:srgbClr val="1E2126"/>
                </a:solidFill>
                <a:latin typeface="Arial"/>
              </a:rPr>
              <a:t>If you genuinely cannot check the output, do not ship it.</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HANDS-ON LAB</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Now you try it</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Everything you just saw — on a real, messy research project.</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project: LakeWatch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small water-quality project you have just inherited — like most real projects, a little messy.</a:t>
            </a:r>
          </a:p>
        </p:txBody>
      </p:sp>
      <p:sp>
        <p:nvSpPr>
          <p:cNvPr id="5" name="TextBox 4"/>
          <p:cNvSpPr txBox="1"/>
          <p:nvPr/>
        </p:nvSpPr>
        <p:spPr>
          <a:xfrm>
            <a:off x="548640" y="1755648"/>
            <a:ext cx="8046720" cy="2926080"/>
          </a:xfrm>
          <a:prstGeom prst="rect">
            <a:avLst/>
          </a:prstGeom>
          <a:noFill/>
        </p:spPr>
        <p:txBody>
          <a:bodyPr wrap="square" anchor="ctr" lIns="0" rIns="0" tIns="0" bIns="0">
            <a:spAutoFit/>
          </a:bodyPr>
          <a:lstStyle/>
          <a:p>
            <a:pPr>
              <a:lnSpc>
                <a:spcPct val="108000"/>
              </a:lnSpc>
              <a:spcAft>
                <a:spcPts val="1300"/>
              </a:spcAft>
            </a:pPr>
            <a:r>
              <a:rPr sz="1500" b="1" i="0">
                <a:solidFill>
                  <a:srgbClr val="007482"/>
                </a:solidFill>
                <a:latin typeface="Arial"/>
              </a:rPr>
              <a:t>•  </a:t>
            </a:r>
            <a:r>
              <a:rPr sz="1500" b="1" i="0">
                <a:solidFill>
                  <a:srgbClr val="1155CC"/>
                </a:solidFill>
                <a:latin typeface="Arial"/>
              </a:rPr>
              <a:t>Open Claude Code inside it.</a:t>
            </a:r>
            <a:r>
              <a:rPr sz="1500" b="0" i="0">
                <a:solidFill>
                  <a:srgbClr val="1E2126"/>
                </a:solidFill>
                <a:latin typeface="Arial"/>
              </a:rPr>
              <a:t>  </a:t>
            </a:r>
            <a:r>
              <a:rPr sz="1500" b="0" i="0">
                <a:solidFill>
                  <a:srgbClr val="007482"/>
                </a:solidFill>
                <a:latin typeface="Arial"/>
              </a:rPr>
              <a:t>cd hands-on/project &amp;&amp; claude</a:t>
            </a:r>
            <a:r>
              <a:rPr sz="1500" b="0" i="0">
                <a:solidFill>
                  <a:srgbClr val="1E2126"/>
                </a:solidFill>
                <a:latin typeface="Arial"/>
              </a:rPr>
              <a:t> — no notebook to run; you drive the agent directly.</a:t>
            </a:r>
          </a:p>
          <a:p>
            <a:pPr>
              <a:lnSpc>
                <a:spcPct val="108000"/>
              </a:lnSpc>
              <a:spcAft>
                <a:spcPts val="1300"/>
              </a:spcAft>
            </a:pPr>
            <a:r>
              <a:rPr sz="1500" b="1" i="0">
                <a:solidFill>
                  <a:srgbClr val="007482"/>
                </a:solidFill>
                <a:latin typeface="Arial"/>
              </a:rPr>
              <a:t>•  </a:t>
            </a:r>
            <a:r>
              <a:rPr sz="1500" b="1" i="0">
                <a:solidFill>
                  <a:srgbClr val="1155CC"/>
                </a:solidFill>
                <a:latin typeface="Arial"/>
              </a:rPr>
              <a:t>Work the task cards.</a:t>
            </a:r>
            <a:r>
              <a:rPr sz="1500" b="0" i="0">
                <a:solidFill>
                  <a:srgbClr val="1E2126"/>
                </a:solidFill>
                <a:latin typeface="Arial"/>
              </a:rPr>
              <a:t>  </a:t>
            </a:r>
            <a:r>
              <a:rPr sz="1500" b="0" i="0">
                <a:solidFill>
                  <a:srgbClr val="1E2126"/>
                </a:solidFill>
                <a:latin typeface="Arial"/>
              </a:rPr>
              <a:t>Each card in </a:t>
            </a:r>
            <a:r>
              <a:rPr sz="1500" b="0" i="0">
                <a:solidFill>
                  <a:srgbClr val="007482"/>
                </a:solidFill>
                <a:latin typeface="Arial"/>
              </a:rPr>
              <a:t>hands-on/tasks/</a:t>
            </a:r>
            <a:r>
              <a:rPr sz="1500" b="0" i="0">
                <a:solidFill>
                  <a:srgbClr val="1E2126"/>
                </a:solidFill>
                <a:latin typeface="Arial"/>
              </a:rPr>
              <a:t> gives you a prompt to paste, pointing at real files.</a:t>
            </a:r>
          </a:p>
          <a:p>
            <a:pPr>
              <a:lnSpc>
                <a:spcPct val="108000"/>
              </a:lnSpc>
              <a:spcAft>
                <a:spcPts val="1300"/>
              </a:spcAft>
            </a:pPr>
            <a:r>
              <a:rPr sz="1500" b="1" i="0">
                <a:solidFill>
                  <a:srgbClr val="007482"/>
                </a:solidFill>
                <a:latin typeface="Arial"/>
              </a:rPr>
              <a:t>•  </a:t>
            </a:r>
            <a:r>
              <a:rPr sz="1500" b="1" i="0">
                <a:solidFill>
                  <a:srgbClr val="1155CC"/>
                </a:solidFill>
                <a:latin typeface="Arial"/>
              </a:rPr>
              <a:t>It ships its own guardrails.</a:t>
            </a:r>
            <a:r>
              <a:rPr sz="1500" b="0" i="0">
                <a:solidFill>
                  <a:srgbClr val="1E2126"/>
                </a:solidFill>
                <a:latin typeface="Arial"/>
              </a:rPr>
              <a:t>  </a:t>
            </a:r>
            <a:r>
              <a:rPr sz="1500" b="0" i="0">
                <a:solidFill>
                  <a:srgbClr val="1E2126"/>
                </a:solidFill>
                <a:latin typeface="Arial"/>
              </a:rPr>
              <a:t>A </a:t>
            </a:r>
            <a:r>
              <a:rPr sz="1500" b="0" i="0">
                <a:solidFill>
                  <a:srgbClr val="007482"/>
                </a:solidFill>
                <a:latin typeface="Arial"/>
              </a:rPr>
              <a:t>CLAUDE.md</a:t>
            </a:r>
            <a:r>
              <a:rPr sz="1500" b="0" i="0">
                <a:solidFill>
                  <a:srgbClr val="1E2126"/>
                </a:solidFill>
                <a:latin typeface="Arial"/>
              </a:rPr>
              <a:t>, a </a:t>
            </a:r>
            <a:r>
              <a:rPr sz="1500" b="0" i="0">
                <a:solidFill>
                  <a:srgbClr val="007482"/>
                </a:solidFill>
                <a:latin typeface="Arial"/>
              </a:rPr>
              <a:t>.claude/settings.json</a:t>
            </a:r>
            <a:r>
              <a:rPr sz="1500" b="0" i="0">
                <a:solidFill>
                  <a:srgbClr val="1E2126"/>
                </a:solidFill>
                <a:latin typeface="Arial"/>
              </a:rPr>
              <a:t>, slash commands, and skills — all templates to reuse.</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tasks map to what you just learned</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Six short tasks — about 45 minutes — then two optional bonuses: a Slurm batch and your own MCP tool.</a:t>
            </a:r>
          </a:p>
        </p:txBody>
      </p:sp>
      <p:graphicFrame>
        <p:nvGraphicFramePr>
          <p:cNvPr id="5" name="Table 4"/>
          <p:cNvGraphicFramePr>
            <a:graphicFrameLocks noGrp="1"/>
          </p:cNvGraphicFramePr>
          <p:nvPr/>
        </p:nvGraphicFramePr>
        <p:xfrm>
          <a:off x="548640" y="1920240"/>
          <a:ext cx="8046720" cy="2560320"/>
        </p:xfrm>
        <a:graphic>
          <a:graphicData uri="http://schemas.openxmlformats.org/drawingml/2006/table">
            <a:tbl>
              <a:tblPr firstRow="0" bandRow="0">
                <a:tableStyleId>{5C22544A-7EE6-4342-B048-85BDC9FD1C3A}</a:tableStyleId>
              </a:tblPr>
              <a:tblGrid>
                <a:gridCol w="2715768"/>
                <a:gridCol w="5330952"/>
              </a:tblGrid>
              <a:tr h="365760">
                <a:tc>
                  <a:txBody>
                    <a:bodyPr wrap="square"/>
                    <a:lstStyle/>
                    <a:p>
                      <a:pPr algn="l"/>
                      <a:r>
                        <a:rPr sz="1200" b="1" i="0">
                          <a:solidFill>
                            <a:srgbClr val="FFFFFF"/>
                          </a:solidFill>
                          <a:latin typeface="Arial"/>
                        </a:rPr>
                        <a:t>Task</a:t>
                      </a:r>
                    </a:p>
                  </a:txBody>
                  <a:tcPr marL="128016" marR="91440" marT="45720" marB="45720" anchor="ctr">
                    <a:solidFill>
                      <a:srgbClr val="007482"/>
                    </a:solidFill>
                  </a:tcPr>
                </a:tc>
                <a:tc>
                  <a:txBody>
                    <a:bodyPr wrap="square"/>
                    <a:lstStyle/>
                    <a:p>
                      <a:pPr algn="l"/>
                      <a:r>
                        <a:rPr sz="1200" b="1" i="0">
                          <a:solidFill>
                            <a:srgbClr val="FFFFFF"/>
                          </a:solidFill>
                          <a:latin typeface="Arial"/>
                        </a:rPr>
                        <a:t>You will practise</a:t>
                      </a:r>
                    </a:p>
                  </a:txBody>
                  <a:tcPr marL="128016" marR="91440" marT="45720" marB="45720" anchor="ctr">
                    <a:solidFill>
                      <a:srgbClr val="007482"/>
                    </a:solidFill>
                  </a:tcPr>
                </a:tc>
              </a:tr>
              <a:tr h="365760">
                <a:tc>
                  <a:txBody>
                    <a:bodyPr wrap="square"/>
                    <a:lstStyle/>
                    <a:p>
                      <a:pPr algn="l"/>
                      <a:r>
                        <a:rPr sz="1150" b="1" i="0">
                          <a:solidFill>
                            <a:srgbClr val="1E2126"/>
                          </a:solidFill>
                          <a:latin typeface="Arial"/>
                        </a:rPr>
                        <a:t>1 · Get your bearings</a:t>
                      </a:r>
                    </a:p>
                  </a:txBody>
                  <a:tcPr marL="128016" marR="91440" marT="45720" marB="45720" anchor="ctr">
                    <a:solidFill>
                      <a:srgbClr val="FFFFFF"/>
                    </a:solidFill>
                  </a:tcPr>
                </a:tc>
                <a:tc>
                  <a:txBody>
                    <a:bodyPr wrap="square"/>
                    <a:lstStyle/>
                    <a:p>
                      <a:pPr algn="l"/>
                      <a:r>
                        <a:rPr sz="1150" b="0" i="0">
                          <a:solidFill>
                            <a:srgbClr val="1E2126"/>
                          </a:solidFill>
                          <a:latin typeface="Arial"/>
                        </a:rPr>
                        <a:t>project memory (CLAUDE.md), letting it explore</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2 · Tidy the messy data</a:t>
                      </a:r>
                    </a:p>
                  </a:txBody>
                  <a:tcPr marL="128016" marR="91440" marT="45720" marB="45720" anchor="ctr">
                    <a:solidFill>
                      <a:srgbClr val="EEF2FB"/>
                    </a:solidFill>
                  </a:tcPr>
                </a:tc>
                <a:tc>
                  <a:txBody>
                    <a:bodyPr wrap="square"/>
                    <a:lstStyle/>
                    <a:p>
                      <a:pPr algn="l"/>
                      <a:r>
                        <a:rPr sz="1150" b="0" i="0">
                          <a:solidFill>
                            <a:srgbClr val="1E2126"/>
                          </a:solidFill>
                          <a:latin typeface="Arial"/>
                        </a:rPr>
                        <a:t>Plan mode → Accept-edits; raw data stays read-only</a:t>
                      </a:r>
                    </a:p>
                  </a:txBody>
                  <a:tcPr marL="128016" marR="91440" marT="45720" marB="45720" anchor="ctr">
                    <a:solidFill>
                      <a:srgbClr val="EEF2FB"/>
                    </a:solidFill>
                  </a:tcPr>
                </a:tc>
              </a:tr>
              <a:tr h="365760">
                <a:tc>
                  <a:txBody>
                    <a:bodyPr wrap="square"/>
                    <a:lstStyle/>
                    <a:p>
                      <a:pPr algn="l"/>
                      <a:r>
                        <a:rPr sz="1150" b="1" i="0">
                          <a:solidFill>
                            <a:srgbClr val="1E2126"/>
                          </a:solidFill>
                          <a:latin typeface="Arial"/>
                        </a:rPr>
                        <a:t>3 · Fix the bug — safely</a:t>
                      </a:r>
                    </a:p>
                  </a:txBody>
                  <a:tcPr marL="128016" marR="91440" marT="45720" marB="45720" anchor="ctr">
                    <a:solidFill>
                      <a:srgbClr val="FFFFFF"/>
                    </a:solidFill>
                  </a:tcPr>
                </a:tc>
                <a:tc>
                  <a:txBody>
                    <a:bodyPr wrap="square"/>
                    <a:lstStyle/>
                    <a:p>
                      <a:pPr algn="l"/>
                      <a:r>
                        <a:rPr sz="1150" b="0" i="0">
                          <a:solidFill>
                            <a:srgbClr val="1E2126"/>
                          </a:solidFill>
                          <a:latin typeface="Arial"/>
                        </a:rPr>
                        <a:t>a guarded autonomous fix you verify yourself</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4 · Document the project</a:t>
                      </a:r>
                    </a:p>
                  </a:txBody>
                  <a:tcPr marL="128016" marR="91440" marT="45720" marB="45720" anchor="ctr">
                    <a:solidFill>
                      <a:srgbClr val="EEF2FB"/>
                    </a:solidFill>
                  </a:tcPr>
                </a:tc>
                <a:tc>
                  <a:txBody>
                    <a:bodyPr wrap="square"/>
                    <a:lstStyle/>
                    <a:p>
                      <a:pPr algn="l"/>
                      <a:r>
                        <a:rPr sz="1150" b="0" i="0">
                          <a:solidFill>
                            <a:srgbClr val="1E2126"/>
                          </a:solidFill>
                          <a:latin typeface="Arial"/>
                        </a:rPr>
                        <a:t>the writing around research; you are the reviewer</a:t>
                      </a:r>
                    </a:p>
                  </a:txBody>
                  <a:tcPr marL="128016" marR="91440" marT="45720" marB="45720" anchor="ctr">
                    <a:solidFill>
                      <a:srgbClr val="EEF2FB"/>
                    </a:solidFill>
                  </a:tcPr>
                </a:tc>
              </a:tr>
              <a:tr h="365760">
                <a:tc>
                  <a:txBody>
                    <a:bodyPr wrap="square"/>
                    <a:lstStyle/>
                    <a:p>
                      <a:pPr algn="l"/>
                      <a:r>
                        <a:rPr sz="1150" b="1" i="0">
                          <a:solidFill>
                            <a:srgbClr val="1E2126"/>
                          </a:solidFill>
                          <a:latin typeface="Arial"/>
                        </a:rPr>
                        <a:t>5 · Notes into a table</a:t>
                      </a:r>
                    </a:p>
                  </a:txBody>
                  <a:tcPr marL="128016" marR="91440" marT="45720" marB="45720" anchor="ctr">
                    <a:solidFill>
                      <a:srgbClr val="FFFFFF"/>
                    </a:solidFill>
                  </a:tcPr>
                </a:tc>
                <a:tc>
                  <a:txBody>
                    <a:bodyPr wrap="square"/>
                    <a:lstStyle/>
                    <a:p>
                      <a:pPr algn="l"/>
                      <a:r>
                        <a:rPr sz="1150" b="0" i="0">
                          <a:solidFill>
                            <a:srgbClr val="1E2126"/>
                          </a:solidFill>
                          <a:latin typeface="Arial"/>
                        </a:rPr>
                        <a:t>structured extraction from documents</a:t>
                      </a:r>
                    </a:p>
                  </a:txBody>
                  <a:tcPr marL="128016" marR="91440" marT="45720" marB="45720" anchor="ctr">
                    <a:solidFill>
                      <a:srgbClr val="FFFFFF"/>
                    </a:solidFill>
                  </a:tcPr>
                </a:tc>
              </a:tr>
              <a:tr h="365760">
                <a:tc>
                  <a:txBody>
                    <a:bodyPr wrap="square"/>
                    <a:lstStyle/>
                    <a:p>
                      <a:pPr algn="l"/>
                      <a:r>
                        <a:rPr sz="1150" b="1" i="0">
                          <a:solidFill>
                            <a:srgbClr val="1E2126"/>
                          </a:solidFill>
                          <a:latin typeface="Arial"/>
                        </a:rPr>
                        <a:t>6 · Automate it</a:t>
                      </a:r>
                    </a:p>
                  </a:txBody>
                  <a:tcPr marL="128016" marR="91440" marT="45720" marB="45720" anchor="ctr">
                    <a:solidFill>
                      <a:srgbClr val="EEF2FB"/>
                    </a:solidFill>
                  </a:tcPr>
                </a:tc>
                <a:tc>
                  <a:txBody>
                    <a:bodyPr wrap="square"/>
                    <a:lstStyle/>
                    <a:p>
                      <a:pPr algn="l"/>
                      <a:r>
                        <a:rPr sz="1150" b="0" i="0">
                          <a:solidFill>
                            <a:srgbClr val="1E2126"/>
                          </a:solidFill>
                          <a:latin typeface="Arial"/>
                        </a:rPr>
                        <a:t>a slash command, and a skill the model reaches for</a:t>
                      </a:r>
                    </a:p>
                  </a:txBody>
                  <a:tcPr marL="128016" marR="91440" marT="45720" marB="45720" anchor="ctr">
                    <a:solidFill>
                      <a:srgbClr val="EEF2FB"/>
                    </a:solidFill>
                  </a:tcPr>
                </a:tc>
              </a:tr>
            </a:tbl>
          </a:graphicData>
        </a:graphic>
      </p:graphicFrame>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Takeaways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8046720" cy="3264408"/>
          </a:xfrm>
          <a:prstGeom prst="rect">
            <a:avLst/>
          </a:prstGeom>
          <a:noFill/>
        </p:spPr>
        <p:txBody>
          <a:bodyPr wrap="square" anchor="ctr" lIns="0" rIns="0" tIns="0" bIns="0">
            <a:spAutoFit/>
          </a:bodyPr>
          <a:lstStyle/>
          <a:p>
            <a:pPr>
              <a:lnSpc>
                <a:spcPct val="108000"/>
              </a:lnSpc>
              <a:spcAft>
                <a:spcPts val="1800"/>
              </a:spcAft>
            </a:pPr>
            <a:r>
              <a:rPr sz="1500" b="1" i="0">
                <a:solidFill>
                  <a:srgbClr val="007482"/>
                </a:solidFill>
                <a:latin typeface="Arial"/>
              </a:rPr>
              <a:t>•  </a:t>
            </a:r>
            <a:r>
              <a:rPr sz="1500" b="1" i="0">
                <a:solidFill>
                  <a:srgbClr val="1155CC"/>
                </a:solidFill>
                <a:latin typeface="Arial"/>
              </a:rPr>
              <a:t>You shape the program; the model is swappable.</a:t>
            </a:r>
            <a:r>
              <a:rPr sz="1500" b="0" i="0">
                <a:solidFill>
                  <a:srgbClr val="1E2126"/>
                </a:solidFill>
                <a:latin typeface="Arial"/>
              </a:rPr>
              <a:t>  </a:t>
            </a:r>
            <a:r>
              <a:rPr sz="1500" b="0" i="0">
                <a:solidFill>
                  <a:srgbClr val="1E2126"/>
                </a:solidFill>
                <a:latin typeface="Arial"/>
              </a:rPr>
              <a:t>Configure the harness — the model just answers.</a:t>
            </a:r>
          </a:p>
          <a:p>
            <a:pPr>
              <a:lnSpc>
                <a:spcPct val="108000"/>
              </a:lnSpc>
              <a:spcAft>
                <a:spcPts val="1800"/>
              </a:spcAft>
            </a:pPr>
            <a:r>
              <a:rPr sz="1500" b="1" i="0">
                <a:solidFill>
                  <a:srgbClr val="007482"/>
                </a:solidFill>
                <a:latin typeface="Arial"/>
              </a:rPr>
              <a:t>•  </a:t>
            </a:r>
            <a:r>
              <a:rPr sz="1500" b="1" i="0">
                <a:solidFill>
                  <a:srgbClr val="1155CC"/>
                </a:solidFill>
                <a:latin typeface="Arial"/>
              </a:rPr>
              <a:t>It is a loop you govern.</a:t>
            </a:r>
            <a:r>
              <a:rPr sz="1500" b="0" i="0">
                <a:solidFill>
                  <a:srgbClr val="1E2126"/>
                </a:solidFill>
                <a:latin typeface="Arial"/>
              </a:rPr>
              <a:t>  </a:t>
            </a:r>
            <a:r>
              <a:rPr sz="1500" b="0" i="0">
                <a:solidFill>
                  <a:srgbClr val="1E2126"/>
                </a:solidFill>
                <a:latin typeface="Arial"/>
              </a:rPr>
              <a:t>Advice (CLAUDE.md, skills) guides it; rules (permissions, hooks) bind it.</a:t>
            </a:r>
          </a:p>
          <a:p>
            <a:pPr>
              <a:lnSpc>
                <a:spcPct val="108000"/>
              </a:lnSpc>
              <a:spcAft>
                <a:spcPts val="1800"/>
              </a:spcAft>
            </a:pPr>
            <a:r>
              <a:rPr sz="1500" b="1" i="0">
                <a:solidFill>
                  <a:srgbClr val="007482"/>
                </a:solidFill>
                <a:latin typeface="Arial"/>
              </a:rPr>
              <a:t>•  </a:t>
            </a:r>
            <a:r>
              <a:rPr sz="1500" b="1" i="0">
                <a:solidFill>
                  <a:srgbClr val="1155CC"/>
                </a:solidFill>
                <a:latin typeface="Arial"/>
              </a:rPr>
              <a:t>Always give it a check.</a:t>
            </a:r>
            <a:r>
              <a:rPr sz="1500" b="0" i="0">
                <a:solidFill>
                  <a:srgbClr val="1E2126"/>
                </a:solidFill>
                <a:latin typeface="Arial"/>
              </a:rPr>
              <a:t>  </a:t>
            </a:r>
            <a:r>
              <a:rPr sz="1500" b="0" i="0">
                <a:solidFill>
                  <a:srgbClr val="1E2126"/>
                </a:solidFill>
                <a:latin typeface="Arial"/>
              </a:rPr>
              <a:t>A test or an exit code — never ship what you have not verified.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(1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Claude Code: Overview — Anthropic. code.claude.com/docs/en/overview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Advanced setup — Anthropic. code.claude.com/docs/en/setup</a:t>
            </a:r>
          </a:p>
          <a:p>
            <a:pPr>
              <a:lnSpc>
                <a:spcPct val="102000"/>
              </a:lnSpc>
              <a:spcAft>
                <a:spcPts val="600"/>
              </a:spcAft>
            </a:pPr>
            <a:r>
              <a:rPr sz="1050" b="1" i="0">
                <a:solidFill>
                  <a:srgbClr val="007482"/>
                </a:solidFill>
                <a:latin typeface="Arial"/>
              </a:rPr>
              <a:t>3. </a:t>
            </a:r>
            <a:r>
              <a:rPr sz="1050" b="0" i="0">
                <a:solidFill>
                  <a:srgbClr val="555A61"/>
                </a:solidFill>
                <a:latin typeface="Arial"/>
              </a:rPr>
              <a:t>Authentication — Anthropic. code.claude.com/docs/en/authentication</a:t>
            </a:r>
          </a:p>
          <a:p>
            <a:pPr>
              <a:lnSpc>
                <a:spcPct val="102000"/>
              </a:lnSpc>
              <a:spcAft>
                <a:spcPts val="600"/>
              </a:spcAft>
            </a:pPr>
            <a:r>
              <a:rPr sz="1050" b="1" i="0">
                <a:solidFill>
                  <a:srgbClr val="007482"/>
                </a:solidFill>
                <a:latin typeface="Arial"/>
              </a:rPr>
              <a:t>4. </a:t>
            </a:r>
            <a:r>
              <a:rPr sz="1050" b="0" i="0">
                <a:solidFill>
                  <a:srgbClr val="555A61"/>
                </a:solidFill>
                <a:latin typeface="Arial"/>
              </a:rPr>
              <a:t>Configure permissions — Anthropic. code.claude.com/docs/en/permissions</a:t>
            </a:r>
          </a:p>
          <a:p>
            <a:pPr>
              <a:lnSpc>
                <a:spcPct val="102000"/>
              </a:lnSpc>
              <a:spcAft>
                <a:spcPts val="600"/>
              </a:spcAft>
            </a:pPr>
            <a:r>
              <a:rPr sz="1050" b="1" i="0">
                <a:solidFill>
                  <a:srgbClr val="007482"/>
                </a:solidFill>
                <a:latin typeface="Arial"/>
              </a:rPr>
              <a:t>5. </a:t>
            </a:r>
            <a:r>
              <a:rPr sz="1050" b="0" i="0">
                <a:solidFill>
                  <a:srgbClr val="555A61"/>
                </a:solidFill>
                <a:latin typeface="Arial"/>
              </a:rPr>
              <a:t>Choose a permission mode — Anthropic. code.claude.com/docs/en/permission-modes</a:t>
            </a:r>
          </a:p>
          <a:p>
            <a:pPr>
              <a:lnSpc>
                <a:spcPct val="102000"/>
              </a:lnSpc>
              <a:spcAft>
                <a:spcPts val="600"/>
              </a:spcAft>
            </a:pPr>
            <a:r>
              <a:rPr sz="1050" b="1" i="0">
                <a:solidFill>
                  <a:srgbClr val="007482"/>
                </a:solidFill>
                <a:latin typeface="Arial"/>
              </a:rPr>
              <a:t>6. </a:t>
            </a:r>
            <a:r>
              <a:rPr sz="1050" b="0" i="0">
                <a:solidFill>
                  <a:srgbClr val="555A61"/>
                </a:solidFill>
                <a:latin typeface="Arial"/>
              </a:rPr>
              <a:t>Hooks reference — Anthropic. code.claude.com/docs/en/hooks</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Memory (CLAUDE.md) — Anthropic. code.claude.com/docs/en/memory</a:t>
            </a:r>
          </a:p>
          <a:p>
            <a:pPr>
              <a:lnSpc>
                <a:spcPct val="102000"/>
              </a:lnSpc>
              <a:spcAft>
                <a:spcPts val="600"/>
              </a:spcAft>
            </a:pPr>
            <a:r>
              <a:rPr sz="1050" b="1" i="0">
                <a:solidFill>
                  <a:srgbClr val="007482"/>
                </a:solidFill>
                <a:latin typeface="Arial"/>
              </a:rPr>
              <a:t>8. </a:t>
            </a:r>
            <a:r>
              <a:rPr sz="1050" b="0" i="0">
                <a:solidFill>
                  <a:srgbClr val="555A61"/>
                </a:solidFill>
                <a:latin typeface="Arial"/>
              </a:rPr>
              <a:t>Custom subagents — Anthropic. code.claude.com/docs/en/sub-agents</a:t>
            </a:r>
          </a:p>
          <a:p>
            <a:pPr>
              <a:lnSpc>
                <a:spcPct val="102000"/>
              </a:lnSpc>
              <a:spcAft>
                <a:spcPts val="600"/>
              </a:spcAft>
            </a:pPr>
            <a:r>
              <a:rPr sz="1050" b="1" i="0">
                <a:solidFill>
                  <a:srgbClr val="007482"/>
                </a:solidFill>
                <a:latin typeface="Arial"/>
              </a:rPr>
              <a:t>9. </a:t>
            </a:r>
            <a:r>
              <a:rPr sz="1050" b="0" i="0">
                <a:solidFill>
                  <a:srgbClr val="555A61"/>
                </a:solidFill>
                <a:latin typeface="Arial"/>
              </a:rPr>
              <a:t>Extend Claude with Skills — Anthropic. code.claude.com/docs/en/skills</a:t>
            </a:r>
          </a:p>
          <a:p>
            <a:pPr>
              <a:lnSpc>
                <a:spcPct val="102000"/>
              </a:lnSpc>
              <a:spcAft>
                <a:spcPts val="600"/>
              </a:spcAft>
            </a:pPr>
            <a:r>
              <a:rPr sz="1050" b="1" i="0">
                <a:solidFill>
                  <a:srgbClr val="007482"/>
                </a:solidFill>
                <a:latin typeface="Arial"/>
              </a:rPr>
              <a:t>10. </a:t>
            </a:r>
            <a:r>
              <a:rPr sz="1050" b="0" i="0">
                <a:solidFill>
                  <a:srgbClr val="555A61"/>
                </a:solidFill>
                <a:latin typeface="Arial"/>
              </a:rPr>
              <a:t>Connect tools via MCP — Anthropic. code.claude.com/docs/en/mcp</a:t>
            </a:r>
          </a:p>
          <a:p>
            <a:pPr>
              <a:lnSpc>
                <a:spcPct val="102000"/>
              </a:lnSpc>
              <a:spcAft>
                <a:spcPts val="600"/>
              </a:spcAft>
            </a:pPr>
            <a:r>
              <a:rPr sz="1050" b="1" i="0">
                <a:solidFill>
                  <a:srgbClr val="007482"/>
                </a:solidFill>
                <a:latin typeface="Arial"/>
              </a:rPr>
              <a:t>11. </a:t>
            </a:r>
            <a:r>
              <a:rPr sz="1050" b="0" i="0">
                <a:solidFill>
                  <a:srgbClr val="555A61"/>
                </a:solidFill>
                <a:latin typeface="Arial"/>
              </a:rPr>
              <a:t>Run Claude Code programmatically — Anthropic. code.claude.com/docs/en/headless</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(2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Agent SDK overview — Anthropic. code.claude.com/docs/en/agent-sdk/overview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Security — Anthropic. code.claude.com/docs/en/security</a:t>
            </a:r>
          </a:p>
          <a:p>
            <a:pPr>
              <a:lnSpc>
                <a:spcPct val="102000"/>
              </a:lnSpc>
              <a:spcAft>
                <a:spcPts val="600"/>
              </a:spcAft>
            </a:pPr>
            <a:r>
              <a:rPr sz="1050" b="1" i="0">
                <a:solidFill>
                  <a:srgbClr val="007482"/>
                </a:solidFill>
                <a:latin typeface="Arial"/>
              </a:rPr>
              <a:t>3. </a:t>
            </a:r>
            <a:r>
              <a:rPr sz="1050" b="0" i="0">
                <a:solidFill>
                  <a:srgbClr val="555A61"/>
                </a:solidFill>
                <a:latin typeface="Arial"/>
              </a:rPr>
              <a:t>Pricing — Anthropic. platform.claude.com/docs/en/docs/about-claude/pricing</a:t>
            </a:r>
          </a:p>
          <a:p>
            <a:pPr>
              <a:lnSpc>
                <a:spcPct val="102000"/>
              </a:lnSpc>
              <a:spcAft>
                <a:spcPts val="600"/>
              </a:spcAft>
            </a:pPr>
            <a:r>
              <a:rPr sz="1050" b="1" i="0">
                <a:solidFill>
                  <a:srgbClr val="007482"/>
                </a:solidFill>
                <a:latin typeface="Arial"/>
              </a:rPr>
              <a:t>4. </a:t>
            </a:r>
            <a:r>
              <a:rPr sz="1050" b="0" i="0">
                <a:solidFill>
                  <a:srgbClr val="555A61"/>
                </a:solidFill>
                <a:latin typeface="Arial"/>
              </a:rPr>
              <a:t>Building effective agents (2024) — Anthropic. anthropic.com/engineering/building-effective-agents</a:t>
            </a:r>
          </a:p>
          <a:p>
            <a:pPr>
              <a:lnSpc>
                <a:spcPct val="102000"/>
              </a:lnSpc>
              <a:spcAft>
                <a:spcPts val="600"/>
              </a:spcAft>
            </a:pPr>
            <a:r>
              <a:rPr sz="1050" b="1" i="0">
                <a:solidFill>
                  <a:srgbClr val="007482"/>
                </a:solidFill>
                <a:latin typeface="Arial"/>
              </a:rPr>
              <a:t>5. </a:t>
            </a:r>
            <a:r>
              <a:rPr sz="1050" b="0" i="0">
                <a:solidFill>
                  <a:srgbClr val="555A61"/>
                </a:solidFill>
                <a:latin typeface="Arial"/>
              </a:rPr>
              <a:t>Equipping agents with Agent Skills (2025) — Anthropic. anthropic.com/engineering</a:t>
            </a:r>
          </a:p>
          <a:p>
            <a:pPr>
              <a:lnSpc>
                <a:spcPct val="102000"/>
              </a:lnSpc>
              <a:spcAft>
                <a:spcPts val="600"/>
              </a:spcAft>
            </a:pPr>
            <a:r>
              <a:rPr sz="1050" b="1" i="0">
                <a:solidFill>
                  <a:srgbClr val="007482"/>
                </a:solidFill>
                <a:latin typeface="Arial"/>
              </a:rPr>
              <a:t>6. </a:t>
            </a:r>
            <a:r>
              <a:rPr sz="1050" b="0" i="0">
                <a:solidFill>
                  <a:srgbClr val="555A61"/>
                </a:solidFill>
                <a:latin typeface="Arial"/>
              </a:rPr>
              <a:t>Introducing the Model Context Protocol (2024) — Anthropic. anthropic.com/news/model-context-protocol</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Model Context Protocol — modelcontextprotocol.io</a:t>
            </a:r>
          </a:p>
          <a:p>
            <a:pPr>
              <a:lnSpc>
                <a:spcPct val="102000"/>
              </a:lnSpc>
              <a:spcAft>
                <a:spcPts val="600"/>
              </a:spcAft>
            </a:pPr>
            <a:r>
              <a:rPr sz="1050" b="1" i="0">
                <a:solidFill>
                  <a:srgbClr val="007482"/>
                </a:solidFill>
                <a:latin typeface="Arial"/>
              </a:rPr>
              <a:t>8. </a:t>
            </a:r>
            <a:r>
              <a:rPr sz="1050" b="0" i="0">
                <a:solidFill>
                  <a:srgbClr val="555A61"/>
                </a:solidFill>
                <a:latin typeface="Arial"/>
              </a:rPr>
              <a:t>Is my data used for model training? — Anthropic Privacy Center. privacy.claude.com</a:t>
            </a:r>
          </a:p>
          <a:p>
            <a:pPr>
              <a:lnSpc>
                <a:spcPct val="102000"/>
              </a:lnSpc>
              <a:spcAft>
                <a:spcPts val="600"/>
              </a:spcAft>
            </a:pPr>
            <a:r>
              <a:rPr sz="1050" b="1" i="0">
                <a:solidFill>
                  <a:srgbClr val="007482"/>
                </a:solidFill>
                <a:latin typeface="Arial"/>
              </a:rPr>
              <a:t>9. </a:t>
            </a:r>
            <a:r>
              <a:rPr sz="1050" b="0" i="0">
                <a:solidFill>
                  <a:srgbClr val="555A61"/>
                </a:solidFill>
                <a:latin typeface="Arial"/>
              </a:rPr>
              <a:t>LLM01:2025 Prompt Injection — OWASP Gen AI Security Project. genai.owasp.org</a:t>
            </a:r>
          </a:p>
          <a:p>
            <a:pPr>
              <a:lnSpc>
                <a:spcPct val="102000"/>
              </a:lnSpc>
              <a:spcAft>
                <a:spcPts val="600"/>
              </a:spcAft>
            </a:pPr>
            <a:r>
              <a:rPr sz="1050" b="1" i="0">
                <a:solidFill>
                  <a:srgbClr val="007482"/>
                </a:solidFill>
                <a:latin typeface="Arial"/>
              </a:rPr>
              <a:t>10. </a:t>
            </a:r>
            <a:r>
              <a:rPr sz="1050" b="0" i="0">
                <a:solidFill>
                  <a:srgbClr val="555A61"/>
                </a:solidFill>
                <a:latin typeface="Arial"/>
              </a:rPr>
              <a:t>Interactive Jobs — UChicago RCC. docs.rcc.uchicago.edu/slurm/sinteractive</a:t>
            </a:r>
          </a:p>
          <a:p>
            <a:pPr>
              <a:lnSpc>
                <a:spcPct val="102000"/>
              </a:lnSpc>
              <a:spcAft>
                <a:spcPts val="600"/>
              </a:spcAft>
            </a:pPr>
            <a:r>
              <a:rPr sz="1050" b="1" i="0">
                <a:solidFill>
                  <a:srgbClr val="007482"/>
                </a:solidFill>
                <a:latin typeface="Arial"/>
              </a:rPr>
              <a:t>11. </a:t>
            </a:r>
            <a:r>
              <a:rPr sz="1050" b="0" i="0">
                <a:solidFill>
                  <a:srgbClr val="555A61"/>
                </a:solidFill>
                <a:latin typeface="Arial"/>
              </a:rPr>
              <a:t>Python &amp; Jupyter — UChicago RCC. docs.rcc.uchicago.edu/software/apps-and-envs/python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Thank you — questions?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RCC support: user guide at docs.rcc.uchicago.edu, the help desk, and office hours.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