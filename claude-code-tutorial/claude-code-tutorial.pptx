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300" b="1" i="0">
                <a:solidFill>
                  <a:srgbClr val="0B2E6B"/>
                </a:solidFill>
                <a:latin typeface="Arial"/>
              </a:rPr>
              <a:t>Claude Code on Midway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500" b="0" i="0">
                <a:solidFill>
                  <a:srgbClr val="595959"/>
                </a:solidFill>
                <a:latin typeface="Arial"/>
              </a:rPr>
              <a:t>Operating an AI coding agent as research infrastructure — headless, governed, cost-aware</a:t>
            </a:r>
          </a:p>
          <a:p/>
          <a:p>
            <a:r>
              <a:rPr sz="1300" b="0" i="0">
                <a:solidFill>
                  <a:srgbClr val="595959"/>
                </a:solidFill>
                <a:latin typeface="Arial"/>
              </a:rPr>
              <a:t>Youzhi Yu · Research Computing Center · University of Chicago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004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7482"/>
                </a:solidFill>
                <a:latin typeface="Arial"/>
              </a:rPr>
              <a:t>RCC WORKSHOP  ·  PART I — CONCEPTS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Why agentic coding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from autocomplete, to chat, to an agent that </a:t>
            </a:r>
            <a:r>
              <a:rPr sz="1450" b="0" i="1">
                <a:solidFill>
                  <a:srgbClr val="202124"/>
                </a:solidFill>
                <a:latin typeface="Arial"/>
              </a:rPr>
              <a:t>acts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The mental model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the harness vs. the model, and the agentic loop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Driving it headlessly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</a:t>
            </a:r>
            <a:r>
              <a:rPr sz="1450" b="0" i="0">
                <a:solidFill>
                  <a:srgbClr val="007482"/>
                </a:solidFill>
                <a:latin typeface="Consolas"/>
              </a:rPr>
              <a:t>claude -p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structured output, cost accounting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Configuring the agent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memory, slash commands, skills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Governance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permissions, hooks, subagents, sessions </a:t>
            </a:r>
            <a:r>
              <a:rPr sz="1450" b="0" i="1">
                <a:solidFill>
                  <a:srgbClr val="202124"/>
                </a:solidFill>
                <a:latin typeface="Arial"/>
              </a:rPr>
              <a:t>(the crux on shared HPC)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Extending &amp; scaling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MCP tools, a capstone bug-fix, cluster fan-out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Programmatic use</a:t>
            </a:r>
            <a:r>
              <a:rPr sz="1450" b="0" i="0">
                <a:solidFill>
                  <a:srgbClr val="202124"/>
                </a:solidFill>
                <a:latin typeface="Arial"/>
              </a:rPr>
              <a:t> — the three doors and the Agent SDK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155CC"/>
                </a:solidFill>
                <a:latin typeface="Arial"/>
              </a:rPr>
              <a:t>Safety, trust &amp; honest limits</a:t>
            </a:r>
            <a:r>
              <a:rPr sz="1450" b="0" i="0">
                <a:solidFill>
                  <a:srgbClr val="202124"/>
                </a:solidFill>
                <a:latin typeface="Arial"/>
              </a:rPr>
              <a:t>, then the hands-on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Why an agent in your terminal?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Motivation: what changed, and why it matters for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Three generations of coding assistance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jump that matters is the last one: from </a:t>
            </a:r>
            <a:r>
              <a:rPr sz="1250" b="0" i="1">
                <a:solidFill>
                  <a:srgbClr val="595959"/>
                </a:solidFill>
                <a:latin typeface="Arial"/>
              </a:rPr>
              <a:t>suggesting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code to </a:t>
            </a:r>
            <a:r>
              <a:rPr sz="1250" b="0" i="1">
                <a:solidFill>
                  <a:srgbClr val="595959"/>
                </a:solidFill>
                <a:latin typeface="Arial"/>
              </a:rPr>
              <a:t>taking action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on your behalf.</a:t>
            </a:r>
          </a:p>
        </p:txBody>
      </p:sp>
      <p:pic>
        <p:nvPicPr>
          <p:cNvPr id="5" name="Picture 4" descr="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8229600" cy="26989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is Claude Code?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0896" y="1234440"/>
            <a:ext cx="3977639" cy="3383280"/>
          </a:xfrm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An agent, not autocomplete.  </a:t>
            </a:r>
            <a:r>
              <a:rPr sz="1350" b="0">
                <a:solidFill>
                  <a:srgbClr val="202124"/>
                </a:solidFill>
                <a:latin typeface="Arial"/>
              </a:rPr>
              <a:t>It reads your files, runs your commands, and edits code — in a loop.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Terminal-native.  </a:t>
            </a:r>
            <a:r>
              <a:rPr sz="1350" b="0">
                <a:solidFill>
                  <a:srgbClr val="202124"/>
                </a:solidFill>
                <a:latin typeface="Arial"/>
              </a:rPr>
              <a:t>It lives where clusters already work — Unix pipes, scripts, Slurm.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One engine, many surfaces.  </a:t>
            </a:r>
            <a:r>
              <a:rPr sz="1350" b="0">
                <a:solidFill>
                  <a:srgbClr val="202124"/>
                </a:solidFill>
                <a:latin typeface="Arial"/>
              </a:rPr>
              <a:t>CLI, VS Code / JetBrains, GitHub @claude, and the Agent SDK.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Generally available.  </a:t>
            </a:r>
            <a:r>
              <a:rPr sz="1350" b="0">
                <a:solidFill>
                  <a:srgbClr val="202124"/>
                </a:solidFill>
                <a:latin typeface="Arial"/>
              </a:rPr>
              <a:t>v2 since Sep 2025, on a weekly release cadence.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repl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234440"/>
            <a:ext cx="4434840" cy="32455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agentic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Every capability in this workshop is a knob on this loop — what it may read, do, and how you verify it.</a:t>
            </a:r>
          </a:p>
        </p:txBody>
      </p:sp>
      <p:pic>
        <p:nvPicPr>
          <p:cNvPr id="5" name="Picture 4" descr="agentic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45920"/>
            <a:ext cx="5029200" cy="35365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How it reads your code: agentic search, not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It searches like you do.  </a:t>
            </a:r>
            <a:r>
              <a:rPr sz="1500" b="0">
                <a:solidFill>
                  <a:srgbClr val="202124"/>
                </a:solidFill>
                <a:latin typeface="Arial"/>
              </a:rPr>
              <a:t>It greps, globs, and reads the real filesystem — no index to build.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Deliberately not vector RAG.  </a:t>
            </a:r>
            <a:r>
              <a:rPr sz="1500" b="0">
                <a:solidFill>
                  <a:srgbClr val="202124"/>
                </a:solidFill>
                <a:latin typeface="Arial"/>
              </a:rPr>
              <a:t>More accurate, nothing to embed, and never stale.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Your file layout is context.  </a:t>
            </a:r>
            <a:r>
              <a:rPr sz="1500" b="0">
                <a:solidFill>
                  <a:srgbClr val="202124"/>
                </a:solidFill>
                <a:latin typeface="Arial"/>
              </a:rPr>
              <a:t>Structure the repo well and the agent finds the right things.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Verification closes the loop.  </a:t>
            </a:r>
            <a:r>
              <a:rPr sz="1500" b="0">
                <a:solidFill>
                  <a:srgbClr val="202124"/>
                </a:solidFill>
                <a:latin typeface="Arial"/>
              </a:rPr>
              <a:t>A test, an exit code, a linter, or a second model as judge.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In the RAG workshop you built retrieval by hand; here the agent retrieves by acting.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Where it sits in the 2025–2026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Terminal agents.  </a:t>
            </a:r>
            <a:r>
              <a:rPr sz="1500" b="0">
                <a:solidFill>
                  <a:srgbClr val="202124"/>
                </a:solidFill>
                <a:latin typeface="Arial"/>
              </a:rPr>
              <a:t>Claude Code, OpenAI Codex CLI, Gemini CLI — same shape, different models.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AI-native editors.  </a:t>
            </a:r>
            <a:r>
              <a:rPr sz="1500" b="0">
                <a:solidFill>
                  <a:srgbClr val="202124"/>
                </a:solidFill>
                <a:latin typeface="Arial"/>
              </a:rPr>
              <a:t>Cursor and Copilot live in the IDE — powerful, but not composable at the shell.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Frameworks &amp; pair-programmers.  </a:t>
            </a:r>
            <a:r>
              <a:rPr sz="1500" b="0">
                <a:solidFill>
                  <a:srgbClr val="202124"/>
                </a:solidFill>
                <a:latin typeface="Arial"/>
              </a:rPr>
              <a:t>LangGraph, CrewAI — libraries you assemble; Aider — a ready but opinionated pair-programmer.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Why Claude Code here.  </a:t>
            </a:r>
            <a:r>
              <a:rPr sz="1500" b="0">
                <a:solidFill>
                  <a:srgbClr val="202124"/>
                </a:solidFill>
                <a:latin typeface="Arial"/>
              </a:rPr>
              <a:t>Unopinionated and composable — it behaves like research infrastructure.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Benchmarks move monthly and depend on the model paired — treat any leaderboard number as a snapshot.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Why this belongs in research computing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Scriptable &amp; headless.  </a:t>
            </a:r>
            <a:r>
              <a:rPr sz="1500" b="0">
                <a:solidFill>
                  <a:srgbClr val="202124"/>
                </a:solidFill>
                <a:latin typeface="Arial"/>
              </a:rPr>
              <a:t>One non-interactive turn, machine-readable JSON — it drops into any pipeline.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Governed &amp; observable.  </a:t>
            </a:r>
            <a:r>
              <a:rPr sz="1500" b="0">
                <a:solidFill>
                  <a:srgbClr val="202124"/>
                </a:solidFill>
                <a:latin typeface="Arial"/>
              </a:rPr>
              <a:t>Every action is a costed, permissioned, auditable record.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Not just code.  </a:t>
            </a:r>
            <a:r>
              <a:rPr sz="1500" b="0">
                <a:solidFill>
                  <a:srgbClr val="202124"/>
                </a:solidFill>
                <a:latin typeface="Arial"/>
              </a:rPr>
              <a:t>Data wrangling, ETL glue, log triage, LaTeX and literature drafting.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Fits how HPC works.  </a:t>
            </a:r>
            <a:r>
              <a:rPr sz="1500" b="0">
                <a:solidFill>
                  <a:srgbClr val="202124"/>
                </a:solidFill>
                <a:latin typeface="Arial"/>
              </a:rPr>
              <a:t>Versioned config, per-job cost accounting, batch submission.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Auditable and isolable — but, because the model samples, not bit-for-bit reproducible.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Two things you must keep separate: the harness and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harness vs.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workshop configures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harness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(the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program).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model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a swappable LLM we call over the network.</a:t>
            </a:r>
          </a:p>
        </p:txBody>
      </p:sp>
      <p:pic>
        <p:nvPicPr>
          <p:cNvPr id="5" name="Picture 4" descr="harnes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34373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Choosing a model (mid-2026)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5959"/>
                </a:solidFill>
                <a:latin typeface="Arial"/>
              </a:rPr>
              <a:t>Switch with /model or --model. Aliases (opus / sonnet / haiku) resolve per provider — pin a full id in shared configs.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" y="1664208"/>
          <a:ext cx="855878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3973721"/>
                <a:gridCol w="1069848"/>
                <a:gridCol w="198686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Price /MTok (in/out)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deepest reasoning; default on Max/API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$5 / $25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Sonnet 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balanced workhorse; default on Pro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$3 / $15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fast &amp; cheap — ideal for batch/fan-out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200K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$1 / $5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02124"/>
                          </a:solidFill>
                          <a:latin typeface="Arial"/>
                        </a:rPr>
                        <a:t>Fable 5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most capable; opt-in via </a:t>
                      </a: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/model fable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02124"/>
                          </a:solidFill>
                          <a:latin typeface="Arial"/>
                        </a:rPr>
                        <a:t>1M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007482"/>
                          </a:solidFill>
                          <a:latin typeface="Consolas"/>
                        </a:rPr>
                        <a:t>$10 / $50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Anatomy of the harness — the workshop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Everything around the agent is a configuration surface. We take them one at a time; the section number is on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612" y="1463040"/>
            <a:ext cx="6200775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Install &amp; authenticate — once, no sudo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95959"/>
                </a:solidFill>
                <a:latin typeface="Arial"/>
              </a:rPr>
              <a:t>Install once, authenticate once — then your credentials and transcripts live under $CLAUDE_CONFIG_DIR (the binary sits on your PATH).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  <p:pic>
        <p:nvPicPr>
          <p:cNvPr id="8" name="Picture 7" descr="in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63" y="1755648"/>
            <a:ext cx="6654472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Two ways to drive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 i="0">
                <a:solidFill>
                  <a:srgbClr val="1155CC"/>
                </a:solidFill>
                <a:latin typeface="Arial"/>
              </a:rPr>
              <a:t>Interactive REPL  (daily driver)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run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claude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in a repo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155CC"/>
                </a:solidFill>
                <a:latin typeface="Arial"/>
              </a:rPr>
              <a:t>Shift+Tab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cycles permission modes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007482"/>
                </a:solidFill>
                <a:latin typeface="Consolas"/>
              </a:rPr>
              <a:t>@file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mentions,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!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bash, </a:t>
            </a:r>
            <a:r>
              <a:rPr sz="1300" b="0" i="0">
                <a:solidFill>
                  <a:srgbClr val="007482"/>
                </a:solidFill>
                <a:latin typeface="Consolas"/>
              </a:rPr>
              <a:t>/commands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155CC"/>
                </a:solidFill>
                <a:latin typeface="Arial"/>
              </a:rPr>
              <a:t>Esc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interrupts; </a:t>
            </a:r>
            <a:r>
              <a:rPr sz="1300" b="1" i="0">
                <a:solidFill>
                  <a:srgbClr val="1155CC"/>
                </a:solidFill>
                <a:latin typeface="Arial"/>
              </a:rPr>
              <a:t>Esc Esc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rewinds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can't run headless → the take-home lab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007482"/>
                </a:solidFill>
                <a:latin typeface="Arial"/>
              </a:rPr>
              <a:t>Headless  </a:t>
            </a:r>
            <a:r>
              <a:rPr sz="1400" b="0">
                <a:solidFill>
                  <a:srgbClr val="007482"/>
                </a:solidFill>
                <a:latin typeface="Consolas"/>
              </a:rPr>
              <a:t>claude -p</a:t>
            </a:r>
            <a:r>
              <a:rPr sz="1400" b="1">
                <a:solidFill>
                  <a:srgbClr val="007482"/>
                </a:solidFill>
                <a:latin typeface="Arial"/>
              </a:rPr>
              <a:t>  (this deck)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one non-interactive turn, then exit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machine-readable </a:t>
            </a:r>
            <a:r>
              <a:rPr sz="1300" b="1" i="0">
                <a:solidFill>
                  <a:srgbClr val="1155CC"/>
                </a:solidFill>
                <a:latin typeface="Arial"/>
              </a:rPr>
              <a:t>JSON</a:t>
            </a:r>
            <a:r>
              <a:rPr sz="1300" b="0" i="0">
                <a:solidFill>
                  <a:srgbClr val="202124"/>
                </a:solidFill>
                <a:latin typeface="Arial"/>
              </a:rPr>
              <a:t> output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scriptable into Slurm / CI / pipelines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the unit of a batch job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124"/>
                </a:solidFill>
                <a:latin typeface="Arial"/>
              </a:rPr>
              <a:t>the Agent SDK drives all of this from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Driving the agent headlessly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A call is a structured, costed, auditable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Your first headless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claude -p "…" --output-format json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runs one turn and returns an object — the foundation of every pipeline.</a:t>
            </a:r>
          </a:p>
        </p:txBody>
      </p:sp>
      <p:pic>
        <p:nvPicPr>
          <p:cNvPr id="5" name="Picture 4" descr="headless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26910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Structured output on tap — --json-schema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Hand the model a schema and get validated fields back — no fragile regex parsing.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18</a:t>
            </a:r>
          </a:p>
        </p:txBody>
      </p:sp>
      <p:pic>
        <p:nvPicPr>
          <p:cNvPr id="8" name="Picture 7" descr="schem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07" y="1755648"/>
            <a:ext cx="6981384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Cost &amp; observability — know the price of every call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Every call is priced.  </a:t>
            </a:r>
            <a:r>
              <a:rPr sz="1500" b="0">
                <a:solidFill>
                  <a:srgbClr val="202124"/>
                </a:solidFill>
                <a:latin typeface="Arial"/>
              </a:rPr>
              <a:t>total_cost_usd, tokens, turns, session_id, is_error — all in the JSON.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Sum the batch, get the bill.  </a:t>
            </a:r>
            <a:r>
              <a:rPr sz="1500" b="0">
                <a:solidFill>
                  <a:srgbClr val="202124"/>
                </a:solidFill>
                <a:latin typeface="Arial"/>
              </a:rPr>
              <a:t>The notebook keeps a running ledger as it goes.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Cap spend up front.  </a:t>
            </a:r>
            <a:r>
              <a:rPr sz="1500" b="0">
                <a:solidFill>
                  <a:srgbClr val="202124"/>
                </a:solidFill>
                <a:latin typeface="Arial"/>
              </a:rPr>
              <a:t>--max-budget-usd and --max-turns stop a runaway agent.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In the REPL, /cost.  </a:t>
            </a:r>
            <a:r>
              <a:rPr sz="1500" b="0">
                <a:solidFill>
                  <a:srgbClr val="202124"/>
                </a:solidFill>
                <a:latin typeface="Arial"/>
              </a:rPr>
              <a:t>Session spend at a glance; /usage shows plan limits.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total_cost_usd is a client-side estimate — reconcile grant spend against the Console.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Making it fit your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Memory, saved prompts, and model-invoked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Project memory — CLAUDE.md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Auto-loaded project memory.  </a:t>
            </a:r>
            <a:r>
              <a:rPr sz="1500" b="0">
                <a:solidFill>
                  <a:srgbClr val="202124"/>
                </a:solidFill>
                <a:latin typeface="Arial"/>
              </a:rPr>
              <a:t>Plain Markdown, read at the start of every session in that directory.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 hierarchy.  </a:t>
            </a:r>
            <a:r>
              <a:rPr sz="1500" b="0">
                <a:solidFill>
                  <a:srgbClr val="202124"/>
                </a:solidFill>
                <a:latin typeface="Arial"/>
              </a:rPr>
              <a:t>Org policy → your ~/.claude → the project file (check it into git).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/init and /memory.  </a:t>
            </a:r>
            <a:r>
              <a:rPr sz="1500" b="0">
                <a:solidFill>
                  <a:srgbClr val="202124"/>
                </a:solidFill>
                <a:latin typeface="Arial"/>
              </a:rPr>
              <a:t>Generate a starter from the codebase; see everything currently loaded.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Advice, not enforcement.  </a:t>
            </a:r>
            <a:r>
              <a:rPr sz="1500" b="0">
                <a:solidFill>
                  <a:srgbClr val="202124"/>
                </a:solidFill>
                <a:latin typeface="Arial"/>
              </a:rPr>
              <a:t>Keep it under ~200 lines; for guarantees, use permissions and hooks.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Reusable prompts — slash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A saved, versioned prompt you fire by name — and share across the whole lab.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22</a:t>
            </a:r>
          </a:p>
        </p:txBody>
      </p:sp>
      <p:pic>
        <p:nvPicPr>
          <p:cNvPr id="8" name="Picture 7" descr="sl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07" y="1755648"/>
            <a:ext cx="6981384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Skills — invoked by the model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skill is a folder (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SKILL.md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+ optional scripts). A slash command is a prompt </a:t>
            </a:r>
            <a:r>
              <a:rPr sz="1250" b="0" i="1">
                <a:solidFill>
                  <a:srgbClr val="595959"/>
                </a:solidFill>
                <a:latin typeface="Arial"/>
              </a:rPr>
              <a:t>you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fire; a skill is one the </a:t>
            </a:r>
            <a:r>
              <a:rPr sz="1250" b="1" i="0">
                <a:solidFill>
                  <a:srgbClr val="1155CC"/>
                </a:solidFill>
                <a:latin typeface="Arial"/>
              </a:rPr>
              <a:t>model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fires when your request matches its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description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23</a:t>
            </a:r>
          </a:p>
        </p:txBody>
      </p:sp>
      <p:pic>
        <p:nvPicPr>
          <p:cNvPr id="7" name="Picture 6" descr="skills_ti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92" y="1572768"/>
            <a:ext cx="635921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Which surface? — the extensibility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The distinction to hold onto: </a:t>
            </a:r>
            <a:r>
              <a:rPr sz="1200" b="1" i="0">
                <a:solidFill>
                  <a:srgbClr val="1155CC"/>
                </a:solidFill>
                <a:latin typeface="Arial"/>
              </a:rPr>
              <a:t>advisory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(CLAUDE.md, skills) vs. </a:t>
            </a:r>
            <a:r>
              <a:rPr sz="1200" b="1" i="0">
                <a:solidFill>
                  <a:srgbClr val="1155CC"/>
                </a:solidFill>
                <a:latin typeface="Arial"/>
              </a:rPr>
              <a:t>enforced</a:t>
            </a:r>
            <a:r>
              <a:rPr sz="1200" b="0" i="0">
                <a:solidFill>
                  <a:srgbClr val="595959"/>
                </a:solidFill>
                <a:latin typeface="Arial"/>
              </a:rPr>
              <a:t> (permissions, hooks).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" y="1536192"/>
          <a:ext cx="855878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110"/>
                <a:gridCol w="2139696"/>
                <a:gridCol w="1997049"/>
                <a:gridCol w="2852927"/>
              </a:tblGrid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Loaded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Invoked by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 anchor="ctr" marT="25400" marB="25400" marL="76200" marR="76200">
                    <a:solidFill>
                      <a:srgbClr val="007482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always, in full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project facts &amp; conventions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slash command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 </a:t>
                      </a: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/name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you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, explicitly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one reusable prompt (+ tool limits)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skill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name always; body on match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the model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 (or </a:t>
                      </a:r>
                      <a:r>
                        <a:rPr sz="1050" b="0" i="0">
                          <a:solidFill>
                            <a:srgbClr val="007482"/>
                          </a:solidFill>
                          <a:latin typeface="Consolas"/>
                        </a:rPr>
                        <a:t>/name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 procedure + scripts / references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subagent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on delegation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model or you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a scoped worker, own context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MCP server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tool schema always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the model, as a tool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external tools over a protocol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hook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every matching event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the harness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 i="0">
                          <a:solidFill>
                            <a:srgbClr val="202124"/>
                          </a:solidFill>
                          <a:latin typeface="Arial"/>
                        </a:rPr>
                        <a:t>deterministic</a:t>
                      </a:r>
                      <a:r>
                        <a:rPr sz="1050" b="0" i="0">
                          <a:solidFill>
                            <a:srgbClr val="202124"/>
                          </a:solidFill>
                          <a:latin typeface="Arial"/>
                        </a:rPr>
                        <a:t> shell policy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C86A00"/>
                </a:solidFill>
                <a:latin typeface="Arial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Who's in charge —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The part that earns an agent a place on a shared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Permission modes — your autonomy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Shift+Tab cycles the modes you use most (auto and dontAsk add hands-off variants). You set it — the model can't.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10896" y="1600200"/>
          <a:ext cx="507492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65960"/>
                <a:gridCol w="1691640"/>
              </a:tblGrid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Use it for</a:t>
                      </a:r>
                    </a:p>
                  </a:txBody>
                  <a:tcPr anchor="ctr" marT="25400" marB="25400" marL="76200" marR="76200">
                    <a:solidFill>
                      <a:srgbClr val="C86A00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default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(Manual)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prompts on first use; reads run free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everyday interactive work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read-only; proposes, never edits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explore &amp; design safely first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acceptEdits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auto-approves edits + fs-bash in cwd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tight loops in a git-clean repo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bypassPermissions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skips all checks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containers / VMs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only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26</a:t>
            </a:r>
          </a:p>
        </p:txBody>
      </p:sp>
      <p:pic>
        <p:nvPicPr>
          <p:cNvPr id="7" name="Picture 6" descr="permission_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128389"/>
            <a:ext cx="3611880" cy="20617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Permission rules &amp; precedence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95959"/>
                </a:solidFill>
                <a:latin typeface="Arial"/>
              </a:rPr>
              <a:t>Rules live in .claude/settings.json as allow / ask / deny lists — e.g. Edit(analysis/**), Read(~/.ssh/**), Bash(rm -rf*).</a:t>
            </a:r>
          </a:p>
        </p:txBody>
      </p:sp>
      <p:pic>
        <p:nvPicPr>
          <p:cNvPr id="5" name="Picture 4" descr="permiss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6949440" cy="3816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Hooks — policy the model cannot forget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CLAUDE.md is advice the model can forget; a hook is policy the harness runs on every matching event.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28</a:t>
            </a:r>
          </a:p>
        </p:txBody>
      </p:sp>
      <p:pic>
        <p:nvPicPr>
          <p:cNvPr id="8" name="Picture 7" descr="h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596" y="1755648"/>
            <a:ext cx="6356806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Subagents — delegate to a scoped worker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 scoped worker.  </a:t>
            </a:r>
            <a:r>
              <a:rPr sz="1500" b="0">
                <a:solidFill>
                  <a:srgbClr val="202124"/>
                </a:solidFill>
                <a:latin typeface="Arial"/>
              </a:rPr>
              <a:t>Its own instructions, its own tools, its own context window.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Scoped by construction.  </a:t>
            </a:r>
            <a:r>
              <a:rPr sz="1500" b="0">
                <a:solidFill>
                  <a:srgbClr val="202124"/>
                </a:solidFill>
                <a:latin typeface="Arial"/>
              </a:rPr>
              <a:t>A reviewer limited to Read + Grep cannot edit, even if asked.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Two payoffs.  </a:t>
            </a:r>
            <a:r>
              <a:rPr sz="1500" b="0">
                <a:solidFill>
                  <a:srgbClr val="202124"/>
                </a:solidFill>
                <a:latin typeface="Arial"/>
              </a:rPr>
              <a:t>Context isolation — only a summary returns — and least privilege.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The orchestrator–worker pattern.  </a:t>
            </a:r>
            <a:r>
              <a:rPr sz="1500" b="0">
                <a:solidFill>
                  <a:srgbClr val="202124"/>
                </a:solidFill>
                <a:latin typeface="Arial"/>
              </a:rPr>
              <a:t>Fan out read-only workers; Anthropic uses it in its own research.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Built-ins you'll meet: Explore (fast read-only search) and Plan (read-only planning).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Sessions &amp; checkpoints — resume, branch, rewind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Every call is a session.  </a:t>
            </a:r>
            <a:r>
              <a:rPr sz="1500" b="0">
                <a:solidFill>
                  <a:srgbClr val="202124"/>
                </a:solidFill>
                <a:latin typeface="Arial"/>
              </a:rPr>
              <a:t>A JSONL transcript on disk — inspectable and auditable.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Resume, branch, name.  </a:t>
            </a:r>
            <a:r>
              <a:rPr sz="1500" b="0">
                <a:solidFill>
                  <a:srgbClr val="202124"/>
                </a:solidFill>
                <a:latin typeface="Arial"/>
              </a:rPr>
              <a:t>--resume continues; --fork-session branches; --session-id names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Rewind, interactively.  </a:t>
            </a:r>
            <a:r>
              <a:rPr sz="1500" b="0">
                <a:solidFill>
                  <a:srgbClr val="202124"/>
                </a:solidFill>
                <a:latin typeface="Arial"/>
              </a:rPr>
              <a:t>Checkpoints snapshot code before each edit; Esc Esc restores.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Rewind tracks only Claude's edits — a local undo, not a replacement for git.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Extending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Your own tools, an audited fix, and cluster fan-out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MCP — plug in your own (cluster-native)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Give Claude your own cluster-native tools over a simple protocol — a Slurm wrapper, a catalog, a database.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32</a:t>
            </a:r>
          </a:p>
        </p:txBody>
      </p:sp>
      <p:pic>
        <p:nvPicPr>
          <p:cNvPr id="8" name="Picture 7" descr="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430" y="1755648"/>
            <a:ext cx="5401138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Capstone — an agent fixes a failing test, audited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Hand it a repo with a planted bug under acceptEdits, watch the tool-by-tool trace — then re-run the test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33</a:t>
            </a:r>
          </a:p>
        </p:txBody>
      </p:sp>
      <p:pic>
        <p:nvPicPr>
          <p:cNvPr id="7" name="Picture 6" descr="capstone_tr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82" y="1691640"/>
            <a:ext cx="5881035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capstone lesson: verification closes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The mode made it safe.  </a:t>
            </a:r>
            <a:r>
              <a:rPr sz="1500" b="0">
                <a:solidFill>
                  <a:srgbClr val="202124"/>
                </a:solidFill>
                <a:latin typeface="Arial"/>
              </a:rPr>
              <a:t>The permission mode, not the model, allowed autonomous editing.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Grade behavior, not claims.  </a:t>
            </a:r>
            <a:r>
              <a:rPr sz="1500" b="0">
                <a:solidFill>
                  <a:srgbClr val="202124"/>
                </a:solidFill>
                <a:latin typeface="Arial"/>
              </a:rPr>
              <a:t>Ground truth is the exit code we check — never the model's word.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TDD is the strongest pattern.  </a:t>
            </a:r>
            <a:r>
              <a:rPr sz="1500" b="0">
                <a:solidFill>
                  <a:srgbClr val="202124"/>
                </a:solidFill>
                <a:latin typeface="Arial"/>
              </a:rPr>
              <a:t>Write failing tests first, then let the agent iterate to green.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Give it a check to stop on.  </a:t>
            </a:r>
            <a:r>
              <a:rPr sz="1500" b="0">
                <a:solidFill>
                  <a:srgbClr val="202124"/>
                </a:solidFill>
                <a:latin typeface="Arial"/>
              </a:rPr>
              <a:t>A test or metric so an unattended run self-terminates.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From one call to a cluster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Consolas"/>
              </a:rPr>
              <a:t>cc.ask()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is the unit of a batch job: loop it over inputs, sum the cost, submit as a Slurm job. The shipped </a:t>
            </a:r>
            <a:r>
              <a:rPr sz="1250" b="0" i="0">
                <a:solidFill>
                  <a:srgbClr val="007482"/>
                </a:solidFill>
                <a:latin typeface="Consolas"/>
              </a:rPr>
              <a:t>run.sh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does exactly this.</a:t>
            </a:r>
          </a:p>
        </p:txBody>
      </p:sp>
      <p:pic>
        <p:nvPicPr>
          <p:cNvPr id="5" name="Picture 4" descr="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8229600" cy="3211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007482"/>
                </a:solidFill>
                <a:latin typeface="Arial"/>
              </a:rPr>
              <a:t>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Running it from your own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Three doors, and the Agent SDK in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Three doors into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170432"/>
            <a:ext cx="8549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95959"/>
                </a:solidFill>
                <a:latin typeface="Arial"/>
              </a:rPr>
              <a:t>Three ways to run the same agent — the whole point of a headless agent is to script it.</a:t>
            </a:r>
          </a:p>
        </p:txBody>
      </p:sp>
      <p:pic>
        <p:nvPicPr>
          <p:cNvPr id="5" name="Picture 4" descr="three_d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8412480" cy="3361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The Agent SDK — Claude Code as a Python library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pip install claude-agent-sdk — the same engine as claude -p, as async Python: typed messages, not JSON.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8412480" cy="1444752"/>
          </a:xfrm>
          <a:prstGeom prst="roundRect">
            <a:avLst/>
          </a:prstGeom>
          <a:solidFill>
            <a:srgbClr val="1E222A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91440" rIns="109728" bIns="73152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>
                <a:solidFill>
                  <a:srgbClr val="9EC5FF"/>
                </a:solidFill>
                <a:latin typeface="Consolas"/>
              </a:rPr>
              <a:t>from </a:t>
            </a:r>
            <a:r>
              <a:rPr sz="1350">
                <a:solidFill>
                  <a:srgbClr val="E8EAED"/>
                </a:solidFill>
                <a:latin typeface="Consolas"/>
              </a:rPr>
              <a:t>claude_agent_sdk </a:t>
            </a:r>
            <a:r>
              <a:rPr sz="1350">
                <a:solidFill>
                  <a:srgbClr val="9EC5FF"/>
                </a:solidFill>
                <a:latin typeface="Consolas"/>
              </a:rPr>
              <a:t>import </a:t>
            </a:r>
            <a:r>
              <a:rPr sz="1350">
                <a:solidFill>
                  <a:srgbClr val="E8EAED"/>
                </a:solidFill>
                <a:latin typeface="Consolas"/>
              </a:rPr>
              <a:t>query, ClaudeAgentOptions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>
                <a:solidFill>
                  <a:srgbClr val="E8EAED"/>
                </a:solidFill>
                <a:latin typeface="Consolas"/>
              </a:rPr>
              <a:t>opts = ClaudeAgentOptions(model=</a:t>
            </a:r>
            <a:r>
              <a:rPr sz="1350">
                <a:solidFill>
                  <a:srgbClr val="E8EAED"/>
                </a:solidFill>
                <a:latin typeface="Consolas"/>
              </a:rPr>
              <a:t>"haiku"</a:t>
            </a:r>
            <a:r>
              <a:rPr sz="1350">
                <a:solidFill>
                  <a:srgbClr val="E8EAED"/>
                </a:solidFill>
                <a:latin typeface="Consolas"/>
              </a:rPr>
              <a:t>, cwd=repo)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>
                <a:solidFill>
                  <a:srgbClr val="9EC5FF"/>
                </a:solidFill>
                <a:latin typeface="Consolas"/>
              </a:rPr>
              <a:t>async for </a:t>
            </a:r>
            <a:r>
              <a:rPr sz="1350">
                <a:solidFill>
                  <a:srgbClr val="E8EAED"/>
                </a:solidFill>
                <a:latin typeface="Consolas"/>
              </a:rPr>
              <a:t>msg </a:t>
            </a:r>
            <a:r>
              <a:rPr sz="1350">
                <a:solidFill>
                  <a:srgbClr val="9EC5FF"/>
                </a:solidFill>
                <a:latin typeface="Consolas"/>
              </a:rPr>
              <a:t>in </a:t>
            </a:r>
            <a:r>
              <a:rPr sz="1350">
                <a:solidFill>
                  <a:srgbClr val="E8EAED"/>
                </a:solidFill>
                <a:latin typeface="Consolas"/>
              </a:rPr>
              <a:t>query(prompt=</a:t>
            </a:r>
            <a:r>
              <a:rPr sz="1350">
                <a:solidFill>
                  <a:srgbClr val="E8EAED"/>
                </a:solidFill>
                <a:latin typeface="Consolas"/>
              </a:rPr>
              <a:t>"Summarize this repo."</a:t>
            </a:r>
            <a:r>
              <a:rPr sz="1350">
                <a:solidFill>
                  <a:srgbClr val="E8EAED"/>
                </a:solidFill>
                <a:latin typeface="Consolas"/>
              </a:rPr>
              <a:t>, options=opts):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350">
                <a:solidFill>
                  <a:srgbClr val="E8EAED"/>
                </a:solidFill>
                <a:latin typeface="Consolas"/>
              </a:rPr>
              <a:t>    print(msg)  </a:t>
            </a:r>
            <a:r>
              <a:rPr sz="1350">
                <a:solidFill>
                  <a:srgbClr val="8A929E"/>
                </a:solidFill>
                <a:latin typeface="Consolas"/>
              </a:rPr>
              <a:t># typed messages, not JSON to 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799331"/>
            <a:ext cx="8549640" cy="9098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155CC"/>
                </a:solidFill>
                <a:latin typeface="Arial"/>
              </a:rPr>
              <a:t>query() is one-shot; </a:t>
            </a:r>
            <a:r>
              <a:rPr sz="1250">
                <a:solidFill>
                  <a:srgbClr val="595959"/>
                </a:solidFill>
                <a:latin typeface="Arial"/>
              </a:rPr>
              <a:t>ClaudeSDKClient is multi-turn — options mirror the CLI flags.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1155CC"/>
                </a:solidFill>
                <a:latin typeface="Arial"/>
              </a:rPr>
              <a:t>Governance as Python: </a:t>
            </a:r>
            <a:r>
              <a:rPr sz="1250">
                <a:solidFill>
                  <a:srgbClr val="595959"/>
                </a:solidFill>
                <a:latin typeface="Arial"/>
              </a:rPr>
              <a:t>an in-process @tool, a can_use_tool callback, and hooks.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Automation surfaces (door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207008"/>
            <a:ext cx="8549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95959"/>
                </a:solidFill>
                <a:latin typeface="Arial"/>
              </a:rPr>
              <a:t>Beyond the SDK: event-driven and long-running surfaces — all the same engine.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39</a:t>
            </a:r>
          </a:p>
        </p:txBody>
      </p:sp>
      <p:pic>
        <p:nvPicPr>
          <p:cNvPr id="8" name="Picture 7" descr="auto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15" y="1700784"/>
            <a:ext cx="8122769" cy="299923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C86A00"/>
                </a:solidFill>
                <a:latin typeface="Arial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Safety, trust &amp; 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Non-negotiable on shared research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Safety on shared HPC — the essentials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The permission ladder.  </a:t>
            </a:r>
            <a:r>
              <a:rPr sz="1500" b="0">
                <a:solidFill>
                  <a:srgbClr val="202124"/>
                </a:solidFill>
                <a:latin typeface="Arial"/>
              </a:rPr>
              <a:t>plan to explore → acceptEdits in a git-clean repo → never bypass on a shared fs.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Claude reads what you can.  </a:t>
            </a:r>
            <a:r>
              <a:rPr sz="1500" b="0">
                <a:solidFill>
                  <a:srgbClr val="202124"/>
                </a:solidFill>
                <a:latin typeface="Arial"/>
              </a:rPr>
              <a:t>~/.ssh, ~/.netrc, tokens — launch from the project dir and deny-list secrets.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Mind the Slurm key leak.  </a:t>
            </a:r>
            <a:r>
              <a:rPr sz="1500" b="0">
                <a:solidFill>
                  <a:srgbClr val="202124"/>
                </a:solidFill>
                <a:latin typeface="Arial"/>
              </a:rPr>
              <a:t>--export=ALL copies your API key into the job env; prefer the OAuth path.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Egress required.  </a:t>
            </a:r>
            <a:r>
              <a:rPr sz="1500" b="0">
                <a:solidFill>
                  <a:srgbClr val="202124"/>
                </a:solidFill>
                <a:latin typeface="Arial"/>
              </a:rPr>
              <a:t>No network, no agent — for hard isolation, run it in a sandbox, container, or CI.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Trust is the real attack surface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Prompt injection is real.  </a:t>
            </a:r>
            <a:r>
              <a:rPr sz="1500" b="0">
                <a:solidFill>
                  <a:srgbClr val="202124"/>
                </a:solidFill>
                <a:latin typeface="Arial"/>
              </a:rPr>
              <a:t>Anything the agent ingests can carry instructions — a page, a PR, an MCP result.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A skill is software.  </a:t>
            </a:r>
            <a:r>
              <a:rPr sz="1500" b="0">
                <a:solidFill>
                  <a:srgbClr val="202124"/>
                </a:solidFill>
                <a:latin typeface="Arial"/>
              </a:rPr>
              <a:t>Installing one ships instructions and code that run as you.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Workspace trust.  </a:t>
            </a:r>
            <a:r>
              <a:rPr sz="1500" b="0">
                <a:solidFill>
                  <a:srgbClr val="202124"/>
                </a:solidFill>
                <a:latin typeface="Arial"/>
              </a:rPr>
              <a:t>.mcp.json, hooks, and skill grants take effect only after you accept.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Managed policy.  </a:t>
            </a:r>
            <a:r>
              <a:rPr sz="1500" b="0">
                <a:solidFill>
                  <a:srgbClr val="202124"/>
                </a:solidFill>
                <a:latin typeface="Arial"/>
              </a:rPr>
              <a:t>An admin can ship a locked settings.json users can't loosen — right for a cluster.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Data governance &amp; research ethics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Don't send restricted data.  </a:t>
            </a:r>
            <a:r>
              <a:rPr sz="1500" b="0">
                <a:solidFill>
                  <a:srgbClr val="202124"/>
                </a:solidFill>
                <a:latin typeface="Arial"/>
              </a:rPr>
              <a:t>IRB, PHI, or export-controlled data needs institutional approval first.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Know retention &amp; residency.  </a:t>
            </a:r>
            <a:r>
              <a:rPr sz="1500" b="0">
                <a:solidFill>
                  <a:srgbClr val="202124"/>
                </a:solidFill>
                <a:latin typeface="Arial"/>
              </a:rPr>
              <a:t>Check your plan's terms; route through Bedrock / Vertex for a BAA.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Disclose AI assistance.  </a:t>
            </a:r>
            <a:r>
              <a:rPr sz="1500" b="0">
                <a:solidFill>
                  <a:srgbClr val="202124"/>
                </a:solidFill>
                <a:latin typeface="Arial"/>
              </a:rPr>
              <a:t>Per venue policy; keep the transcript as a provenance record.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Generated code is a dependency.  </a:t>
            </a:r>
            <a:r>
              <a:rPr sz="1500" b="0">
                <a:solidFill>
                  <a:srgbClr val="202124"/>
                </a:solidFill>
                <a:latin typeface="Arial"/>
              </a:rPr>
              <a:t>The same review and licensing obligations as any other.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Honest limits — when </a:t>
            </a:r>
            <a:r>
              <a:rPr sz="2300" b="1" i="1">
                <a:solidFill>
                  <a:srgbClr val="202124"/>
                </a:solidFill>
                <a:latin typeface="Arial"/>
              </a:rPr>
              <a:t>not</a:t>
            </a:r>
            <a:r>
              <a:rPr sz="2300" b="1" i="0">
                <a:solidFill>
                  <a:srgbClr val="202124"/>
                </a:solidFill>
                <a:latin typeface="Arial"/>
              </a:rPr>
              <a:t> to reach for the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Not bit-reproducible.  </a:t>
            </a:r>
            <a:r>
              <a:rPr sz="1500" b="0">
                <a:solidFill>
                  <a:srgbClr val="202124"/>
                </a:solidFill>
                <a:latin typeface="Arial"/>
              </a:rPr>
              <a:t>The model samples and versions drift; runs are auditable, not deterministic.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It can be confidently wrong.  </a:t>
            </a:r>
            <a:r>
              <a:rPr sz="1500" b="0">
                <a:solidFill>
                  <a:srgbClr val="202124"/>
                </a:solidFill>
                <a:latin typeface="Arial"/>
              </a:rPr>
              <a:t>Hallucinated APIs, plausible-but-broken fixes — so verify everything.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Context is finite.  </a:t>
            </a:r>
            <a:r>
              <a:rPr sz="1500" b="0">
                <a:solidFill>
                  <a:srgbClr val="202124"/>
                </a:solidFill>
                <a:latin typeface="Arial"/>
              </a:rPr>
              <a:t>Long sessions degrade; /clear between tasks and scope the prompt.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Sometimes skip the agent.  </a:t>
            </a:r>
            <a:r>
              <a:rPr sz="1500" b="0">
                <a:solidFill>
                  <a:srgbClr val="202124"/>
                </a:solidFill>
                <a:latin typeface="Arial"/>
              </a:rPr>
              <a:t>For a one-line change, or for work you cannot verify.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C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2011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 i="0">
                <a:solidFill>
                  <a:srgbClr val="1155CC"/>
                </a:solidFill>
                <a:latin typeface="Arial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554480"/>
            <a:ext cx="63093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Wrap-up &amp;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2971800"/>
            <a:ext cx="6309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The big ideas, and what you'll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Key 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Harness vs. model.  </a:t>
            </a:r>
            <a:r>
              <a:rPr sz="1350" b="0">
                <a:solidFill>
                  <a:srgbClr val="202124"/>
                </a:solidFill>
                <a:latin typeface="Arial"/>
              </a:rPr>
              <a:t>You configure a versioned harness; the model is a swappable, drifting LLM.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The loop, governed.  </a:t>
            </a:r>
            <a:r>
              <a:rPr sz="1350" b="0">
                <a:solidFill>
                  <a:srgbClr val="202124"/>
                </a:solidFill>
                <a:latin typeface="Arial"/>
              </a:rPr>
              <a:t>Gather → act → verify, where every action is costed and permissioned.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Advisory vs. enforced.  </a:t>
            </a:r>
            <a:r>
              <a:rPr sz="1350" b="0">
                <a:solidFill>
                  <a:srgbClr val="202124"/>
                </a:solidFill>
                <a:latin typeface="Arial"/>
              </a:rPr>
              <a:t>CLAUDE.md and skills advise; permissions and hooks enforce.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Context is the scarce resource.  </a:t>
            </a:r>
            <a:r>
              <a:rPr sz="1350" b="0">
                <a:solidFill>
                  <a:srgbClr val="202124"/>
                </a:solidFill>
                <a:latin typeface="Arial"/>
              </a:rPr>
              <a:t>Nearly every best practice is really context management.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Verification closes the loop.  </a:t>
            </a:r>
            <a:r>
              <a:rPr sz="1350" b="0">
                <a:solidFill>
                  <a:srgbClr val="202124"/>
                </a:solidFill>
                <a:latin typeface="Arial"/>
              </a:rPr>
              <a:t>Give the agent an executable check; never ship what you can't verify.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155CC"/>
                </a:solidFill>
                <a:latin typeface="Arial"/>
              </a:rPr>
              <a:t>One engine, many surfaces.  </a:t>
            </a:r>
            <a:r>
              <a:rPr sz="1350" b="0">
                <a:solidFill>
                  <a:srgbClr val="202124"/>
                </a:solidFill>
                <a:latin typeface="Arial"/>
              </a:rPr>
              <a:t>Write the logic once; run it interactively, in batch, or in CI.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If you took the build-it-yourself workshops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2608" y="1280160"/>
          <a:ext cx="8558783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5934"/>
                <a:gridCol w="4782849"/>
              </a:tblGrid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Concept you built by hand</a:t>
                      </a:r>
                    </a:p>
                  </a:txBody>
                  <a:tcPr anchor="ctr" marT="25400" marB="25400" marL="76200" marR="76200">
                    <a:solidFill>
                      <a:srgbClr val="0B2E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Its Claude Code counterpart</a:t>
                      </a:r>
                    </a:p>
                  </a:txBody>
                  <a:tcPr anchor="ctr" marT="25400" marB="25400" marL="76200" marR="76200">
                    <a:solidFill>
                      <a:srgbClr val="0B2E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tool registry + tool-call parser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built-in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Read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/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Edit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/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Bash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an observable trace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self-repair / retry loop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the agent fixing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pytest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under a permission mode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an input/output guardrail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permission modes + hooks — governing </a:t>
                      </a:r>
                      <a:r>
                        <a:rPr sz="1100" b="0" i="1">
                          <a:solidFill>
                            <a:srgbClr val="202124"/>
                          </a:solidFill>
                          <a:latin typeface="Arial"/>
                        </a:rPr>
                        <a:t>actions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team of cooperating agents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tool-scoped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subagents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constrained / JSON decoder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--output-format json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--json-schema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cost-aware router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--model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</a:t>
                      </a: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total_cost_usd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accounting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prompt templates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007482"/>
                          </a:solidFill>
                          <a:latin typeface="Consolas"/>
                        </a:rPr>
                        <a:t>CLAUDE.md</a:t>
                      </a: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 + slash commands</a:t>
                      </a:r>
                    </a:p>
                  </a:txBody>
                  <a:tcPr anchor="ctr" marT="25400" marB="25400" marL="76200" marR="762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a library of task recipes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202124"/>
                          </a:solidFill>
                          <a:latin typeface="Arial"/>
                        </a:rPr>
                        <a:t>model-invoked, progressively disclosed </a:t>
                      </a:r>
                      <a:r>
                        <a:rPr sz="1100" b="1" i="0">
                          <a:solidFill>
                            <a:srgbClr val="202124"/>
                          </a:solidFill>
                          <a:latin typeface="Arial"/>
                        </a:rPr>
                        <a:t>skills</a:t>
                      </a:r>
                    </a:p>
                  </a:txBody>
                  <a:tcPr anchor="ctr" marT="25400" marB="25400" marL="76200" marR="76200">
                    <a:solidFill>
                      <a:srgbClr val="EAF1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Now: the hands-on notebook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§1–§13 · the CLI, headless.  </a:t>
            </a:r>
            <a:r>
              <a:rPr sz="1500" b="0">
                <a:solidFill>
                  <a:srgbClr val="202124"/>
                </a:solidFill>
                <a:latin typeface="Arial"/>
              </a:rPr>
              <a:t>First call, structured output, memory, commands, permissions, hooks, subagents.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§14–§18 · the Agent SDK.  </a:t>
            </a:r>
            <a:r>
              <a:rPr sz="1500" b="0">
                <a:solidFill>
                  <a:srgbClr val="202124"/>
                </a:solidFill>
                <a:latin typeface="Arial"/>
              </a:rPr>
              <a:t>query(), ClaudeSDKClient, in-process tools, and governance as Python.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Take-home REPL lab.  </a:t>
            </a:r>
            <a:r>
              <a:rPr sz="1500" b="0">
                <a:solidFill>
                  <a:srgbClr val="202124"/>
                </a:solidFill>
                <a:latin typeface="Arial"/>
              </a:rPr>
              <a:t>/init, plan mode, fix a failing test, write a skill the model invokes itself.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155CC"/>
                </a:solidFill>
                <a:latin typeface="Arial"/>
              </a:rPr>
              <a:t>Budget.  </a:t>
            </a:r>
            <a:r>
              <a:rPr sz="1500" b="0">
                <a:solidFill>
                  <a:srgbClr val="202124"/>
                </a:solidFill>
                <a:latin typeface="Arial"/>
              </a:rPr>
              <a:t>The whole notebook runs on haiku for well under $1.</a:t>
            </a:r>
          </a:p>
          <a:p>
            <a:pPr>
              <a:lnSpc>
                <a:spcPct val="105000"/>
              </a:lnSpc>
              <a:spcBef>
                <a:spcPts val="300"/>
              </a:spcBef>
              <a:spcAft>
                <a:spcPts val="900"/>
              </a:spcAft>
            </a:pPr>
            <a:r>
              <a:rPr sz="1250" i="1">
                <a:solidFill>
                  <a:srgbClr val="595959"/>
                </a:solidFill>
                <a:latin typeface="Arial"/>
              </a:rPr>
              <a:t>Docs: code.claude.com/docs   ·   Agent SDK: docs.claude.com/en/api/agent-sdk/overview   ·   Repo: github.com/…/uchicago-workshops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1024128"/>
            <a:ext cx="1280160" cy="38100"/>
          </a:xfrm>
          <a:prstGeom prst="rect">
            <a:avLst/>
          </a:prstGeom>
          <a:solidFill>
            <a:srgbClr val="0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4736592"/>
            <a:ext cx="502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