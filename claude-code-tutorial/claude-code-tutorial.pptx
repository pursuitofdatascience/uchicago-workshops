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is a lecture-plus-notebook workshop. Goal: leave able to install Claude Code on Midway, use it interactively for daily research work, keep it safe on a shared cluster, and script it into a Slurm batch. CPU + internet only —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Autocomplete finishes your line; a chat assistant answers when you paste code in; an agent does the work — reads files, runs commands, edits, checks — while you supervise.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 room: this is not just for software engineers. A call costs about a cent on Haiku, and everything it does is logged and undoable. v2, generally available, weekly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Gather context, decide the next step, act (one tool call), check the result — repeat until done. The 'act' step always clears a permission check first; we unpack permissions in Part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mental model. 'harness' = the claude program on your machine — what this workshop configures. The model is a large language model (Claude) reached over the internet; it's swappable. Don't memorize the inner boxes — we take each one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'context' = everything it currently has in view. Contrast with search engines that build an index first: here there's nothing to embed and nothing to go stale — it reads the live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example to say aloud: point it at a folder of CSVs and ask it to standardize column names, or hand it a failing analysis script and ask why. Auditable and isolable — but because the model samples, runs are not bit-for-bit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on Midway3, three steps: (1) grab a node with internet — sinteractive/sbatch on the test or caslake partition (login nodes also reach the internet; many other compute nodes do NOT); (2) activate the shared env: source /software/python-miniforge-25.3.0-el8-x86_64/bin/activate AI ; then export CLAUDE_CONFIG_DIR=$HOME/.claude and DISABLE_AUTOUPDATER=1; (3) claude --version should print 2.x. Run chmod 700 ~/.claude — your login token lives there and cluster homes can be group-readable. 'claude setup-token' does the paste-URL OAuth flow once (works over SSH).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pauses and asks before doing anything risky — we show exactly how in 'Who's in control' (Part D). Interactive can't run headless, so the notebook's REPL lab is a guided take-home.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trace top to bottom: prompt, then Read/Grep/Edit/Bash tool calls with results, then a plain-English summary with cost and turn count. The approve/deny prompts and Shift+Tab modes shown here are explained in Part D — flag that now so nobody feels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Rough prices per million tokens (in/out): Opus ~$5/$25, Sonnet ~$3/$15, Haiku ~$1/$5. Aliases (opus/sonnet/haiku) resolve per provider — pin a full model id in shared configs. The notebook and run.sh use Haiku so a full run is well under $1.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'#' jots a quick project memory, '@' mentions a file. Sessions are saved to disk — '--resume' continues one and '--fork-session' branches it; Esc Esc rewind is a local undo of Claude's edits (not a replacement for git). /context shows what's loaded; /usage shows plan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roadmap for Parts C and D. One box we won't give its own slide: subagents — a scoped helper (say, a reviewer that can only read) that keeps your main session focused. The §-numbers are hands-on-notebook sections, not slide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There's a hierarchy: org policy, then your ~/.claude, then the project file (check it into version control so the whole lab shares it). Keep it under ~200 lines. For guarantees you can't rely on advice — that's what permissions and hooks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Lives in .claude/commands/&lt;name&gt;.md. Check it into git (version control) and the whole lab shares it. Frontmatter can scope which tools it may use; $ARGUMENTS, !commands and @files expand inline. This is the prompt YOU fire — contrast with a skill,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skill is a folder (SKILL.md + optional scripts). It loads in layers: the one-line description is always in view (cheap); the body loads only when your request matches; extra files load only if needed. The model-invoked counterpart to a slash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Ask-first for everyday work; Plan to explore safely; Auto-edit for tight loops but only in a clean git repo (git = version control that lets you undo). Bypass = bypassPermissions: never on a shared filesystem — a bad rm or chmod there hits your whole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choose: allow once, allow always for this kind of command, or say no and redirect it. This is the everyday day-1 experience of interactive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allow / ask / deny lists, e.g. Edit(analysis/**), Read(~/.ssh/**), Bash(rm -rf*). Precedence: deny beats everything, then a hook can veto, then an allow/mode lets it run, else it's denied (asks, if interactive). You set these; the model cannot loosen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hook is a shell command the harness runs on a matching event (e.g. before every Write). Exit 0 allows the action; exit 2 blocks it and hands the reason back to the model. CLAUDE.md is advice the model can forget; a hook is deterministic policy. Admins can ship a locked settings.json that users can't loosen — right for a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`claude -p "…" --output-format json` runs a single non-interactive turn and returns an object you can parse from any language: result (the text), total_cost_usd, session_id (to resume/audit), num_turns, is_error, permission_denials. This is Door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`--json-schema` hands the model a schema and returns validated fields, with retries on mismatch. Ideal for extraction across many files — e.g. pull organism, sample size, and a significance flag out of hundreds of paper abstracts into a clean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total_cost_usd is a client-side estimate — reconcile grant spend against the Console. The notebook keeps a running ledger as it goes. /usage shows plan limits in the REPL.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Capstone in the notebook. The permission mode — not the model — is what lets it edit autonomously. Ground truth is the exit code WE check, never the model's claim. TDD is the strongest pattern: a failing test gives an unattended run a clear place to stop. This one call is the unit that the next slide fans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shipped run.sh does exactly this and preflights a cheap Haiku call first, so a node with no internet fails in seconds instead of after a long job. Watch rate limits: dozens of simultaneous calls from one org key will throttle — stagger them or use per-user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a Slurm submitter, a dataset catalog, or a SQL warehouse as an MCP tool and Claude calls it like any built-in (named mcp__&lt;server&gt;__&lt;tool&gt;). Deny-by-default until you allow it. The SDK can even define tools in-process, closing over live Python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Door 1: the CLI as a subprocess — any language, shell/Slurm glue. Door 2: the Python Agent SDK (pip install claude-agent-sdk) — same engine, typed messages, in-process tools, policy as Python. Door 3: automation — GitHub Actions (@claude on a PR), streamed stdin, the TypeScript SDK. The notebook's Part II goes deep on the Agent SDK.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key leak: the danger is a plaintext ANTHROPIC_API_KEY in your shell — sbatch --export=ALL would copy it into the job env, readable via scontrol. The shipped run.sh uses --export=ALL safely BECAUSE it relies on the CLAUDE_CONFIG_DIR OAuth token, not a raw key. Also chmod 700 ~/.claude on shared homes.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Workspace trust: .mcp.json, hooks, and skill grants take effect only after you accept them. Anything the agent ingests is a potential instruction channel — treat untrusted input with care.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API-submitted data is not used for training by default, but check your plan's retention and residency terms; route through Bedrock/Vertex for a BAA if you need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Long sessions degrade as context fills — /clear between tasks and keep prompts scoped. The honest rule: if you can't verify the output, don't ship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07482"/>
                </a:solidFill>
                <a:latin typeface="Arial"/>
              </a:rPr>
              <a:t>RCC WORKSHOP · UNIVERSITY OF CHICAGO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8138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0B2E6B"/>
                </a:solidFill>
                <a:latin typeface="Arial"/>
              </a:rPr>
              <a:t>Claude Code on Midway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06324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Arial"/>
              </a:rPr>
              <a:t>An AI coding agent for your everyday research work — in the terminal, on the cluster.</a:t>
            </a:r>
          </a:p>
          <a:p>
            <a:pPr>
              <a:spcBef>
                <a:spcPts val="1400"/>
              </a:spcBef>
            </a:pPr>
            <a:r>
              <a:rPr sz="1300" b="0" i="0">
                <a:solidFill>
                  <a:srgbClr val="595959"/>
                </a:solidFill>
                <a:latin typeface="Arial"/>
              </a:rPr>
              <a:t>Youzhi Yu · Research Computing Center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880360"/>
            <a:ext cx="1463040" cy="4572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What you'll leave knowing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What it is,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and why it helps with research.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How to install it and use it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day-to-day, on Midway.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How to make it yours — and keep it safe —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on a shared cluster.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How to turn one command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into a batch job over thousands of inputs.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1155CC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What is Claude Code?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And why you'd put an AI agent in your terminal.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From autocomplete to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jump that matters is the last one.</a:t>
            </a: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01952"/>
            <a:ext cx="8503920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What is Claude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You don't need to be a programmer — if you use a terminal, you can use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138160" cy="29535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An agent, not autocomplete.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It reads your files, runs commands, and edits code — in a loop, until the job is done.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It lives in your terminal.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The same place you already run Python and your cluster jobs.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One tool, many ways to use it.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Terminal, VS Code, GitHub, or run from Python.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How it works: a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Everything later in this talk is just a setting on this loop.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903" y="1728216"/>
            <a:ext cx="4460193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Two parts: the program and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The program (the diagrams call it the </a:t>
            </a:r>
            <a:r>
              <a:rPr sz="1250" b="0" i="1">
                <a:solidFill>
                  <a:srgbClr val="595959"/>
                </a:solidFill>
                <a:latin typeface="Arial"/>
              </a:rPr>
              <a:t>harness</a:t>
            </a:r>
            <a:r>
              <a:rPr sz="1250" b="0" i="0">
                <a:solidFill>
                  <a:srgbClr val="595959"/>
                </a:solidFill>
                <a:latin typeface="Arial"/>
              </a:rPr>
              <a:t>) is yours to shape; the model just answers.</a:t>
            </a:r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46" y="1728216"/>
            <a:ext cx="7675906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How it finds its way around your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It looks like you do.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It searches and opens your real files — nothing to index or set up first.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Your layout is its context.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A tidy project folder helps it find the right things.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It checks its work.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A test, an exit code, or a linter (which flags code mistakes) confirms the change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Why researchers find it useful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Not just code.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Data wrangling, log triage, plotting, a LaTeX draft, or your lit-review notes.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It scripts.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One command, machine-readable output — drop it into a pipeline or a Slurm job.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Everything's on the record.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Every action is logged, permission-checked, and priced.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1155CC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Getting started on Midway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Install once, log in once — then you're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Install and log in — once, no admin rights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Into your home dir; log in once — then grab an internet node (test or caslake).</a:t>
            </a:r>
          </a:p>
        </p:txBody>
      </p:sp>
      <p:pic>
        <p:nvPicPr>
          <p:cNvPr id="5" name="Picture 4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74" y="1728216"/>
            <a:ext cx="7362851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Two ways to use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3840480" cy="33192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1155CC"/>
                </a:solidFill>
                <a:latin typeface="Arial"/>
              </a:rPr>
              <a:t>Interactive — your daily driver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02124"/>
                </a:solidFill>
                <a:latin typeface="Arial"/>
              </a:rPr>
              <a:t>Run </a:t>
            </a:r>
            <a:r>
              <a:rPr sz="1350" b="0" i="0">
                <a:solidFill>
                  <a:srgbClr val="007482"/>
                </a:solidFill>
                <a:latin typeface="Arial"/>
              </a:rPr>
              <a:t>claude</a:t>
            </a:r>
            <a:r>
              <a:rPr sz="1350" b="0" i="0">
                <a:solidFill>
                  <a:srgbClr val="202124"/>
                </a:solidFill>
                <a:latin typeface="Arial"/>
              </a:rPr>
              <a:t> in a folder and just talk to it.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007482"/>
                </a:solidFill>
                <a:latin typeface="Arial"/>
              </a:rPr>
              <a:t>@file</a:t>
            </a:r>
            <a:r>
              <a:rPr sz="1350" b="0" i="0">
                <a:solidFill>
                  <a:srgbClr val="202124"/>
                </a:solidFill>
                <a:latin typeface="Arial"/>
              </a:rPr>
              <a:t> points at a file, </a:t>
            </a:r>
            <a:r>
              <a:rPr sz="1350" b="0" i="0">
                <a:solidFill>
                  <a:srgbClr val="007482"/>
                </a:solidFill>
                <a:latin typeface="Arial"/>
              </a:rPr>
              <a:t>!</a:t>
            </a:r>
            <a:r>
              <a:rPr sz="1350" b="0" i="0">
                <a:solidFill>
                  <a:srgbClr val="202124"/>
                </a:solidFill>
                <a:latin typeface="Arial"/>
              </a:rPr>
              <a:t> runs a shell command, </a:t>
            </a:r>
            <a:r>
              <a:rPr sz="1350" b="0" i="0">
                <a:solidFill>
                  <a:srgbClr val="007482"/>
                </a:solidFill>
                <a:latin typeface="Arial"/>
              </a:rPr>
              <a:t>/</a:t>
            </a:r>
            <a:r>
              <a:rPr sz="1350" b="0" i="0">
                <a:solidFill>
                  <a:srgbClr val="202124"/>
                </a:solidFill>
                <a:latin typeface="Arial"/>
              </a:rPr>
              <a:t> fires a saved command.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02124"/>
                </a:solidFill>
                <a:latin typeface="Arial"/>
              </a:rPr>
              <a:t>Where you'll spend most of your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600" y="1417320"/>
            <a:ext cx="3840480" cy="33192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07482"/>
                </a:solidFill>
                <a:latin typeface="Arial"/>
              </a:rPr>
              <a:t>Headless — </a:t>
            </a:r>
            <a:r>
              <a:rPr sz="1500" b="1" i="0">
                <a:solidFill>
                  <a:srgbClr val="007482"/>
                </a:solidFill>
                <a:latin typeface="Arial"/>
              </a:rPr>
              <a:t>claude -p "…"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02124"/>
                </a:solidFill>
                <a:latin typeface="Arial"/>
              </a:rPr>
              <a:t>One command in, answer out.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02124"/>
                </a:solidFill>
                <a:latin typeface="Arial"/>
              </a:rPr>
              <a:t>For scripts, batch jobs, and pipelines.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 b="0" i="0">
                <a:solidFill>
                  <a:srgbClr val="202124"/>
                </a:solidFill>
                <a:latin typeface="Arial"/>
              </a:rPr>
              <a:t>The second half of this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What a session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It reads, edits, runs the tests, and reports the cost — and you watch every step.</a:t>
            </a:r>
          </a:p>
        </p:txBody>
      </p:sp>
      <p:pic>
        <p:nvPicPr>
          <p:cNvPr id="5" name="Picture 4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147" y="1728216"/>
            <a:ext cx="4285705" cy="31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Pick a model for the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Switch anytime with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/model</a:t>
            </a:r>
            <a:r>
              <a:rPr sz="1250" b="0" i="0">
                <a:solidFill>
                  <a:srgbClr val="595959"/>
                </a:solidFill>
                <a:latin typeface="Arial"/>
              </a:rPr>
              <a:t>. Bigger = smarter but pricier; smaller = fast and cheap for bulk.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8138158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0695"/>
                <a:gridCol w="4590756"/>
                <a:gridCol w="208670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73152" marT="36576" marB="36576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Best for</a:t>
                      </a:r>
                    </a:p>
                  </a:txBody>
                  <a:tcPr marL="109728" marR="73152" marT="36576" marB="36576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9728" marR="73152" marT="36576" marB="36576" anchor="ctr">
                    <a:solidFill>
                      <a:srgbClr val="00748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02124"/>
                          </a:solidFill>
                          <a:latin typeface="Arial"/>
                        </a:rPr>
                        <a:t>Opus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02124"/>
                          </a:solidFill>
                          <a:latin typeface="Arial"/>
                        </a:rPr>
                        <a:t>The hardest reasoning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02124"/>
                          </a:solidFill>
                          <a:latin typeface="Arial"/>
                        </a:rPr>
                        <a:t>$$$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02124"/>
                          </a:solidFill>
                          <a:latin typeface="Arial"/>
                        </a:rPr>
                        <a:t>Sonnet</a:t>
                      </a:r>
                    </a:p>
                  </a:txBody>
                  <a:tcPr marL="109728" marR="73152" marT="36576" marB="36576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02124"/>
                          </a:solidFill>
                          <a:latin typeface="Arial"/>
                        </a:rPr>
                        <a:t>Everyday, balanced work</a:t>
                      </a:r>
                    </a:p>
                  </a:txBody>
                  <a:tcPr marL="109728" marR="73152" marT="36576" marB="36576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02124"/>
                          </a:solidFill>
                          <a:latin typeface="Arial"/>
                        </a:rPr>
                        <a:t>$$</a:t>
                      </a:r>
                    </a:p>
                  </a:txBody>
                  <a:tcPr marL="109728" marR="73152" marT="36576" marB="36576" anchor="ctr">
                    <a:solidFill>
                      <a:srgbClr val="EEF2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202124"/>
                          </a:solidFill>
                          <a:latin typeface="Arial"/>
                        </a:rPr>
                        <a:t>Haiku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02124"/>
                          </a:solidFill>
                          <a:latin typeface="Arial"/>
                        </a:rPr>
                        <a:t>Fast, cheap — great for batch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02124"/>
                          </a:solidFill>
                          <a:latin typeface="Arial"/>
                        </a:rPr>
                        <a:t>$   (about 1¢ a call)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Handy moves in an interactive session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Shift+Tab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changes how much it can do on its own — from ask-first to hands-off (see “Who's in control”).</a:t>
            </a:r>
          </a:p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Esc  /  Esc Esc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stops it, or rewinds to before its last edit.</a:t>
            </a:r>
          </a:p>
          <a:p>
            <a:pPr>
              <a:lnSpc>
                <a:spcPct val="106000"/>
              </a:lnSpc>
              <a:spcAft>
                <a:spcPts val="15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`/cost`  ·  `/clear`  ·  `/help`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check spend, start a fresh context, list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1155CC"/>
                </a:solidFill>
                <a:latin typeface="Arial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Make it yours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Teach it your project, save your prompts, add your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Everything around the agent is yours to shape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 map of what you can shape — the small §-numbers point to the notebook, not this deck.</a:t>
            </a:r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620" y="1728216"/>
            <a:ext cx="6076759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Project memory: CLAUDE.md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A plain Markdown file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it reads at the start of every session in that folder.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Put your project's facts in it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“tests live here,” “use conda env AI,” your house style.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`/init` writes a starter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keep it short — it's advice, not a hard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Save a prompt you reuse: slash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 prompt you save once and fire by name.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1728216"/>
            <a:ext cx="7724563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Skills: prompts the model runs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You don't call it — the model reaches for it when your request fits.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031" y="1728216"/>
            <a:ext cx="7023936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1155CC"/>
                </a:solidFill>
                <a:latin typeface="Arial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Who's in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The part that makes it safe on a shared cluster.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You set how much it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Shift+Tab cycles these. You set the mode — the model can't.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8138159" cy="20482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95378"/>
                <a:gridCol w="5842781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Mode</a:t>
                      </a:r>
                    </a:p>
                  </a:txBody>
                  <a:tcPr marL="109728" marR="73152" marT="36576" marB="36576" anchor="ctr">
                    <a:solidFill>
                      <a:srgbClr val="0074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109728" marR="73152" marT="36576" marB="36576" anchor="ctr">
                    <a:solidFill>
                      <a:srgbClr val="00748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02124"/>
                          </a:solidFill>
                          <a:latin typeface="Arial"/>
                        </a:rPr>
                        <a:t>Ask first  (default)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02124"/>
                          </a:solidFill>
                          <a:latin typeface="Arial"/>
                        </a:rPr>
                        <a:t>Asks before its first edit or command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02124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109728" marR="73152" marT="36576" marB="36576" anchor="ctr">
                    <a:solidFill>
                      <a:srgbClr val="EE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02124"/>
                          </a:solidFill>
                          <a:latin typeface="Arial"/>
                        </a:rPr>
                        <a:t>Read-only — it proposes, never changes anything</a:t>
                      </a:r>
                    </a:p>
                  </a:txBody>
                  <a:tcPr marL="109728" marR="73152" marT="36576" marB="36576" anchor="ctr">
                    <a:solidFill>
                      <a:srgbClr val="EEF2F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02124"/>
                          </a:solidFill>
                          <a:latin typeface="Arial"/>
                        </a:rPr>
                        <a:t>Auto-edit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02124"/>
                          </a:solidFill>
                          <a:latin typeface="Arial"/>
                        </a:rPr>
                        <a:t>Approves its own edits inside this folder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18795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95959"/>
                </a:solidFill>
                <a:latin typeface="Arial"/>
              </a:rPr>
              <a:t>A fourth mode, Bypass, skips all checks — only in a throwaway container or VM, never on shared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What “asking first”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Before anything risky, it stops and asks — it can't approve itself.</a:t>
            </a:r>
          </a:p>
        </p:txBody>
      </p:sp>
      <p:pic>
        <p:nvPicPr>
          <p:cNvPr id="5" name="Picture 4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19" y="1728216"/>
            <a:ext cx="5494561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Rules in a settings file — and who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Listed in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.claude/settings.json</a:t>
            </a:r>
            <a:r>
              <a:rPr sz="1250" b="0" i="0">
                <a:solidFill>
                  <a:srgbClr val="595959"/>
                </a:solidFill>
                <a:latin typeface="Arial"/>
              </a:rPr>
              <a:t>; a deny always wins. (A hook can also veto — next slide.)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478" y="1728216"/>
            <a:ext cx="5711042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Hooks: a rule it can't forget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 check the program runs itself, every time — the model can't skip it.</a:t>
            </a:r>
          </a:p>
        </p:txBody>
      </p:sp>
      <p:pic>
        <p:nvPicPr>
          <p:cNvPr id="5" name="Picture 4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50" y="1728216"/>
            <a:ext cx="7033499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1155CC"/>
                </a:solidFill>
                <a:latin typeface="Arial"/>
              </a:rPr>
              <a:t>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Scaling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From one command to a batch of thousands.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One command, a structured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One turn in, one machine-readable object out — the building block of every script.</a:t>
            </a:r>
          </a:p>
        </p:txBody>
      </p:sp>
      <p:pic>
        <p:nvPicPr>
          <p:cNvPr id="5" name="Picture 4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36242"/>
            <a:ext cx="8503920" cy="2720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Get back exactly the fields you want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Ask for specific fields and types; get validated data back, not prose to parse.</a:t>
            </a: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1728216"/>
            <a:ext cx="7724563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Every call has a price tag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The cost is in the output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dollars, tokens (the units it's billed in), turns (back-and-forth steps), and whether it errored.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Cap it up front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007482"/>
                </a:solidFill>
                <a:latin typeface="Arial"/>
              </a:rPr>
              <a:t>--max-budget-usd</a:t>
            </a:r>
            <a:r>
              <a:rPr sz="1550" b="0" i="0">
                <a:solidFill>
                  <a:srgbClr val="202124"/>
                </a:solidFill>
                <a:latin typeface="Arial"/>
              </a:rPr>
              <a:t> and </a:t>
            </a:r>
            <a:r>
              <a:rPr sz="1550" b="0" i="0">
                <a:solidFill>
                  <a:srgbClr val="007482"/>
                </a:solidFill>
                <a:latin typeface="Arial"/>
              </a:rPr>
              <a:t>--max-turns</a:t>
            </a:r>
            <a:r>
              <a:rPr sz="1550" b="0" i="0">
                <a:solidFill>
                  <a:srgbClr val="202124"/>
                </a:solidFill>
                <a:latin typeface="Arial"/>
              </a:rPr>
              <a:t> stop a runaway.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In a session, `/cost`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shows your spend at a glance.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Watch it fix a failing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It edits and re-runs the test; you re-check the exit code yourself (0 = passed).</a:t>
            </a: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940052"/>
            <a:ext cx="8503920" cy="2712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From one call to a Slurm batch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One call is the unit of a batch job — loop it, sum the cost, submit it.</a:t>
            </a:r>
          </a:p>
        </p:txBody>
      </p:sp>
      <p:pic>
        <p:nvPicPr>
          <p:cNvPr id="5" name="Picture 4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97" y="1728216"/>
            <a:ext cx="8037004" cy="31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Give it your own cluster tools (MCP)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MCP (Model Context Protocol) lets Claude call tools you write.</a:t>
            </a:r>
          </a:p>
        </p:txBody>
      </p:sp>
      <p:pic>
        <p:nvPicPr>
          <p:cNvPr id="5" name="Picture 4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950" y="1728216"/>
            <a:ext cx="5976098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Three ways to script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8138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95959"/>
                </a:solidFill>
                <a:latin typeface="Arial"/>
              </a:rPr>
              <a:t>Drive it from your own code: the </a:t>
            </a:r>
            <a:r>
              <a:rPr sz="1250" b="0" i="0">
                <a:solidFill>
                  <a:srgbClr val="007482"/>
                </a:solidFill>
                <a:latin typeface="Arial"/>
              </a:rPr>
              <a:t>claude</a:t>
            </a:r>
            <a:r>
              <a:rPr sz="1250" b="0" i="0">
                <a:solidFill>
                  <a:srgbClr val="595959"/>
                </a:solidFill>
                <a:latin typeface="Arial"/>
              </a:rPr>
              <a:t> command, a Python library, or an automated pipeline.</a:t>
            </a:r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993" y="1728216"/>
            <a:ext cx="7848012" cy="3136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15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1155CC"/>
                </a:solidFill>
                <a:latin typeface="Arial"/>
              </a:rP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Safety, trust &amp; 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Non-negotiable on shared research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Safe on a shared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Use the permission ladder.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Plan to explore; auto-edit only in a clean git repo; never bypass on shared files.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It can read what you can.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Start it in your project folder, and block sensitive folders (e.g. </a:t>
            </a:r>
            <a:r>
              <a:rPr sz="1550" b="0" i="0">
                <a:solidFill>
                  <a:srgbClr val="007482"/>
                </a:solidFill>
                <a:latin typeface="Arial"/>
              </a:rPr>
              <a:t>~/.ssh</a:t>
            </a:r>
            <a:r>
              <a:rPr sz="1550" b="0" i="0">
                <a:solidFill>
                  <a:srgbClr val="202124"/>
                </a:solidFill>
                <a:latin typeface="Arial"/>
              </a:rPr>
              <a:t>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Keep secrets out of your jobs.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Log in with the token, not a raw API key, so nothing secret rides into a batch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Trust is the real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Prompt injection is real.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A web page, a pull request (a code-review request), or a tool's result can carry hidden instructions.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A skill is software.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Installing one runs its code as you — only accept tools and hooks you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Your data and your obligations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Don't send restricted data.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IRB, PHI, or export-controlled data needs institutional approval first.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Disclose AI help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per your venue's policy; keep the transcript as a record.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Generated code is still yours.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Review and license it like any other dependency.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When not to reach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It can be confidently wrong.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Invented APIs, plausible-but-broken fixes — verify everything.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Not reproducible bit-for-bit.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The model varies from run to run.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550" b="1" i="0">
                <a:solidFill>
                  <a:srgbClr val="1155CC"/>
                </a:solidFill>
                <a:latin typeface="Arial"/>
              </a:rPr>
              <a:t>Skip it for one-liners</a:t>
            </a:r>
            <a:r>
              <a:rPr sz="155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550" b="0" i="0">
                <a:solidFill>
                  <a:srgbClr val="202124"/>
                </a:solidFill>
                <a:latin typeface="Arial"/>
              </a:rPr>
              <a:t>or for work you genuinely can't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8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You shape the program; the model is swappable.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Configure the harness; the model just answers.</a:t>
            </a:r>
          </a:p>
          <a:p>
            <a:pPr>
              <a:lnSpc>
                <a:spcPct val="106000"/>
              </a:lnSpc>
              <a:spcAft>
                <a:spcPts val="18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It's a loop you govern.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Advice (CLAUDE.md, skills) guides it; rules (permissions, hooks) bind it.</a:t>
            </a:r>
          </a:p>
          <a:p>
            <a:pPr>
              <a:lnSpc>
                <a:spcPct val="106000"/>
              </a:lnSpc>
              <a:spcAft>
                <a:spcPts val="18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Always give it a check.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A test or an exit code — never ship what you haven't verified.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202124"/>
                </a:solidFill>
                <a:latin typeface="Arial"/>
              </a:rPr>
              <a:t>Next: the hands-on notebook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1234440" cy="41148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3319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Run it for real.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Your first call, memory, commands, permissions, and a live bug-fix.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Then scale up.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The Python Agent SDK, and a Slurm batch.</a:t>
            </a:r>
          </a:p>
          <a:p>
            <a:pPr>
              <a:lnSpc>
                <a:spcPct val="106000"/>
              </a:lnSpc>
              <a:spcAft>
                <a:spcPts val="1600"/>
              </a:spcAft>
            </a:pPr>
            <a:r>
              <a:rPr sz="1600" b="1" i="0">
                <a:solidFill>
                  <a:srgbClr val="1155CC"/>
                </a:solidFill>
                <a:latin typeface="Arial"/>
              </a:rPr>
              <a:t>Budget.</a:t>
            </a:r>
            <a:r>
              <a:rPr sz="1600" b="0" i="0">
                <a:solidFill>
                  <a:srgbClr val="595959"/>
                </a:solidFill>
                <a:latin typeface="Arial"/>
              </a:rPr>
              <a:t>  —  </a:t>
            </a:r>
            <a:r>
              <a:rPr sz="1600" b="0" i="0">
                <a:solidFill>
                  <a:srgbClr val="202124"/>
                </a:solidFill>
                <a:latin typeface="Arial"/>
              </a:rPr>
              <a:t>The whole notebook runs on Haiku for under $1.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95959"/>
                </a:solidFill>
                <a:latin typeface="Arial"/>
              </a:rPr>
              <a:t>Docs: code.claude.com/docs      ·      Repo: github.com/…/uchicago-workshops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00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60020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007482"/>
                </a:solidFill>
                <a:latin typeface="Arial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1417320"/>
            <a:ext cx="63093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202124"/>
                </a:solidFill>
                <a:latin typeface="Arial"/>
              </a:rPr>
              <a:t>Thank you —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9152" y="2880360"/>
            <a:ext cx="6309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Arial"/>
              </a:rPr>
              <a:t>RCC support: help desk, user guide, and office hours — rcc.uchicago.edu.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3659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0A6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