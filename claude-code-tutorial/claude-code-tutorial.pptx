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300" b="1" i="0">
                <a:solidFill>
                  <a:srgbClr val="0B2E6B"/>
                </a:solidFill>
                <a:latin typeface="Arial"/>
              </a:rPr>
              <a:t>Claude Code on the Cluster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500" b="0" i="0">
                <a:solidFill>
                  <a:srgbClr val="595959"/>
                </a:solidFill>
                <a:latin typeface="Arial"/>
              </a:rPr>
              <a:t>Operating an AI coding agent as research infrastructure — headless, governed, cost-aware</a:t>
            </a:r>
          </a:p>
          <a:p/>
          <a:p>
            <a:r>
              <a:rPr sz="1300" b="0" i="0">
                <a:solidFill>
                  <a:srgbClr val="595959"/>
                </a:solidFill>
                <a:latin typeface="Arial"/>
              </a:rPr>
              <a:t>Youzhi Yu · Research Computing Center · University of Chicago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00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7482"/>
                </a:solidFill>
                <a:latin typeface="Arial"/>
              </a:rPr>
              <a:t>RCC WORKSHOP  ·  PART I — CONCEPTS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Why agentic coding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from autocomplete, to chat, to an agent that *acts*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The mental model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the harness vs. the model, and the agentic loop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Driving it headlessly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 -p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structured output, cost accounting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Configuring the agent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memory, slash commands, skills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Governance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permissions, hooks, subagents, sessions *(the crux on shared HPC)*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Extending &amp; scaling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MCP tools, a capstone bug-fix, cluster fan-out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Programmatic use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the three doors and the Agent SDK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Safety, trust &amp; honest limits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then the hands-on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Why an agent in your terminal?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Motivation: what changed, and why it matters for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Three generations of coding assistance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jump that matters is the last one: from *suggesting* code to *taking action* on your behalf.</a:t>
            </a:r>
          </a:p>
        </p:txBody>
      </p:sp>
      <p:pic>
        <p:nvPicPr>
          <p:cNvPr id="5" name="Picture 4" descr="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8229600" cy="26989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is Claude Code?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Anthropic's definition: *“an agentic coding tool that lives in your terminal, understands your codebase, and helps you code faster … all through natural-language commands.”*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It is an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autonomous agent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not an autocomplete or a chatbot: it reads and edits your files and runs your commands — inside a permission system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you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control.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Terminal-native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it lives where power users and clusters already work, and composes with Unix pipes, scripts, and Slurm.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One engine, many surfaces: the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CLI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VS Code / JetBrains extensions, a desktop &amp; web app, GitHub via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@claude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and the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Agent SDK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Reached general availability as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v2.0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(Sep 2025); on a weekly release cadence — by mid-2026 it is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v2.1.x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agentic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Every capability in this workshop is a knob on this loop — what it may read, do, and how you verify it.</a:t>
            </a:r>
          </a:p>
        </p:txBody>
      </p:sp>
      <p:pic>
        <p:nvPicPr>
          <p:cNvPr id="5" name="Picture 4" descr="agentic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45920"/>
            <a:ext cx="5029200" cy="35365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How it “understands” your code: agentic search, not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By default Claude Code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explores the real filesystem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with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grep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glob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and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cat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the same tools you would use.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It deliberately favors this over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vector RAG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(chunk → embed → retrieve): agentic search is *more accurate, easier to maintain, and transparent* — every step is a command you can see.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Consequence: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no embedding index to build or stale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and your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folder/file structure becomes context engineering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good layout helps the agent.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*Contrast the RAG workshop: there you built retrieval by hand; here the agent retrieves by acting.*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Verifying its work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closes the loop: tests, a build exit code, a linter, a screenshot, or a second model as judge.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Where it sits in the 2025–2026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Terminal agents: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Claude Code, OpenAI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Codex CLI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Google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Gemini CLI / Antigravity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same shape, different models.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AI-native editors: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Cursor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(a VS Code fork) — an IDE, not a composable CLI.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Copilot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inline autocomplete, one file at a time.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Pair-programmers &amp; frameworks: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Aider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(focused file edits); agent frameworks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LangGraph / CrewAI / AutoGen / OpenHands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libraries to *build* agents, vs. a ready agent you *operate*.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Claude Code's stance —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unopinionated &amp; composable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is what makes it usable as *research infrastructure*, not just an editor add-on.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*Benchmarks (SWE-bench, Terminal-Bench) move monthly and depend on the model paired — treat any leaderboard number as point-in-time.*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Why this belongs in research computing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It's scriptable &amp; headless.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 -p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runs one non-interactive turn and prints machine-readable JSON — it drops straight into Slurm jobs, CI, and pipelines.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Every action is governed and observable.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 call is a structured record with a cost; permissions decide what it may do; hooks enforce policy.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It is not only for code.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Data wrangling, ETL/pipeline glue, log triage, LaTeX/paper drafting, literature triage — anything expressible as *read files → run tools → check results*.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It fits how HPC already works: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version-controlled config, reproducible-*ish* runs, per-job cost accounting, CPU + internet (no GPU needed).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*Honest caveat we return to at the end: auditable and isolable — but, because the model samples, not bit-for-bit reproducible.*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Two things you must keep separate: the harness and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harness vs.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workshop configures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harness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(the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program).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model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a swappable LLM we call over the network.</a:t>
            </a:r>
          </a:p>
        </p:txBody>
      </p:sp>
      <p:pic>
        <p:nvPicPr>
          <p:cNvPr id="5" name="Picture 4" descr="harnes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34373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Choosing a model (mid-2026)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Switch with 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/model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or 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--model</a:t>
            </a:r>
            <a:r>
              <a:rPr sz="1200" b="0" i="0">
                <a:solidFill>
                  <a:srgbClr val="595959"/>
                </a:solidFill>
                <a:latin typeface="Arial"/>
              </a:rPr>
              <a:t>. Aliases (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opus</a:t>
            </a:r>
            <a:r>
              <a:rPr sz="1200" b="0" i="0">
                <a:solidFill>
                  <a:srgbClr val="595959"/>
                </a:solidFill>
                <a:latin typeface="Arial"/>
              </a:rPr>
              <a:t>/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sonnet</a:t>
            </a:r>
            <a:r>
              <a:rPr sz="1200" b="0" i="0">
                <a:solidFill>
                  <a:srgbClr val="595959"/>
                </a:solidFill>
                <a:latin typeface="Arial"/>
              </a:rPr>
              <a:t>/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haiku</a:t>
            </a:r>
            <a:r>
              <a:rPr sz="1200" b="0" i="0">
                <a:solidFill>
                  <a:srgbClr val="595959"/>
                </a:solidFill>
                <a:latin typeface="Arial"/>
              </a:rPr>
              <a:t>) resolve differently per provider — </a:t>
            </a:r>
            <a:r>
              <a:rPr sz="1200" b="1" i="0">
                <a:solidFill>
                  <a:srgbClr val="1155CC"/>
                </a:solidFill>
                <a:latin typeface="Arial"/>
              </a:rPr>
              <a:t>pin a full id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like </a:t>
            </a:r>
            <a:r>
              <a:rPr sz="1200" b="0" i="0">
                <a:solidFill>
                  <a:srgbClr val="007482"/>
                </a:solidFill>
                <a:latin typeface="Consolas"/>
              </a:rPr>
              <a:t>claude-opus-4-8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in shared lab configs.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" y="1536192"/>
          <a:ext cx="855878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3973721"/>
                <a:gridCol w="1069848"/>
                <a:gridCol w="198686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Price /MTok (in/out)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deepest reasoning; default on Max/API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$5 / $25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Sonnet 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balanced workhorse; default on Pro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$3 / $15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fast &amp; cheap — ideal for batch/fan-out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200K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$1 / $5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Fable 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most capable; opt-in via </a:t>
                      </a: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/model fable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$10 / $50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Anatomy of the harness — the map of this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Everything around the agent is a configuration surface. We take them one at a time; the section number is on each.</a:t>
            </a:r>
          </a:p>
        </p:txBody>
      </p:sp>
      <p:pic>
        <p:nvPicPr>
          <p:cNvPr id="5" name="Picture 4" descr="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00200"/>
            <a:ext cx="7955279" cy="4105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Install &amp; authenticate — once, no sudo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Credentials &amp; transcripts live under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`$CLAUDE_CONFIG_DIR`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(default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~/.claude</a:t>
            </a:r>
            <a:r>
              <a:rPr sz="1250" b="0" i="0">
                <a:solidFill>
                  <a:srgbClr val="595959"/>
                </a:solidFill>
                <a:latin typeface="Arial"/>
              </a:rPr>
              <a:t>) — the key knob for shared filesystems.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2157984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8A929E"/>
                </a:solidFill>
                <a:latin typeface="Consolas"/>
              </a:rPr>
              <a:t># 1. Install the CLI (native installer -&gt; ~/.local/bin, no Node, no root)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8EAED"/>
                </a:solidFill>
                <a:latin typeface="Consolas"/>
              </a:rPr>
              <a:t>curl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9EC5FF"/>
                </a:solidFill>
                <a:latin typeface="Consolas"/>
              </a:rPr>
              <a:t>-fsSL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https://claude.ai/install.sh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|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bash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8A929E"/>
                </a:solidFill>
                <a:latin typeface="Consolas"/>
              </a:rPr>
              <a:t># 2a. Subscription (Pro/Max): mint a long-lived token once (works over SSH)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8EAED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setup-token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        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#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9EC5FF"/>
                </a:solidFill>
                <a:latin typeface="Consolas"/>
              </a:rPr>
              <a:t>-&gt;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export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CLAUDE_CODE_OAUTH_TOKEN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8A929E"/>
                </a:solidFill>
                <a:latin typeface="Consolas"/>
              </a:rPr>
              <a:t># 2b. OR a Console API key (pay-per-token; simplest for headless)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8EAED"/>
                </a:solidFill>
                <a:latin typeface="Consolas"/>
              </a:rPr>
              <a:t>export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ANTHROPIC_API_KEY=sk-ant-...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#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source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from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a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chmod-600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AED"/>
                </a:solidFill>
                <a:latin typeface="Consolas"/>
              </a:rPr>
              <a:t>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365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 i="1">
                <a:solidFill>
                  <a:srgbClr val="9AA0A6"/>
                </a:solidFill>
                <a:latin typeface="Arial"/>
              </a:rPr>
              <a:t>Needs egress to api.anthropic.com. On Midway: login nodes + test/caslake have it; many GPU compute nodes do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Two ways to drive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 i="0">
                <a:solidFill>
                  <a:srgbClr val="1155CC"/>
                </a:solidFill>
                <a:latin typeface="Arial"/>
              </a:rPr>
              <a:t>Interactive REPL  (daily driver)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run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claude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in a repo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155CC"/>
                </a:solidFill>
                <a:latin typeface="Arial"/>
              </a:rPr>
              <a:t>Shift+Tab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cycles permission modes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007482"/>
                </a:solidFill>
                <a:latin typeface="Consolas"/>
              </a:rPr>
              <a:t>@file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mentions,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!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bash,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/commands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155CC"/>
                </a:solidFill>
                <a:latin typeface="Arial"/>
              </a:rPr>
              <a:t>Esc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interrupts; </a:t>
            </a:r>
            <a:r>
              <a:rPr sz="1300" b="1" i="0">
                <a:solidFill>
                  <a:srgbClr val="1155CC"/>
                </a:solidFill>
                <a:latin typeface="Arial"/>
              </a:rPr>
              <a:t>Esc Esc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rewinds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can't run headless → the take-home lab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 i="0">
                <a:solidFill>
                  <a:srgbClr val="007482"/>
                </a:solidFill>
                <a:latin typeface="Arial"/>
              </a:rPr>
              <a:t>Headless  `claude -p`  (this deck)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one non-interactive turn, then exit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machine-readable </a:t>
            </a:r>
            <a:r>
              <a:rPr sz="1300" b="1" i="0">
                <a:solidFill>
                  <a:srgbClr val="1155CC"/>
                </a:solidFill>
                <a:latin typeface="Arial"/>
              </a:rPr>
              <a:t>JSON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output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scriptable into Slurm / CI / pipelines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the unit of a batch job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the Agent SDK drives all of this from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Driving the agent headlessly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A call is a structured, costed, auditable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Your first headless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claude -p "…" --output-format json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runs one turn and returns an object — the foundation of every pipeline.</a:t>
            </a:r>
          </a:p>
        </p:txBody>
      </p:sp>
      <p:pic>
        <p:nvPicPr>
          <p:cNvPr id="5" name="Picture 4" descr="headless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26910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Structured output on tap — --json-schema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Hand the model a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JSON Schema</a:t>
            </a:r>
            <a:r>
              <a:rPr sz="1250" b="0" i="0">
                <a:solidFill>
                  <a:srgbClr val="595959"/>
                </a:solidFill>
                <a:latin typeface="Arial"/>
              </a:rPr>
              <a:t>; validated data comes back in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structured_output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— no regex parsing.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431036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9EC5FF"/>
                </a:solidFill>
                <a:latin typeface="Consolas"/>
              </a:rPr>
              <a:t>-p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F2B66D"/>
                </a:solidFill>
                <a:latin typeface="Consolas"/>
              </a:rPr>
              <a:t>"Extract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organism,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sample_size,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significant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from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this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F2B66D"/>
                </a:solidFill>
                <a:latin typeface="Consolas"/>
              </a:rPr>
              <a:t>abstract."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\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/>
            </a:r>
            <a:r>
              <a:rPr sz="1150" b="0" i="0">
                <a:solidFill>
                  <a:srgbClr val="E8EAED"/>
                </a:solidFill>
                <a:latin typeface="Consolas"/>
              </a:rPr>
              <a:t>  </a:t>
            </a:r>
            <a:r>
              <a:rPr sz="1150" b="0" i="0">
                <a:solidFill>
                  <a:srgbClr val="9EC5FF"/>
                </a:solidFill>
                <a:latin typeface="Consolas"/>
              </a:rPr>
              <a:t>--output-format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json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\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/>
            </a:r>
            <a:r>
              <a:rPr sz="1150" b="0" i="0">
                <a:solidFill>
                  <a:srgbClr val="E8EAED"/>
                </a:solidFill>
                <a:latin typeface="Consolas"/>
              </a:rPr>
              <a:t>  </a:t>
            </a:r>
            <a:r>
              <a:rPr sz="1150" b="0" i="0">
                <a:solidFill>
                  <a:srgbClr val="9EC5FF"/>
                </a:solidFill>
                <a:latin typeface="Consolas"/>
              </a:rPr>
              <a:t>--json-schema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F2B66D"/>
                </a:solidFill>
                <a:latin typeface="Consolas"/>
              </a:rPr>
              <a:t>'{"type":"object","properties":{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/>
            </a:r>
            <a:r>
              <a:rPr sz="1150" b="0" i="0">
                <a:solidFill>
                  <a:srgbClr val="E8EAED"/>
                </a:solidFill>
                <a:latin typeface="Consolas"/>
              </a:rPr>
              <a:t>     </a:t>
            </a:r>
            <a:r>
              <a:rPr sz="1150" b="0" i="0">
                <a:solidFill>
                  <a:srgbClr val="F2B66D"/>
                </a:solidFill>
                <a:latin typeface="Consolas"/>
              </a:rPr>
              <a:t>"organism":{"type":"string"},"sample_size":{"type":"integer"},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/>
            </a:r>
            <a:r>
              <a:rPr sz="1150" b="0" i="0">
                <a:solidFill>
                  <a:srgbClr val="E8EAED"/>
                </a:solidFill>
                <a:latin typeface="Consolas"/>
              </a:rPr>
              <a:t>     </a:t>
            </a:r>
            <a:r>
              <a:rPr sz="1150" b="0" i="0">
                <a:solidFill>
                  <a:srgbClr val="F2B66D"/>
                </a:solidFill>
                <a:latin typeface="Consolas"/>
              </a:rPr>
              <a:t>"significant":{"type":"boolean"}},"required":["organism"]}'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314700"/>
            <a:ext cx="8549640" cy="13944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Turns free text into rows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safe to feed the next pipeline stage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— extraction, classification, table-building.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Validation is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post-hoc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(checked after the run, with retries), not constrained decoding.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Cost &amp; observability — know the price of every call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Every JSON result carries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`total_cost_usd`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`num_turns`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`usage`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(tokens),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`session_id`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`is_error`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and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`permission_denials`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Sum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total_cost_usd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across a batch to get the bill; the notebook keeps a running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ledger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Bound spend up front: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`--max-budget-usd`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and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`--max-turns`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stop a runaway agent (it still returns a costed result with an error subtype).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In the REPL,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`/usage`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shows session cost &amp; plan limits (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/cost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is an alias).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Caveat: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total_cost_usd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is a *client-side estimate* from a bundled price table — reconcile grant spend against the Console Usage &amp; Cost API.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Making it fit your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Memory, saved prompts, and model-invoked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Project memory — CLAUDE.md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A plain Markdown file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auto-loaded at the start of every session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in that directory — the onboarding doc for a new lab member: env-activation line, where data lives, the test command, “never write to raw data.”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A hierarchy, concatenated: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managed/org policy → user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~/.claude/CLAUDE.md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→ project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./CLAUDE.md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(check it into git) →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CLAUDE.local.md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(gitignored).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007482"/>
                </a:solidFill>
                <a:latin typeface="Consolas"/>
              </a:rPr>
              <a:t>/init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generates a starter from your codebase;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/memory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shows everything currently loaded.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Auto memory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(newer): Claude writes its own per-repo notes it reloads next session.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It is advice, not enforcement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— keep it under ~200 lines (bloat makes the model *ignore* it). For guarantees, use a hook (§E).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Reusable prompts — slash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saved, versioned prompt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you fire with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/add-test standard_error</a:t>
            </a:r>
            <a:r>
              <a:rPr sz="1250" b="0" i="0">
                <a:solidFill>
                  <a:srgbClr val="595959"/>
                </a:solidFill>
                <a:latin typeface="Arial"/>
              </a:rPr>
              <a:t>. Frontmatter can scope its tools.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2157984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929E"/>
                </a:solidFill>
                <a:latin typeface="Consolas"/>
              </a:rPr>
              <a:t># .claude/commands/add-test.md  (checked into git, shared by the lab)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EC5FF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description: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Write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pytest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test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for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function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the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user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names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argument-hint: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&lt;function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in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analysis/&gt;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allowed-tools: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Read,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Edit(analysis/**)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EC5FF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Write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focused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pytest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for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`$ARGUMENTS`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in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analysis/.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AED"/>
                </a:solidFill>
                <a:latin typeface="Consolas"/>
              </a:rPr>
              <a:t>Current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suite: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!`cd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analysis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&amp;&amp;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python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9EC5FF"/>
                </a:solidFill>
                <a:latin typeface="Consolas"/>
              </a:rPr>
              <a:t>-m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pytest</a:t>
            </a:r>
            <a:r>
              <a:rPr sz="115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50" b="0" i="0">
                <a:solidFill>
                  <a:srgbClr val="9EC5FF"/>
                </a:solidFill>
                <a:latin typeface="Consolas"/>
              </a:rPr>
              <a:t>-q`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041648"/>
            <a:ext cx="854964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07482"/>
                </a:solidFill>
                <a:latin typeface="Consolas"/>
              </a:rPr>
              <a:t>$ARGUMENTS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/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$0 $1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inject arguments · `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 !</a:t>
            </a:r>
            <a:r>
              <a:rPr sz="1250" b="0" i="0">
                <a:solidFill>
                  <a:srgbClr val="202124"/>
                </a:solidFill>
                <a:latin typeface="Arial"/>
              </a:rPr>
              <a:t>cmd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 inlines live shell output · </a:t>
            </a:r>
            <a:r>
              <a:rPr sz="1250" b="0" i="0">
                <a:solidFill>
                  <a:srgbClr val="202124"/>
                </a:solidFill>
                <a:latin typeface="Arial"/>
              </a:rPr>
              <a:t>@file` inlines a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Skills — capabilities the model reaches for on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skill is a folder (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SKILL.md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+ optional scripts). A slash command is a prompt *you* fire; a skill is one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model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fires when your ask matches its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description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.</a:t>
            </a:r>
          </a:p>
        </p:txBody>
      </p:sp>
      <p:pic>
        <p:nvPicPr>
          <p:cNvPr id="5" name="Picture 4" descr="progressive_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7498079" cy="3348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Which surface? — the extensibility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The distinction to hold onto: </a:t>
            </a:r>
            <a:r>
              <a:rPr sz="1200" b="1" i="0">
                <a:solidFill>
                  <a:srgbClr val="1155CC"/>
                </a:solidFill>
                <a:latin typeface="Arial"/>
              </a:rPr>
              <a:t>advisory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(CLAUDE.md, skills) vs. </a:t>
            </a:r>
            <a:r>
              <a:rPr sz="1200" b="1" i="0">
                <a:solidFill>
                  <a:srgbClr val="1155CC"/>
                </a:solidFill>
                <a:latin typeface="Arial"/>
              </a:rPr>
              <a:t>enforced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(permissions, hooks).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" y="1536192"/>
          <a:ext cx="855878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110"/>
                <a:gridCol w="2139696"/>
                <a:gridCol w="1997049"/>
                <a:gridCol w="2852927"/>
              </a:tblGrid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Loaded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Invoked by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always, in full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project facts &amp; conventions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slash command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 </a:t>
                      </a: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/name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you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, explicitly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one reusable prompt (+ tool limits)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skill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name always; body on match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the model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 (or </a:t>
                      </a: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/name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 procedure + scripts / references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subagent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 delegation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model or you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 scoped worker, own context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MCP server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tool schema always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the model, as a tool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external tools over a protocol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hook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every matching event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the harness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deterministic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 shell policy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C86A00"/>
                </a:solidFill>
                <a:latin typeface="Arial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Who's in charge —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The part that earns an agent a place on a shared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Permission modes — your autonomy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155CC"/>
                </a:solidFill>
                <a:latin typeface="Arial"/>
              </a:rPr>
              <a:t>Shift+Tab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cycles default → acceptEdits → plan. *You* set the mode; the model can't change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" y="1536192"/>
          <a:ext cx="8558784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0448"/>
                <a:gridCol w="3645408"/>
                <a:gridCol w="2852928"/>
              </a:tblGrid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Use it for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default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(Manual)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prompts on first use; reads run free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everyday interactive work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read-only; proposes, never edits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explore &amp; design safely first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acceptEdits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auto-approves edits + fs-bash in cwd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tight loops in a git-clean repo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auto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classifier approves/denies each act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hands-off, still guarded (newer)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dontAsk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denies anything not pre-allowed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fail-closed CI / batch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bypassPermissions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skips all checks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containers / VMs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only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Permission rules &amp; precedence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Rules live in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as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allow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/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ask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/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lists, e.g.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Edit(analysis/**)</a:t>
            </a:r>
            <a:r>
              <a:rPr sz="1250" b="0" i="0">
                <a:solidFill>
                  <a:srgbClr val="595959"/>
                </a:solidFill>
                <a:latin typeface="Arial"/>
              </a:rPr>
              <a:t>,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Read(~/.ssh/**)</a:t>
            </a:r>
            <a:r>
              <a:rPr sz="1250" b="0" i="0">
                <a:solidFill>
                  <a:srgbClr val="595959"/>
                </a:solidFill>
                <a:latin typeface="Arial"/>
              </a:rPr>
              <a:t>,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Bash(rm -rf*)</a:t>
            </a:r>
            <a:r>
              <a:rPr sz="1250" b="0" i="0">
                <a:solidFill>
                  <a:srgbClr val="595959"/>
                </a:solidFill>
                <a:latin typeface="Arial"/>
              </a:rPr>
              <a:t>.</a:t>
            </a:r>
          </a:p>
        </p:txBody>
      </p:sp>
      <p:pic>
        <p:nvPicPr>
          <p:cNvPr id="5" name="Picture 4" descr="permiss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6949440" cy="3816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Hooks — policy the model cannot forget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CLAUDE.md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*advice*; a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hook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*policy* — a shell command the harness runs on a lifecycle event,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915667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A929E"/>
                </a:solidFill>
                <a:latin typeface="Consolas"/>
              </a:rPr>
              <a:t># .claude/settings.json  — block writes to raw data, no matter what the model decides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{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"hooks":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{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"PreToolUse":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[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"matcher":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"Write|Edit",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"hooks":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[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{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"type":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"command",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"command":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"./guard.sh"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]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]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A929E"/>
                </a:solidFill>
                <a:latin typeface="Consolas"/>
              </a:rPr>
              <a:t># guard.sh:  reads the tool call as JSON on stdin; exit 2 = BLOCK (reason -&gt; Claude)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echo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"policy: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raw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data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is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read-only"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&gt;&amp;2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;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exit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799331"/>
            <a:ext cx="8549640" cy="9098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Events: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PreToolUse / PostToolUse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(gate &amp; audit tools),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UserPromptSubmit, SessionStart, Stop, SubagentStop, PreCompact</a:t>
            </a:r>
            <a:r>
              <a:rPr sz="12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07482"/>
                </a:solidFill>
                <a:latin typeface="Consolas"/>
              </a:rPr>
              <a:t>exit 2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blocks and feeds the reason back to the model; a PreToolUse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overrides an allow-rule.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Subagents — delegate to a scoped worker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A subagent (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.claude/agents/&lt;name&gt;.md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) is a helper the main agent delegates to — with its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own instructions, its own context window, and its own tool allowlist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A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reviewer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limited to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Read, Grep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cannot modify files even if asked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scoped by construction.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Two payoffs: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context isolation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(verbose exploration stays out of the main window; only a summary returns) and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parallel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independent work.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This is the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orchestrator–worker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pattern Anthropic uses in its own research system — fan out read-only workers, synthesize centrally.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*Built-ins you'll see: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Explore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(fast read-only search) and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Plan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(read-only planning).*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Sessions &amp; checkpoints — resume, branch, rewind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Every call is a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session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with a transcript saved on disk (JSONL under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$CLAUDE_CONFIG_DIR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) — inspectable and auditable.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`--resume &lt;id&gt;`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continues with full memory (resumable multi-step pipelines);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`--fork-session`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branches to a new id so you can explore two continuations.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`--session-id &lt;uuid&gt;`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names a pipeline's session so you can always find and replay it.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Interactively,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checkpoints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snapshot code before each edit;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Esc Esc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/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/rewind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restores conversation, code, or both.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*Rewind tracks only Claude's edits — it is a local undo,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not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a replacement for git.*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Extending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Your own tools, an audited fix, and cluster fan-out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MCP — plug in your own (cluster-native)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lets Claude call *your* tools — a Slurm wrapper, a dataset catalog, a SQL warehouse — as first-class tools.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188720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claude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-p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"What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is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my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storage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quota?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Use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the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MCP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tool."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\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--mcp-config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'{"mcpServers":{"lab":{"command":"python3",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             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"args":["mcp_server.py"]}}}'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\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--strict-mcp-config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--allowedTools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F2B66D"/>
                </a:solidFill>
                <a:latin typeface="Consolas"/>
              </a:rPr>
              <a:t>"mcp__lab__*"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072384"/>
            <a:ext cx="8549640" cy="16367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02124"/>
                </a:solidFill>
                <a:latin typeface="Arial"/>
              </a:rPr>
              <a:t>Tools appear namespaced as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mcp__&lt;server&gt;__&lt;tool&gt;</a:t>
            </a:r>
            <a:r>
              <a:rPr sz="1250" b="0" i="0">
                <a:solidFill>
                  <a:srgbClr val="202124"/>
                </a:solidFill>
                <a:latin typeface="Arial"/>
              </a:rPr>
              <a:t>; they are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deny-by-default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headless, so you allow them explicitly.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07482"/>
                </a:solidFill>
                <a:latin typeface="Consolas"/>
              </a:rPr>
              <a:t>--strict-mcp-config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ignores all other MCP config → reproducible runs. Ship a project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.mcp.json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so the whole lab gets identical tooling.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Capstone — an agent fixes a failing test, audited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Hand it a repo with a planted bug under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--permission-mode acceptEdits</a:t>
            </a:r>
            <a:r>
              <a:rPr sz="1250" b="0" i="0">
                <a:solidFill>
                  <a:srgbClr val="595959"/>
                </a:solidFill>
                <a:latin typeface="Arial"/>
              </a:rPr>
              <a:t>; watch the tool-by-tool trace; then re-run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pytest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yourself.</a:t>
            </a:r>
          </a:p>
        </p:txBody>
      </p:sp>
      <p:pic>
        <p:nvPicPr>
          <p:cNvPr id="5" name="Picture 4" descr="capstone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2683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lesson of the capstone: verification closes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The permission mode, not the model, made autonomous editing possible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and a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deny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rule kept it from “fixing” the test file.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Ground truth is the exit code we check ourselves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never the model's claim of success. We grade behavior, not wording.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TDD is the single strongest agentic pattern: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write failing tests first, commit them, let the agent iterate red → green. The committed tests are your safety net.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202124"/>
                </a:solidFill>
                <a:latin typeface="Arial"/>
              </a:rPr>
              <a:t>Give the agent an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executable check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(test, build, metric-diff, screenshot) so a long unattended run *self-terminates correctly* instead of “looking done.”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From one call to a cluster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cc.ask()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the unit of a batch job: loop it over inputs, sum the cost, submit as Slurm. The shipped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run.sh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does exactly this.</a:t>
            </a:r>
          </a:p>
        </p:txBody>
      </p:sp>
      <p:pic>
        <p:nvPicPr>
          <p:cNvPr id="5" name="Picture 4" descr="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8229600" cy="3211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Running it from your own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Three doors, and the Agent SDK in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Three doors into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Pick by how deeply you embed it. The whole point of a headless agent is to script it.</a:t>
            </a:r>
          </a:p>
        </p:txBody>
      </p:sp>
      <p:pic>
        <p:nvPicPr>
          <p:cNvPr id="5" name="Picture 4" descr="three_d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3361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Agent SDK — Claude Code as a Python library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pip install claude-agent-sdk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—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same engine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as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claude -p</a:t>
            </a:r>
            <a:r>
              <a:rPr sz="1250" b="0" i="0">
                <a:solidFill>
                  <a:srgbClr val="595959"/>
                </a:solidFill>
                <a:latin typeface="Arial"/>
              </a:rPr>
              <a:t>, as async Python. You iterate typed messages, not JSON.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915667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from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claude_agent_sdk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import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query,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ClaudeAgentOptions,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ResultMessage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opts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=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ClaudeAgentOptions(model="haiku",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allowed_tools=["Read"],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                     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permission_mode="acceptEdits",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cwd=repo)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async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for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msg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in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query(prompt="Summarize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this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repo.",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options=opts):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if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isinstance(msg,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ResultMessage):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     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print(msg.total_cost_usd,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msg.session_id)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799331"/>
            <a:ext cx="8549640" cy="9098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`query()`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is one-shot;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`ClaudeSDKClient`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is multi-turn — options mirror the CLI flags.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In-process tools: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@tool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+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create_sdk_mcp_server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— no subprocess; can close over live objects.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Governance as Python: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a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can_use_tool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callback +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hooks=</a:t>
            </a:r>
            <a:r>
              <a:rPr sz="1250" b="0" i="0">
                <a:solidFill>
                  <a:srgbClr val="202124"/>
                </a:solidFill>
                <a:latin typeface="Arial"/>
              </a:rPr>
              <a:t>; set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setting_sources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explicitly.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Automation surfaces (door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Beyond the SDK: event-driven and long-running surfaces, all wrapping the same harness.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673352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A929E"/>
                </a:solidFill>
                <a:latin typeface="Consolas"/>
              </a:rPr>
              <a:t># GitHub Actions: @claude on an issue/PR runs the same agent in CI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-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uses: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anthropics/claude-code-action@v1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  <a:r>
              <a:rPr sz="1100" b="0" i="0">
                <a:solidFill>
                  <a:srgbClr val="E8EAED"/>
                </a:solidFill>
                <a:latin typeface="Consolas"/>
              </a:rPr>
              <a:t> 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with: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{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anthropic_api_key: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${{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secrets.ANTHROPIC_API_KEY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}}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A929E"/>
                </a:solidFill>
                <a:latin typeface="Consolas"/>
              </a:rPr>
              <a:t># A long-lived streamed session (any language, no SDK):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8EAED"/>
                </a:solidFill>
                <a:latin typeface="Consolas"/>
              </a:rPr>
              <a:t>claude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-p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--input-format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stream-json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--output-format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stream-json</a:t>
            </a:r>
            <a:r>
              <a:rPr sz="1100" b="0" i="0">
                <a:solidFill>
                  <a:srgbClr val="E8EAED"/>
                </a:solidFill>
                <a:latin typeface="Consolas"/>
              </a:rPr>
              <a:t> </a:t>
            </a:r>
            <a:r>
              <a:rPr sz="1100" b="0" i="0">
                <a:solidFill>
                  <a:srgbClr val="9EC5FF"/>
                </a:solidFill>
                <a:latin typeface="Consolas"/>
              </a:rPr>
              <a:t>--verbose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557016"/>
            <a:ext cx="8549640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GitHub Actions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/install-github-app</a:t>
            </a:r>
            <a:r>
              <a:rPr sz="1250" b="0" i="0">
                <a:solidFill>
                  <a:srgbClr val="202124"/>
                </a:solidFill>
                <a:latin typeface="Arial"/>
              </a:rPr>
              <a:t>) and a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GitLab CI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integration;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stream-json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over stdin keeps one process warm across many turns.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TypeScript SDK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(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@anthropic-ai/claude-agent-sdk</a:t>
            </a:r>
            <a:r>
              <a:rPr sz="1250" b="0" i="0">
                <a:solidFill>
                  <a:srgbClr val="202124"/>
                </a:solidFill>
                <a:latin typeface="Arial"/>
              </a:rPr>
              <a:t>) — same engine, camelCase options.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C86A00"/>
                </a:solidFill>
                <a:latin typeface="Arial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Safety, trust &amp; 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Non-negotiable on shared research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Safety on shared HPC — please teach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Permission-mode ladder: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*plan* to explore → *acceptEdits* only in a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git-clean scratch repo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→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never `bypassPermissions` on a shared filesystem.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 bad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rm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hits your whole lab.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Claude can read anything you can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~/.ssh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~/.netrc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HF/conda tokens. Launch from the *project dir* and deny-list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Read(~/.ssh/**)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Read(**/.env)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Bash(rm -rf*)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Slurm key leak: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sbatch --export=ALL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copies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ANTHROPIC_API_KEY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into job env visible via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scontrol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 Prefer the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CLAUDE_CONFIG_DIR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token path, or a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chmod 600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key sourced at runtime.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Egress required: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Claude Code needs the network — many air-gapped clusters can't run it. For hard isolation, wrap it in a container (Apptainer / Singularity).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Trust is the real attack surface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Prompt injection: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any content the agent ingests — an MCP server's output, a fetched web page, an untrusted PR or repo — can carry instructions. Treat external content as untrusted input.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Installing a skill/plugin/MCP server = installing software.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It ships instructions *and* code that runs with your credentials. Only use trusted sources; review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.claude/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before you trust a repo.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Workspace trust: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project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.mcp.json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hooks, and skill tool-grants only take effect after you accept the trust dialog — don't rubber-stamp it.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Managed policy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lets an admin ship a locked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settings.json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users can't loosen — the right control for a shared cluster.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Data governance &amp; research ethics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Don't send restricted data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IRB-protected, PHI, or export-controlled data must not go into prompts without institutional approval. API data isn't used for training by default, but *policy is your responsibility.*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Retention &amp; residency: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know your plan's data-retention terms; route through Bedrock/Vertex for institutional billing, IAM, and residency if required.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Disclose AI assistance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in papers and code per venue/journal policy; keep the session transcript as a provenance record.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Licensing &amp; provenance: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generated code carries the same review and licensing obligations as any dependency — read it before you ship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Honest limits — when *not* to reach for the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Not bit-reproducible.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The model samples and versions drift; runs are *auditable and isolable*, not deterministic. Pin model ids, log transcripts, and verify outputs — don't assume repeatability.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It can be confidently wrong.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Hallucinated APIs, plausible-but-broken fixes — which is why *verification is mandatory*, not optional.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Cost &amp; context are finite.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The context window is a scarce resource; long sessions degrade.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/clear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between tasks, delegate to subagents, keep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lean.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Skip the agent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for one-line changes you could describe in a sentence, and for work you cannot verify. A human still owns the result.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B2E6B"/>
                </a:solidFill>
                <a:latin typeface="Arial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Wrap-up &amp;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The big ideas, and what you'll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Key 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Harness vs. model.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You configure a versioned harness; the model is a swappable, drifting LLM — pin ids for shared configs.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The agentic loop, governed &amp; observable.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Gather → act → verify → repeat, where a call is a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structured, costed record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Advisory vs. enforced.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and skills *advise*;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permissions and hooks enforce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use them for hard guarantees.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The context window is the scarce resource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nearly every best practice is context management.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Verification closes the loop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give the agent an executable check; never ship what you can't verify.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One engine, many surfaces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CLI, SDK, CI — so you write the logic once and run it interactive, batch, or in CI.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If you took the build-it-yourself workshops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2608" y="1280160"/>
          <a:ext cx="8558783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5934"/>
                <a:gridCol w="4782849"/>
              </a:tblGrid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Concept you built by hand</a:t>
                      </a:r>
                    </a:p>
                  </a:txBody>
                  <a:tcPr anchor="ctr" marT="25400" marB="25400" marL="76200" marR="76200"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Its Claude Code counterpart</a:t>
                      </a:r>
                    </a:p>
                  </a:txBody>
                  <a:tcPr anchor="ctr" marT="25400" marB="25400" marL="76200" marR="76200">
                    <a:solidFill>
                      <a:srgbClr val="0B2E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tool registry + tool-call parser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built-in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Read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/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Edit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/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Bash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an observable trace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self-repair / retry loop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the agent fixing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pytest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under a permission mode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an input/output guardrail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permission modes + hooks — governing *actions*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team of cooperating agents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tool-scoped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subagents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constrained / JSON decoder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--output-format json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--json-schema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cost-aware router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--model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total_cost_usd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accounting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prompt templates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CLAUDE.md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slash commands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library of task recipes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model-invoked, progressively-disclosed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skills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Now: the hands-on notebook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Part I — the CLI, headless: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first call, structured output,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CLAUDE.md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commands, permissions, hooks, subagents, sessions, MCP, skills, the capstone bug-fix, and a costed fan-out.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Part II — the Agent SDK: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query()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ClaudeSDKClient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in-process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@tool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Python governance, and the automation surfaces.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Take-home REPL lab (`sample-lab/`):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/init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plan mode, fix a failing test under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acceptEdits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write a skill the model reaches for on its own.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Budget: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the whole notebook runs on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haiku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for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well under $1.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155CC"/>
                </a:solidFill>
                <a:latin typeface="Arial"/>
              </a:rPr>
              <a:t>Docs: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code.claude.com/docs  · 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Agent SDK: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code.claude.com/docs/en/agent-sdk  · 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Repo:</a:t>
            </a:r>
            <a:r>
              <a:rPr sz="1250" b="0" i="0">
                <a:solidFill>
                  <a:srgbClr val="202124"/>
                </a:solidFill>
                <a:latin typeface="Arial"/>
              </a:rPr>
              <a:t> github.com/…/uchicago-workshops/claude-code-tutorial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