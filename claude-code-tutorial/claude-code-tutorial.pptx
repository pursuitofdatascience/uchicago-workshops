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4" roundtripDataSignature="AMtx7mgdCKvtHmyAq/GUTbJUNKNeYR0v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customschemas.google.com/relationships/presentationmetadata" Target="metadata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github.com/PursuitOfDataScience/uchicago-workshops/tree/main/claude-code-tutorial" TargetMode="External"/><Relationship Id="rId4" Type="http://schemas.openxmlformats.org/officeDocument/2006/relationships/image" Target="../media/image2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548640" y="566928"/>
            <a:ext cx="8046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RCC WORKSHOP 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548640" y="1554480"/>
            <a:ext cx="8046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>
                <a:solidFill>
                  <a:srgbClr val="F2F6FC"/>
                </a:solidFill>
                <a:latin typeface="Arial"/>
                <a:ea typeface="Arial"/>
                <a:cs typeface="Arial"/>
                <a:sym typeface="Arial"/>
              </a:rPr>
              <a:t>Claude Code in Practice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548640" y="2971800"/>
            <a:ext cx="80466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Youzhi Yu </a:t>
            </a:r>
            <a:endParaRPr sz="1250">
              <a:solidFill>
                <a:srgbClr val="9BA6B4"/>
              </a:solidFill>
            </a:endParaRPr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9BA6B4"/>
                </a:solidFill>
              </a:rPr>
              <a:t>University of Chicago</a:t>
            </a:r>
            <a:endParaRPr sz="1250">
              <a:solidFill>
                <a:srgbClr val="9BA6B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548640" y="1417320"/>
            <a:ext cx="457200" cy="544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1060704" y="1417320"/>
            <a:ext cx="7534656" cy="544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AI agents and Claude Code</a:t>
            </a:r>
            <a:r>
              <a:rPr b="0" i="0" lang="en-US" sz="17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0" i="0" lang="en-US" sz="15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the model, the harness, the loop, everyday uses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548640" y="1961388"/>
            <a:ext cx="457200" cy="544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1060704" y="1961388"/>
            <a:ext cx="7534656" cy="544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Model, effort, and context</a:t>
            </a:r>
            <a:r>
              <a:rPr b="0" i="0" lang="en-US" sz="17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0" i="0" lang="en-US" sz="15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tuning behavior and cost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548640" y="2505456"/>
            <a:ext cx="457200" cy="544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1060704" y="2505456"/>
            <a:ext cx="7534656" cy="544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Commands and interaction</a:t>
            </a:r>
            <a:r>
              <a:rPr b="0" i="0" lang="en-US" sz="17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0" i="0" lang="en-US" sz="15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modes, commands, /goal, and /loop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548640" y="3049524"/>
            <a:ext cx="457200" cy="544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060704" y="3049524"/>
            <a:ext cx="7534656" cy="544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Customization and extensibility</a:t>
            </a:r>
            <a:r>
              <a:rPr b="0" i="0" lang="en-US" sz="17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0" i="0" lang="en-US" sz="15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CLAUDE.md, skills, MCP, hooks, plugins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548640" y="3593592"/>
            <a:ext cx="457200" cy="544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060704" y="3593592"/>
            <a:ext cx="7534656" cy="544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The cluster and automation</a:t>
            </a:r>
            <a:r>
              <a:rPr b="0" i="0" lang="en-US" sz="17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0" i="0" lang="en-US" sz="15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Slurm, headless mode, and the Agent SDK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548640" y="4137660"/>
            <a:ext cx="457200" cy="544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1060704" y="4137660"/>
            <a:ext cx="7534656" cy="544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Hands-on exercise</a:t>
            </a:r>
            <a:r>
              <a:rPr b="0" i="0" lang="en-US" sz="17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0" i="0" lang="en-US" sz="15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try Claude Code on your own computer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914400" y="1874519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74A8FF"/>
                </a:solidFill>
                <a:latin typeface="Arial"/>
                <a:ea typeface="Arial"/>
                <a:cs typeface="Arial"/>
                <a:sym typeface="Arial"/>
              </a:rPr>
              <a:t>PART 1 OF 6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914400" y="228600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AI agents and Claude Code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914400" y="3127248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From language models that answer, to an agent for coding and research tasks.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914400" y="4114800"/>
            <a:ext cx="7315200" cy="54864"/>
          </a:xfrm>
          <a:prstGeom prst="rect">
            <a:avLst/>
          </a:prstGeom>
          <a:solidFill>
            <a:srgbClr val="2A35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914400" y="4114800"/>
            <a:ext cx="1219200" cy="54864"/>
          </a:xfrm>
          <a:prstGeom prst="rect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From autocomplete to agent</a:t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Each step hands the tool more of the work, from the next line of code to a whole task.</a:t>
            </a:r>
            <a:endParaRPr/>
          </a:p>
        </p:txBody>
      </p:sp>
      <p:pic>
        <p:nvPicPr>
          <p:cNvPr descr="image1.png" id="127" name="Google Shape;1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709" y="1700783"/>
            <a:ext cx="8406580" cy="312724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An agent pairs a model with a harness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A language model on its own can only write text. The harness is the program around it that carries out the actions the model chooses and sends back the results.</a:t>
            </a:r>
            <a:endParaRPr/>
          </a:p>
        </p:txBody>
      </p:sp>
      <p:pic>
        <p:nvPicPr>
          <p:cNvPr descr="image51.png" id="136" name="Google Shape;1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335" y="1700784"/>
            <a:ext cx="8339328" cy="312724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The loop an agent runs</a:t>
            </a:r>
            <a:endParaRPr/>
          </a:p>
        </p:txBody>
      </p:sp>
      <p:sp>
        <p:nvSpPr>
          <p:cNvPr id="144" name="Google Shape;144;p6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Claude, the model, decides; Claude Code, the harness, acts. Together they repeat these four steps until the task is done.</a:t>
            </a:r>
            <a:endParaRPr/>
          </a:p>
        </p:txBody>
      </p:sp>
      <p:pic>
        <p:nvPicPr>
          <p:cNvPr descr="image2.png" id="145" name="Google Shape;14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354" y="1700784"/>
            <a:ext cx="8013290" cy="298094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 txBox="1"/>
          <p:nvPr/>
        </p:nvSpPr>
        <p:spPr>
          <a:xfrm>
            <a:off x="548640" y="47914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Loop framing: Anthropic, "Building effective agents" (2024).</a:t>
            </a:r>
            <a:endParaRPr/>
          </a:p>
        </p:txBody>
      </p:sp>
      <p:sp>
        <p:nvSpPr>
          <p:cNvPr id="147" name="Google Shape;147;p6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An agent checks and corrects its own work</a:t>
            </a:r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Every action reports back, so a failed step gets fixed instead of ignored. Here Claude reads the error and fixes the script, and Claude Code runs it again.</a:t>
            </a:r>
            <a:endParaRPr/>
          </a:p>
        </p:txBody>
      </p:sp>
      <p:pic>
        <p:nvPicPr>
          <p:cNvPr descr="image52.png" id="155" name="Google Shape;1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335" y="1700784"/>
            <a:ext cx="8339328" cy="312724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Claude Code, Anthropic's harness for Claude</a:t>
            </a:r>
            <a:endParaRPr/>
          </a:p>
        </p:txBody>
      </p:sp>
      <p:sp>
        <p:nvSpPr>
          <p:cNvPr id="163" name="Google Shape;163;p8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Claude Code is the harness, made by Anthropic for its model, Claude; together they form the agent. You describe the goal in plain words, Claude works out the steps, and Claude Code carries them out.</a:t>
            </a:r>
            <a:endParaRPr/>
          </a:p>
        </p:txBody>
      </p:sp>
      <p:pic>
        <p:nvPicPr>
          <p:cNvPr descr="image26.png" id="164" name="Google Shape;1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407" y="1700784"/>
            <a:ext cx="7949184" cy="298094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 txBox="1"/>
          <p:nvPr/>
        </p:nvSpPr>
        <p:spPr>
          <a:xfrm>
            <a:off x="548640" y="47914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"Claude Code is the layer around the model": code.claude.com/docs/en/how-claude-code-works.</a:t>
            </a:r>
            <a:endParaRPr/>
          </a:p>
        </p:txBody>
      </p:sp>
      <p:sp>
        <p:nvSpPr>
          <p:cNvPr id="166" name="Google Shape;166;p8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Instructions in plain language</a:t>
            </a:r>
            <a:endParaRPr/>
          </a:p>
        </p:txBody>
      </p:sp>
      <p:sp>
        <p:nvSpPr>
          <p:cNvPr id="173" name="Google Shape;173;p9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What you type is called a prompt. Name a file with </a:t>
            </a:r>
            <a:r>
              <a:rPr b="0" i="0" lang="en-US" sz="14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 to hand it to Claude.</a:t>
            </a:r>
            <a:endParaRPr/>
          </a:p>
        </p:txBody>
      </p:sp>
      <p:sp>
        <p:nvSpPr>
          <p:cNvPr id="174" name="Google Shape;174;p9"/>
          <p:cNvSpPr txBox="1"/>
          <p:nvPr/>
        </p:nvSpPr>
        <p:spPr>
          <a:xfrm>
            <a:off x="548640" y="17556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YOU TYPE</a:t>
            </a:r>
            <a:endParaRPr/>
          </a:p>
        </p:txBody>
      </p:sp>
      <p:sp>
        <p:nvSpPr>
          <p:cNvPr id="175" name="Google Shape;175;p9"/>
          <p:cNvSpPr txBox="1"/>
          <p:nvPr/>
        </p:nvSpPr>
        <p:spPr>
          <a:xfrm>
            <a:off x="6035040" y="1755648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WHAT HAPPENS</a:t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548640" y="2139696"/>
            <a:ext cx="5029200" cy="530352"/>
          </a:xfrm>
          <a:prstGeom prst="roundRect">
            <a:avLst>
              <a:gd fmla="val 17241" name="adj"/>
            </a:avLst>
          </a:prstGeom>
          <a:solidFill>
            <a:srgbClr val="192332"/>
          </a:solidFill>
          <a:ln cap="flat" cmpd="sng" w="9525">
            <a:solidFill>
              <a:srgbClr val="2A35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713232" y="2139696"/>
            <a:ext cx="274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78" name="Google Shape;178;p9"/>
          <p:cNvSpPr txBox="1"/>
          <p:nvPr/>
        </p:nvSpPr>
        <p:spPr>
          <a:xfrm>
            <a:off x="987552" y="2139696"/>
            <a:ext cx="4480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CE6"/>
                </a:solidFill>
                <a:latin typeface="Courier New"/>
                <a:ea typeface="Courier New"/>
                <a:cs typeface="Courier New"/>
                <a:sym typeface="Courier New"/>
              </a:rPr>
              <a:t>What changed between </a:t>
            </a:r>
            <a:r>
              <a:rPr b="0" i="0" lang="en-US" sz="1200">
                <a:solidFill>
                  <a:srgbClr val="37C6D4"/>
                </a:solidFill>
                <a:latin typeface="Courier New"/>
                <a:ea typeface="Courier New"/>
                <a:cs typeface="Courier New"/>
                <a:sym typeface="Courier New"/>
              </a:rPr>
              <a:t>@run_a.csv</a:t>
            </a:r>
            <a:r>
              <a:rPr b="0" i="0" lang="en-US" sz="1200">
                <a:solidFill>
                  <a:srgbClr val="D6DCE6"/>
                </a:solidFill>
                <a:latin typeface="Courier New"/>
                <a:ea typeface="Courier New"/>
                <a:cs typeface="Courier New"/>
                <a:sym typeface="Courier New"/>
              </a:rPr>
              <a:t> and </a:t>
            </a:r>
            <a:r>
              <a:rPr b="0" i="0" lang="en-US" sz="1200">
                <a:solidFill>
                  <a:srgbClr val="37C6D4"/>
                </a:solidFill>
                <a:latin typeface="Courier New"/>
                <a:ea typeface="Courier New"/>
                <a:cs typeface="Courier New"/>
                <a:sym typeface="Courier New"/>
              </a:rPr>
              <a:t>@run_b.csv</a:t>
            </a:r>
            <a:r>
              <a:rPr b="0" i="0" lang="en-US" sz="1200">
                <a:solidFill>
                  <a:srgbClr val="D6DCE6"/>
                </a:solidFill>
                <a:latin typeface="Courier New"/>
                <a:ea typeface="Courier New"/>
                <a:cs typeface="Courier New"/>
                <a:sym typeface="Courier New"/>
              </a:rPr>
              <a:t>?</a:t>
            </a:r>
            <a:endParaRPr/>
          </a:p>
        </p:txBody>
      </p:sp>
      <p:sp>
        <p:nvSpPr>
          <p:cNvPr id="179" name="Google Shape;179;p9"/>
          <p:cNvSpPr txBox="1"/>
          <p:nvPr/>
        </p:nvSpPr>
        <p:spPr>
          <a:xfrm>
            <a:off x="5650992" y="2093976"/>
            <a:ext cx="31089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80" name="Google Shape;180;p9"/>
          <p:cNvSpPr txBox="1"/>
          <p:nvPr/>
        </p:nvSpPr>
        <p:spPr>
          <a:xfrm>
            <a:off x="6035040" y="2029967"/>
            <a:ext cx="25603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Claude reads both files and reports the real differences.</a:t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548640" y="3099816"/>
            <a:ext cx="5029200" cy="530352"/>
          </a:xfrm>
          <a:prstGeom prst="roundRect">
            <a:avLst>
              <a:gd fmla="val 17241" name="adj"/>
            </a:avLst>
          </a:prstGeom>
          <a:solidFill>
            <a:srgbClr val="192332"/>
          </a:solidFill>
          <a:ln cap="flat" cmpd="sng" w="9525">
            <a:solidFill>
              <a:srgbClr val="2A35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713232" y="3099816"/>
            <a:ext cx="274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83" name="Google Shape;183;p9"/>
          <p:cNvSpPr txBox="1"/>
          <p:nvPr/>
        </p:nvSpPr>
        <p:spPr>
          <a:xfrm>
            <a:off x="987552" y="3099816"/>
            <a:ext cx="4480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CE6"/>
                </a:solidFill>
                <a:latin typeface="Courier New"/>
                <a:ea typeface="Courier New"/>
                <a:cs typeface="Courier New"/>
                <a:sym typeface="Courier New"/>
              </a:rPr>
              <a:t>Plot accuracy against epoch from </a:t>
            </a:r>
            <a:r>
              <a:rPr b="0" i="0" lang="en-US" sz="1200">
                <a:solidFill>
                  <a:srgbClr val="37C6D4"/>
                </a:solidFill>
                <a:latin typeface="Courier New"/>
                <a:ea typeface="Courier New"/>
                <a:cs typeface="Courier New"/>
                <a:sym typeface="Courier New"/>
              </a:rPr>
              <a:t>@results.csv</a:t>
            </a:r>
            <a:r>
              <a:rPr b="0" i="0" lang="en-US" sz="1200">
                <a:solidFill>
                  <a:srgbClr val="D6DCE6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/>
          </a:p>
        </p:txBody>
      </p:sp>
      <p:sp>
        <p:nvSpPr>
          <p:cNvPr id="184" name="Google Shape;184;p9"/>
          <p:cNvSpPr txBox="1"/>
          <p:nvPr/>
        </p:nvSpPr>
        <p:spPr>
          <a:xfrm>
            <a:off x="5650992" y="3054096"/>
            <a:ext cx="31089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6035040" y="2990088"/>
            <a:ext cx="25603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Claude writes a script; Claude Code runs it and saves the plot.</a:t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548640" y="4059936"/>
            <a:ext cx="5029200" cy="530352"/>
          </a:xfrm>
          <a:prstGeom prst="roundRect">
            <a:avLst>
              <a:gd fmla="val 17241" name="adj"/>
            </a:avLst>
          </a:prstGeom>
          <a:solidFill>
            <a:srgbClr val="192332"/>
          </a:solidFill>
          <a:ln cap="flat" cmpd="sng" w="9525">
            <a:solidFill>
              <a:srgbClr val="2A35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713232" y="4059936"/>
            <a:ext cx="274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88" name="Google Shape;188;p9"/>
          <p:cNvSpPr txBox="1"/>
          <p:nvPr/>
        </p:nvSpPr>
        <p:spPr>
          <a:xfrm>
            <a:off x="987552" y="4059936"/>
            <a:ext cx="4480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CE6"/>
                </a:solidFill>
                <a:latin typeface="Courier New"/>
                <a:ea typeface="Courier New"/>
                <a:cs typeface="Courier New"/>
                <a:sym typeface="Courier New"/>
              </a:rPr>
              <a:t>Explain why </a:t>
            </a:r>
            <a:r>
              <a:rPr b="0" i="0" lang="en-US" sz="1200">
                <a:solidFill>
                  <a:srgbClr val="37C6D4"/>
                </a:solidFill>
                <a:latin typeface="Courier New"/>
                <a:ea typeface="Courier New"/>
                <a:cs typeface="Courier New"/>
                <a:sym typeface="Courier New"/>
              </a:rPr>
              <a:t>@train.py</a:t>
            </a:r>
            <a:r>
              <a:rPr b="0" i="0" lang="en-US" sz="1200">
                <a:solidFill>
                  <a:srgbClr val="D6DCE6"/>
                </a:solidFill>
                <a:latin typeface="Courier New"/>
                <a:ea typeface="Courier New"/>
                <a:cs typeface="Courier New"/>
                <a:sym typeface="Courier New"/>
              </a:rPr>
              <a:t> exits with an error.</a:t>
            </a:r>
            <a:endParaRPr/>
          </a:p>
        </p:txBody>
      </p:sp>
      <p:sp>
        <p:nvSpPr>
          <p:cNvPr id="189" name="Google Shape;189;p9"/>
          <p:cNvSpPr txBox="1"/>
          <p:nvPr/>
        </p:nvSpPr>
        <p:spPr>
          <a:xfrm>
            <a:off x="5650992" y="4014216"/>
            <a:ext cx="31089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6035040" y="3950208"/>
            <a:ext cx="25603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Claude Code runs it; Claude reads the error and finds the cause.</a:t>
            </a:r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Applications extend beyond code</a:t>
            </a:r>
            <a:endParaRPr/>
          </a:p>
        </p:txBody>
      </p:sp>
      <p:sp>
        <p:nvSpPr>
          <p:cNvPr id="198" name="Google Shape;198;p10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Most research work touches all three: the data, the writing, and the code.</a:t>
            </a:r>
            <a:endParaRPr/>
          </a:p>
        </p:txBody>
      </p:sp>
      <p:pic>
        <p:nvPicPr>
          <p:cNvPr descr="image27.png" id="199" name="Google Shape;19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335" y="1700784"/>
            <a:ext cx="8339328" cy="312724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0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914400" y="1874519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74A8FF"/>
                </a:solidFill>
                <a:latin typeface="Arial"/>
                <a:ea typeface="Arial"/>
                <a:cs typeface="Arial"/>
                <a:sym typeface="Arial"/>
              </a:rPr>
              <a:t>PART 2 OF 6</a:t>
            </a:r>
            <a:endParaRPr/>
          </a:p>
        </p:txBody>
      </p:sp>
      <p:sp>
        <p:nvSpPr>
          <p:cNvPr id="209" name="Google Shape;209;p11"/>
          <p:cNvSpPr txBox="1"/>
          <p:nvPr/>
        </p:nvSpPr>
        <p:spPr>
          <a:xfrm>
            <a:off x="914400" y="228600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Model, effort, and context</a:t>
            </a:r>
            <a:endParaRPr/>
          </a:p>
        </p:txBody>
      </p:sp>
      <p:sp>
        <p:nvSpPr>
          <p:cNvPr id="210" name="Google Shape;210;p11"/>
          <p:cNvSpPr txBox="1"/>
          <p:nvPr/>
        </p:nvSpPr>
        <p:spPr>
          <a:xfrm>
            <a:off x="914400" y="3127248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Configuring the model's behavior, and what that costs.</a:t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914400" y="4114800"/>
            <a:ext cx="7315200" cy="54864"/>
          </a:xfrm>
          <a:prstGeom prst="rect">
            <a:avLst/>
          </a:prstGeom>
          <a:solidFill>
            <a:srgbClr val="2A35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914400" y="4114800"/>
            <a:ext cx="2438400" cy="54864"/>
          </a:xfrm>
          <a:prstGeom prst="rect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Model selection</a:t>
            </a:r>
            <a:endParaRPr/>
          </a:p>
        </p:txBody>
      </p:sp>
      <p:sp>
        <p:nvSpPr>
          <p:cNvPr id="220" name="Google Shape;220;p12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/model</a:t>
            </a: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 opens a picker, and </a:t>
            </a:r>
            <a:r>
              <a:rPr b="0" i="0" lang="en-US" sz="14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/model sonnet</a:t>
            </a: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 switches directly. A more capable model is slower and costs more; your organization decides which models you can use.</a:t>
            </a:r>
            <a:endParaRPr/>
          </a:p>
        </p:txBody>
      </p:sp>
      <p:pic>
        <p:nvPicPr>
          <p:cNvPr descr="image28.png" id="221" name="Google Shape;2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487" y="1700784"/>
            <a:ext cx="8397025" cy="298094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2"/>
          <p:cNvSpPr txBox="1"/>
          <p:nvPr/>
        </p:nvSpPr>
        <p:spPr>
          <a:xfrm>
            <a:off x="548640" y="47914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API list prices: platform.claude.com/docs/en/about-claude/pricing (October 2026).</a:t>
            </a:r>
            <a:endParaRPr/>
          </a:p>
        </p:txBody>
      </p:sp>
      <p:sp>
        <p:nvSpPr>
          <p:cNvPr id="223" name="Google Shape;223;p12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Reasoning effort</a:t>
            </a:r>
            <a:endParaRPr/>
          </a:p>
        </p:txBody>
      </p:sp>
      <p:sp>
        <p:nvSpPr>
          <p:cNvPr id="230" name="Google Shape;230;p13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/effort</a:t>
            </a: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 opens this slider: how hard the model thinks before it acts. Opus 5.5, Sonnet 5.5, and Haiku 5.5 start at </a:t>
            </a:r>
            <a:r>
              <a:rPr b="0" i="0" lang="en-US" sz="14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; Fable 5.1 starts at </a:t>
            </a:r>
            <a:r>
              <a:rPr b="0" i="0" lang="en-US" sz="14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image29.png" id="231" name="Google Shape;23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407" y="1700784"/>
            <a:ext cx="7949184" cy="298094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3"/>
          <p:cNvSpPr txBox="1"/>
          <p:nvPr/>
        </p:nvSpPr>
        <p:spPr>
          <a:xfrm>
            <a:off x="548640" y="47914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Effort levels and defaults: Anthropic documentation, code.claude.com/docs/en/model-config.</a:t>
            </a:r>
            <a:endParaRPr/>
          </a:p>
        </p:txBody>
      </p:sp>
      <p:sp>
        <p:nvSpPr>
          <p:cNvPr id="233" name="Google Shape;233;p13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Subagents: helpers with their own context</a:t>
            </a:r>
            <a:endParaRPr/>
          </a:p>
        </p:txBody>
      </p:sp>
      <p:sp>
        <p:nvSpPr>
          <p:cNvPr id="240" name="Google Shape;240;p14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A subagent is a helper Claude starts for one part of a task. The helper works in its own context window and sends back only a summary, so your conversation stays small.</a:t>
            </a:r>
            <a:endParaRPr/>
          </a:p>
        </p:txBody>
      </p:sp>
      <p:pic>
        <p:nvPicPr>
          <p:cNvPr descr="image53.png" id="241" name="Google Shape;24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407" y="1700784"/>
            <a:ext cx="7949184" cy="2980944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4"/>
          <p:cNvSpPr txBox="1"/>
          <p:nvPr/>
        </p:nvSpPr>
        <p:spPr>
          <a:xfrm>
            <a:off x="548640" y="47914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When to use subagents: Anthropic documentation, code.claude.com/docs/en/sub-agents.</a:t>
            </a:r>
            <a:endParaRPr/>
          </a:p>
        </p:txBody>
      </p:sp>
      <p:sp>
        <p:nvSpPr>
          <p:cNvPr id="243" name="Google Shape;243;p14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5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The context window, and what it costs</a:t>
            </a:r>
            <a:endParaRPr/>
          </a:p>
        </p:txBody>
      </p:sp>
      <p:sp>
        <p:nvSpPr>
          <p:cNvPr id="250" name="Google Shape;250;p15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Claude re-reads the whole context at every step, and each step is billed, or counted against your plan, by the tokens read and written. </a:t>
            </a:r>
            <a:r>
              <a:rPr b="0" i="0" lang="en-US" sz="14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/compact</a:t>
            </a: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 shrinks the conversation to a summary.</a:t>
            </a:r>
            <a:endParaRPr/>
          </a:p>
        </p:txBody>
      </p:sp>
      <p:pic>
        <p:nvPicPr>
          <p:cNvPr descr="image54.png" id="251" name="Google Shape;2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407" y="1700784"/>
            <a:ext cx="7949184" cy="298094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5"/>
          <p:cNvSpPr txBox="1"/>
          <p:nvPr/>
        </p:nvSpPr>
        <p:spPr>
          <a:xfrm>
            <a:off x="548640" y="47914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Context window and pricing: code.claude.com/docs/en/context-window; platform.claude.com/docs/en/about-claude/pricing.</a:t>
            </a:r>
            <a:endParaRPr/>
          </a:p>
        </p:txBody>
      </p:sp>
      <p:sp>
        <p:nvSpPr>
          <p:cNvPr id="253" name="Google Shape;253;p15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6"/>
          <p:cNvSpPr txBox="1"/>
          <p:nvPr/>
        </p:nvSpPr>
        <p:spPr>
          <a:xfrm>
            <a:off x="914400" y="1874519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74A8FF"/>
                </a:solidFill>
                <a:latin typeface="Arial"/>
                <a:ea typeface="Arial"/>
                <a:cs typeface="Arial"/>
                <a:sym typeface="Arial"/>
              </a:rPr>
              <a:t>PART 3 OF 6</a:t>
            </a:r>
            <a:endParaRPr/>
          </a:p>
        </p:txBody>
      </p:sp>
      <p:sp>
        <p:nvSpPr>
          <p:cNvPr id="262" name="Google Shape;262;p16"/>
          <p:cNvSpPr txBox="1"/>
          <p:nvPr/>
        </p:nvSpPr>
        <p:spPr>
          <a:xfrm>
            <a:off x="914400" y="228600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Commands and interaction</a:t>
            </a:r>
            <a:endParaRPr/>
          </a:p>
        </p:txBody>
      </p:sp>
      <p:sp>
        <p:nvSpPr>
          <p:cNvPr id="263" name="Google Shape;263;p16"/>
          <p:cNvSpPr txBox="1"/>
          <p:nvPr/>
        </p:nvSpPr>
        <p:spPr>
          <a:xfrm>
            <a:off x="914400" y="3127248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Directing a session, and letting Claude keep working.</a:t>
            </a:r>
            <a:endParaRPr/>
          </a:p>
        </p:txBody>
      </p:sp>
      <p:sp>
        <p:nvSpPr>
          <p:cNvPr id="264" name="Google Shape;264;p16"/>
          <p:cNvSpPr/>
          <p:nvPr/>
        </p:nvSpPr>
        <p:spPr>
          <a:xfrm>
            <a:off x="914400" y="4114800"/>
            <a:ext cx="7315200" cy="54864"/>
          </a:xfrm>
          <a:prstGeom prst="rect">
            <a:avLst/>
          </a:prstGeom>
          <a:solidFill>
            <a:srgbClr val="2A35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914400" y="4114800"/>
            <a:ext cx="3657600" cy="54864"/>
          </a:xfrm>
          <a:prstGeom prst="rect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6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Permission modes</a:t>
            </a:r>
            <a:endParaRPr/>
          </a:p>
        </p:txBody>
      </p:sp>
      <p:sp>
        <p:nvSpPr>
          <p:cNvPr id="273" name="Google Shape;273;p17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What Claude Code lets Claude do without asking you. Interactive sessions start in auto mode, on any plan; one Shift+Tab switches to manual, where Claude Code asks first.</a:t>
            </a:r>
            <a:endParaRPr/>
          </a:p>
        </p:txBody>
      </p:sp>
      <p:pic>
        <p:nvPicPr>
          <p:cNvPr descr="image33.png" id="274" name="Google Shape;2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407" y="1700784"/>
            <a:ext cx="7949184" cy="2980944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7"/>
          <p:cNvSpPr txBox="1"/>
          <p:nvPr/>
        </p:nvSpPr>
        <p:spPr>
          <a:xfrm>
            <a:off x="548640" y="47914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Permission modes: Anthropic documentation, code.claude.com/docs/en/permission-modes (Claude Code 2.1.283 and later).</a:t>
            </a:r>
            <a:endParaRPr/>
          </a:p>
        </p:txBody>
      </p:sp>
      <p:sp>
        <p:nvSpPr>
          <p:cNvPr id="276" name="Google Shape;276;p17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8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Approving what Claude does</a:t>
            </a:r>
            <a:endParaRPr/>
          </a:p>
        </p:txBody>
      </p:sp>
      <p:sp>
        <p:nvSpPr>
          <p:cNvPr id="283" name="Google Shape;283;p18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In manual mode, Claude Code stops before each command and asks you. This is the prompt you see, and what each answer does.</a:t>
            </a:r>
            <a:endParaRPr/>
          </a:p>
        </p:txBody>
      </p:sp>
      <p:pic>
        <p:nvPicPr>
          <p:cNvPr descr="image34.png" id="284" name="Google Shape;28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407" y="1700784"/>
            <a:ext cx="7949184" cy="298094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8"/>
          <p:cNvSpPr txBox="1"/>
          <p:nvPr/>
        </p:nvSpPr>
        <p:spPr>
          <a:xfrm>
            <a:off x="548640" y="47914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Permission prompts: Anthropic documentation, code.claude.com/docs/en/permissions.</a:t>
            </a:r>
            <a:endParaRPr/>
          </a:p>
        </p:txBody>
      </p:sp>
      <p:sp>
        <p:nvSpPr>
          <p:cNvPr id="286" name="Google Shape;286;p18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Stopping, asking, and undoing</a:t>
            </a:r>
            <a:endParaRPr/>
          </a:p>
        </p:txBody>
      </p:sp>
      <p:sp>
        <p:nvSpPr>
          <p:cNvPr id="293" name="Google Shape;293;p19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You can stop Claude at any moment, ask a question on the side, or go back to an earlier point in the session.</a:t>
            </a:r>
            <a:endParaRPr/>
          </a:p>
        </p:txBody>
      </p:sp>
      <p:pic>
        <p:nvPicPr>
          <p:cNvPr descr="image63.png" id="294" name="Google Shape;29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407" y="1700784"/>
            <a:ext cx="7949184" cy="2980944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9"/>
          <p:cNvSpPr txBox="1"/>
          <p:nvPr/>
        </p:nvSpPr>
        <p:spPr>
          <a:xfrm>
            <a:off x="548640" y="47914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Checkpoints and /rewind: Anthropic documentation, code.claude.com/docs/en/checkpointing.</a:t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Running shell commands with !</a:t>
            </a:r>
            <a:endParaRPr/>
          </a:p>
        </p:txBody>
      </p:sp>
      <p:sp>
        <p:nvSpPr>
          <p:cNvPr id="303" name="Google Shape;303;p20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Start a line with </a:t>
            </a:r>
            <a:r>
              <a:rPr b="0" i="0" lang="en-US" sz="14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 to run that command yourself, with no approval step; Claude sees the output and replies to it.</a:t>
            </a:r>
            <a:endParaRPr/>
          </a:p>
        </p:txBody>
      </p:sp>
      <p:pic>
        <p:nvPicPr>
          <p:cNvPr descr="image48.png" id="304" name="Google Shape;3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407" y="1700784"/>
            <a:ext cx="7949184" cy="298094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0"/>
          <p:cNvSpPr txBox="1"/>
          <p:nvPr/>
        </p:nvSpPr>
        <p:spPr>
          <a:xfrm>
            <a:off x="548640" y="47914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Shell mode: Anthropic documentation, code.claude.com/docs/en/interactive-mode.</a:t>
            </a:r>
            <a:endParaRPr/>
          </a:p>
        </p:txBody>
      </p:sp>
      <p:sp>
        <p:nvSpPr>
          <p:cNvPr id="306" name="Google Shape;306;p20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Common slash commands</a:t>
            </a:r>
            <a:endParaRPr/>
          </a:p>
        </p:txBody>
      </p:sp>
      <p:sp>
        <p:nvSpPr>
          <p:cNvPr id="313" name="Google Shape;313;p21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Type </a:t>
            </a:r>
            <a:r>
              <a:rPr b="0" i="0" lang="en-US" sz="14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 to see every command; </a:t>
            </a:r>
            <a:r>
              <a:rPr b="0" i="0" lang="en-US" sz="14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/help</a:t>
            </a: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 is the full reference.</a:t>
            </a:r>
            <a:endParaRPr/>
          </a:p>
        </p:txBody>
      </p:sp>
      <p:pic>
        <p:nvPicPr>
          <p:cNvPr descr="image35.png" id="314" name="Google Shape;3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335" y="1700784"/>
            <a:ext cx="8339328" cy="3127248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1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/goal keeps Claude working until a condition holds</a:t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After every turn, a separate model checks your condition, so you don't prompt each step.</a:t>
            </a:r>
            <a:endParaRPr/>
          </a:p>
        </p:txBody>
      </p:sp>
      <p:pic>
        <p:nvPicPr>
          <p:cNvPr descr="image22.png" id="323" name="Google Shape;3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487" y="1700784"/>
            <a:ext cx="8397025" cy="2980944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2"/>
          <p:cNvSpPr txBox="1"/>
          <p:nvPr/>
        </p:nvSpPr>
        <p:spPr>
          <a:xfrm>
            <a:off x="548640" y="47914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/goal: Anthropic documentation, code.claude.com/docs/en/goal.</a:t>
            </a:r>
            <a:endParaRPr/>
          </a:p>
        </p:txBody>
      </p:sp>
      <p:sp>
        <p:nvSpPr>
          <p:cNvPr id="325" name="Google Shape;325;p22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3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Setting, checking, and clearing a goal</a:t>
            </a:r>
            <a:endParaRPr/>
          </a:p>
        </p:txBody>
      </p:sp>
      <p:sp>
        <p:nvSpPr>
          <p:cNvPr id="332" name="Google Shape;332;p23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One goal per session: the same command sets it, reports on it, and cancels it.</a:t>
            </a:r>
            <a:endParaRPr/>
          </a:p>
        </p:txBody>
      </p:sp>
      <p:pic>
        <p:nvPicPr>
          <p:cNvPr descr="image47.png" id="333" name="Google Shape;3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335" y="1700784"/>
            <a:ext cx="8339328" cy="3127248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3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4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/loop repeats a prompt on a schedule</a:t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For polling while the session stays open: a build, a batch job, a folder of results.</a:t>
            </a:r>
            <a:endParaRPr/>
          </a:p>
        </p:txBody>
      </p:sp>
      <p:pic>
        <p:nvPicPr>
          <p:cNvPr descr="image36.png" id="342" name="Google Shape;3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487" y="1700784"/>
            <a:ext cx="8397025" cy="2980944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4"/>
          <p:cNvSpPr txBox="1"/>
          <p:nvPr/>
        </p:nvSpPr>
        <p:spPr>
          <a:xfrm>
            <a:off x="548640" y="47914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/loop: Anthropic documentation, code.claude.com/docs/en/scheduled-tasks.</a:t>
            </a:r>
            <a:endParaRPr/>
          </a:p>
        </p:txBody>
      </p:sp>
      <p:sp>
        <p:nvSpPr>
          <p:cNvPr id="344" name="Google Shape;344;p24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5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5"/>
          <p:cNvSpPr txBox="1"/>
          <p:nvPr/>
        </p:nvSpPr>
        <p:spPr>
          <a:xfrm>
            <a:off x="914400" y="1874519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74A8FF"/>
                </a:solidFill>
                <a:latin typeface="Arial"/>
                <a:ea typeface="Arial"/>
                <a:cs typeface="Arial"/>
                <a:sym typeface="Arial"/>
              </a:rPr>
              <a:t>PART 4 OF 6</a:t>
            </a:r>
            <a:endParaRPr/>
          </a:p>
        </p:txBody>
      </p:sp>
      <p:sp>
        <p:nvSpPr>
          <p:cNvPr id="353" name="Google Shape;353;p25"/>
          <p:cNvSpPr txBox="1"/>
          <p:nvPr/>
        </p:nvSpPr>
        <p:spPr>
          <a:xfrm>
            <a:off x="914400" y="228600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Customization and extensibility</a:t>
            </a:r>
            <a:endParaRPr/>
          </a:p>
        </p:txBody>
      </p:sp>
      <p:sp>
        <p:nvSpPr>
          <p:cNvPr id="354" name="Google Shape;354;p25"/>
          <p:cNvSpPr txBox="1"/>
          <p:nvPr/>
        </p:nvSpPr>
        <p:spPr>
          <a:xfrm>
            <a:off x="914400" y="3127248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Adapting Claude Code to a project.</a:t>
            </a:r>
            <a:endParaRPr/>
          </a:p>
        </p:txBody>
      </p:sp>
      <p:sp>
        <p:nvSpPr>
          <p:cNvPr id="355" name="Google Shape;355;p25"/>
          <p:cNvSpPr/>
          <p:nvPr/>
        </p:nvSpPr>
        <p:spPr>
          <a:xfrm>
            <a:off x="914400" y="4114800"/>
            <a:ext cx="7315200" cy="54864"/>
          </a:xfrm>
          <a:prstGeom prst="rect">
            <a:avLst/>
          </a:prstGeom>
          <a:solidFill>
            <a:srgbClr val="2A35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5"/>
          <p:cNvSpPr/>
          <p:nvPr/>
        </p:nvSpPr>
        <p:spPr>
          <a:xfrm>
            <a:off x="914400" y="4114800"/>
            <a:ext cx="4876800" cy="54864"/>
          </a:xfrm>
          <a:prstGeom prst="rect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6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Everything around the model is configurable</a:t>
            </a:r>
            <a:endParaRPr/>
          </a:p>
        </p:txBody>
      </p:sp>
      <p:sp>
        <p:nvSpPr>
          <p:cNvPr id="364" name="Google Shape;364;p26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Claude Code, the harness, runs on your computer, and you configure it. Claude, the model, runs at Anthropic and does the reasoning.</a:t>
            </a:r>
            <a:endParaRPr/>
          </a:p>
        </p:txBody>
      </p:sp>
      <p:pic>
        <p:nvPicPr>
          <p:cNvPr descr="image57.png" id="365" name="Google Shape;36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335" y="1700784"/>
            <a:ext cx="8339328" cy="3127248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6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7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Project memory: CLAUDE.md</a:t>
            </a:r>
            <a:endParaRPr/>
          </a:p>
        </p:txBody>
      </p:sp>
      <p:sp>
        <p:nvSpPr>
          <p:cNvPr id="373" name="Google Shape;373;p27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Markdown files Claude Code loads automatically at the start of each session.</a:t>
            </a:r>
            <a:endParaRPr/>
          </a:p>
        </p:txBody>
      </p:sp>
      <p:pic>
        <p:nvPicPr>
          <p:cNvPr descr="image37.png" id="374" name="Google Shape;37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487" y="1700784"/>
            <a:ext cx="8397025" cy="2980944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7"/>
          <p:cNvSpPr txBox="1"/>
          <p:nvPr/>
        </p:nvSpPr>
        <p:spPr>
          <a:xfrm>
            <a:off x="548640" y="47914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Memory hierarchy and /init: Anthropic documentation, code.claude.com/docs/en/memory.</a:t>
            </a:r>
            <a:endParaRPr/>
          </a:p>
        </p:txBody>
      </p:sp>
      <p:sp>
        <p:nvSpPr>
          <p:cNvPr id="376" name="Google Shape;376;p27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8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Skills: routines you reuse</a:t>
            </a:r>
            <a:endParaRPr/>
          </a:p>
        </p:txBody>
      </p:sp>
      <p:sp>
        <p:nvSpPr>
          <p:cNvPr id="383" name="Google Shape;383;p28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A skill saves a routine you repeat. Type its name to run it, or just ask: Claude uses it on its own when what you ask matches its description.</a:t>
            </a:r>
            <a:endParaRPr/>
          </a:p>
        </p:txBody>
      </p:sp>
      <p:pic>
        <p:nvPicPr>
          <p:cNvPr descr="image58.png" id="384" name="Google Shape;38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407" y="1700784"/>
            <a:ext cx="7949184" cy="2980944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8"/>
          <p:cNvSpPr txBox="1"/>
          <p:nvPr/>
        </p:nvSpPr>
        <p:spPr>
          <a:xfrm>
            <a:off x="548640" y="47914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Skills: Anthropic documentation, code.claude.com/docs/en/skills.</a:t>
            </a:r>
            <a:endParaRPr/>
          </a:p>
        </p:txBody>
      </p:sp>
      <p:sp>
        <p:nvSpPr>
          <p:cNvPr id="386" name="Google Shape;386;p28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9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External tools and data: MCP</a:t>
            </a:r>
            <a:endParaRPr/>
          </a:p>
        </p:txBody>
      </p:sp>
      <p:sp>
        <p:nvSpPr>
          <p:cNvPr id="393" name="Google Shape;393;p29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The Model Context Protocol is an open standard that connects Claude Code to outside services, so Claude can read from them and write results back.</a:t>
            </a:r>
            <a:endParaRPr/>
          </a:p>
        </p:txBody>
      </p:sp>
      <p:pic>
        <p:nvPicPr>
          <p:cNvPr descr="image15.png" id="394" name="Google Shape;39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487" y="1700784"/>
            <a:ext cx="8397025" cy="2980944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9"/>
          <p:cNvSpPr txBox="1"/>
          <p:nvPr/>
        </p:nvSpPr>
        <p:spPr>
          <a:xfrm>
            <a:off x="548640" y="47914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MCP: Anthropic, "Introducing the Model Context Protocol" (2024); modelcontextprotocol.io.</a:t>
            </a:r>
            <a:endParaRPr/>
          </a:p>
        </p:txBody>
      </p:sp>
      <p:sp>
        <p:nvSpPr>
          <p:cNvPr id="396" name="Google Shape;396;p29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0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Moving files between a cluster and cloud storage</a:t>
            </a:r>
            <a:endParaRPr/>
          </a:p>
        </p:txBody>
      </p:sp>
      <p:sp>
        <p:nvSpPr>
          <p:cNvPr id="403" name="Google Shape;403;p30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No more downloading to your laptop and uploading again: ask in plain words, and the connector moves the file, in either direction.</a:t>
            </a:r>
            <a:endParaRPr/>
          </a:p>
        </p:txBody>
      </p:sp>
      <p:pic>
        <p:nvPicPr>
          <p:cNvPr descr="image59.png" id="404" name="Google Shape;40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407" y="1700784"/>
            <a:ext cx="7949184" cy="2980944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0"/>
          <p:cNvSpPr txBox="1"/>
          <p:nvPr/>
        </p:nvSpPr>
        <p:spPr>
          <a:xfrm>
            <a:off x="548640" y="47914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Sources: code.claude.com/docs/en/mcp; developer.box.com/guides/box-mcp; support.claude.com; docs.globus.org/cli.</a:t>
            </a:r>
            <a:endParaRPr/>
          </a:p>
        </p:txBody>
      </p:sp>
      <p:sp>
        <p:nvSpPr>
          <p:cNvPr id="406" name="Google Shape;406;p30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1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Hooks: rules that always run</a:t>
            </a:r>
            <a:endParaRPr/>
          </a:p>
        </p:txBody>
      </p:sp>
      <p:sp>
        <p:nvSpPr>
          <p:cNvPr id="413" name="Google Shape;413;p31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A hook is a small script you set up once. Claude Code runs it automatically at a fixed moment, such as just before a file is edited or just after a command runs, whatever Claude decides.</a:t>
            </a:r>
            <a:endParaRPr/>
          </a:p>
        </p:txBody>
      </p:sp>
      <p:pic>
        <p:nvPicPr>
          <p:cNvPr descr="image38.png" id="414" name="Google Shape;41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407" y="1700784"/>
            <a:ext cx="7949184" cy="298094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1"/>
          <p:cNvSpPr txBox="1"/>
          <p:nvPr/>
        </p:nvSpPr>
        <p:spPr>
          <a:xfrm>
            <a:off x="548640" y="47914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Hooks: Anthropic documentation, code.claude.com/docs/en/hooks-guide.</a:t>
            </a:r>
            <a:endParaRPr/>
          </a:p>
        </p:txBody>
      </p:sp>
      <p:sp>
        <p:nvSpPr>
          <p:cNvPr id="416" name="Google Shape;416;p31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2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Plugins share one setup across a group</a:t>
            </a:r>
            <a:endParaRPr/>
          </a:p>
        </p:txBody>
      </p:sp>
      <p:sp>
        <p:nvSpPr>
          <p:cNvPr id="423" name="Google Shape;423;p32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A plugin packages skills, subagents, hooks, and connectors, so a whole group installs the same setup in one step. Anthropic's official marketplace is available by default.</a:t>
            </a:r>
            <a:endParaRPr/>
          </a:p>
        </p:txBody>
      </p:sp>
      <p:pic>
        <p:nvPicPr>
          <p:cNvPr descr="image39.png" id="424" name="Google Shape;42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487" y="1700784"/>
            <a:ext cx="8397025" cy="2980944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2"/>
          <p:cNvSpPr txBox="1"/>
          <p:nvPr/>
        </p:nvSpPr>
        <p:spPr>
          <a:xfrm>
            <a:off x="548640" y="47914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Plugins: Anthropic documentation, code.claude.com/docs/en/plugins.</a:t>
            </a:r>
            <a:endParaRPr/>
          </a:p>
        </p:txBody>
      </p:sp>
      <p:sp>
        <p:nvSpPr>
          <p:cNvPr id="426" name="Google Shape;426;p32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3"/>
          <p:cNvSpPr txBox="1"/>
          <p:nvPr/>
        </p:nvSpPr>
        <p:spPr>
          <a:xfrm>
            <a:off x="914400" y="1874519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74A8FF"/>
                </a:solidFill>
                <a:latin typeface="Arial"/>
                <a:ea typeface="Arial"/>
                <a:cs typeface="Arial"/>
                <a:sym typeface="Arial"/>
              </a:rPr>
              <a:t>PART 5 OF 6</a:t>
            </a:r>
            <a:endParaRPr/>
          </a:p>
        </p:txBody>
      </p:sp>
      <p:sp>
        <p:nvSpPr>
          <p:cNvPr id="435" name="Google Shape;435;p33"/>
          <p:cNvSpPr txBox="1"/>
          <p:nvPr/>
        </p:nvSpPr>
        <p:spPr>
          <a:xfrm>
            <a:off x="914400" y="228600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The cluster and automation</a:t>
            </a:r>
            <a:endParaRPr/>
          </a:p>
        </p:txBody>
      </p:sp>
      <p:sp>
        <p:nvSpPr>
          <p:cNvPr id="436" name="Google Shape;436;p33"/>
          <p:cNvSpPr txBox="1"/>
          <p:nvPr/>
        </p:nvSpPr>
        <p:spPr>
          <a:xfrm>
            <a:off x="914400" y="3127248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Everyday cluster work in plain language, then three ways to run Claude Code.</a:t>
            </a:r>
            <a:endParaRPr/>
          </a:p>
        </p:txBody>
      </p:sp>
      <p:sp>
        <p:nvSpPr>
          <p:cNvPr id="437" name="Google Shape;437;p33"/>
          <p:cNvSpPr/>
          <p:nvPr/>
        </p:nvSpPr>
        <p:spPr>
          <a:xfrm>
            <a:off x="914400" y="4114800"/>
            <a:ext cx="7315200" cy="54864"/>
          </a:xfrm>
          <a:prstGeom prst="rect">
            <a:avLst/>
          </a:prstGeom>
          <a:solidFill>
            <a:srgbClr val="2A35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3"/>
          <p:cNvSpPr/>
          <p:nvPr/>
        </p:nvSpPr>
        <p:spPr>
          <a:xfrm>
            <a:off x="914400" y="4114800"/>
            <a:ext cx="6096000" cy="54864"/>
          </a:xfrm>
          <a:prstGeom prst="rect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3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4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Cluster work in plain language</a:t>
            </a:r>
            <a:endParaRPr/>
          </a:p>
        </p:txBody>
      </p:sp>
      <p:sp>
        <p:nvSpPr>
          <p:cNvPr id="446" name="Google Shape;446;p34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On any cluster that runs the Slurm scheduler, Claude Code runs the same commands you would, and Claude explains what they report.</a:t>
            </a:r>
            <a:endParaRPr/>
          </a:p>
        </p:txBody>
      </p:sp>
      <p:pic>
        <p:nvPicPr>
          <p:cNvPr descr="image60.png" id="447" name="Google Shape;44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335" y="1700784"/>
            <a:ext cx="8339328" cy="3127248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4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5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Three ways to run Claude Code</a:t>
            </a:r>
            <a:endParaRPr/>
          </a:p>
        </p:txBody>
      </p:sp>
      <p:sp>
        <p:nvSpPr>
          <p:cNvPr id="455" name="Google Shape;455;p35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Three ways in: you at the keyboard, a script with no one watching, or your own program.</a:t>
            </a:r>
            <a:endParaRPr/>
          </a:p>
        </p:txBody>
      </p:sp>
      <p:pic>
        <p:nvPicPr>
          <p:cNvPr descr="image64.png" id="456" name="Google Shape;45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407" y="1700784"/>
            <a:ext cx="7949184" cy="2980944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5"/>
          <p:cNvSpPr txBox="1"/>
          <p:nvPr/>
        </p:nvSpPr>
        <p:spPr>
          <a:xfrm>
            <a:off x="548640" y="47914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Anthropic documentation: code.claude.com/docs/en/headless; code.claude.com/docs/en/agent-sdk.</a:t>
            </a:r>
            <a:endParaRPr/>
          </a:p>
        </p:txBody>
      </p:sp>
      <p:sp>
        <p:nvSpPr>
          <p:cNvPr id="458" name="Google Shape;458;p35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6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Headless mode runs one task and exits</a:t>
            </a:r>
            <a:endParaRPr/>
          </a:p>
        </p:txBody>
      </p:sp>
      <p:sp>
        <p:nvSpPr>
          <p:cNvPr id="465" name="Google Shape;465;p36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For work that should run without you: </a:t>
            </a:r>
            <a:r>
              <a:rPr b="0" i="0" lang="en-US" sz="14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claude -p</a:t>
            </a: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 takes a prompt, works without a chat, prints the result, and exits.</a:t>
            </a:r>
            <a:endParaRPr/>
          </a:p>
        </p:txBody>
      </p:sp>
      <p:pic>
        <p:nvPicPr>
          <p:cNvPr descr="image41.png" id="466" name="Google Shape;46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487" y="1700784"/>
            <a:ext cx="8397025" cy="2980944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36"/>
          <p:cNvSpPr txBox="1"/>
          <p:nvPr/>
        </p:nvSpPr>
        <p:spPr>
          <a:xfrm>
            <a:off x="548640" y="47914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Headless mode: Anthropic documentation, code.claude.com/docs/en/headless.</a:t>
            </a:r>
            <a:endParaRPr/>
          </a:p>
        </p:txBody>
      </p:sp>
      <p:sp>
        <p:nvSpPr>
          <p:cNvPr id="468" name="Google Shape;468;p36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7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The Agent SDK: Claude Code inside your program</a:t>
            </a:r>
            <a:endParaRPr/>
          </a:p>
        </p:txBody>
      </p:sp>
      <p:sp>
        <p:nvSpPr>
          <p:cNvPr id="475" name="Google Shape;475;p37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A Python or TypeScript library that runs the same agent loop and tools, steered by your code instead of a person.</a:t>
            </a:r>
            <a:endParaRPr/>
          </a:p>
        </p:txBody>
      </p:sp>
      <p:pic>
        <p:nvPicPr>
          <p:cNvPr descr="image65.png" id="476" name="Google Shape;47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407" y="1700784"/>
            <a:ext cx="7949184" cy="2980944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 txBox="1"/>
          <p:nvPr/>
        </p:nvSpPr>
        <p:spPr>
          <a:xfrm>
            <a:off x="548640" y="47914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Agent SDK: Anthropic documentation, code.claude.com/docs/en/agent-sdk.</a:t>
            </a:r>
            <a:endParaRPr/>
          </a:p>
        </p:txBody>
      </p:sp>
      <p:sp>
        <p:nvSpPr>
          <p:cNvPr id="478" name="Google Shape;478;p37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8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8"/>
          <p:cNvSpPr txBox="1"/>
          <p:nvPr/>
        </p:nvSpPr>
        <p:spPr>
          <a:xfrm>
            <a:off x="914400" y="1874519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PART 6 OF 6</a:t>
            </a:r>
            <a:endParaRPr/>
          </a:p>
        </p:txBody>
      </p:sp>
      <p:sp>
        <p:nvSpPr>
          <p:cNvPr id="487" name="Google Shape;487;p38"/>
          <p:cNvSpPr txBox="1"/>
          <p:nvPr/>
        </p:nvSpPr>
        <p:spPr>
          <a:xfrm>
            <a:off x="914400" y="228600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Hands-on exercise</a:t>
            </a:r>
            <a:endParaRPr/>
          </a:p>
        </p:txBody>
      </p:sp>
      <p:sp>
        <p:nvSpPr>
          <p:cNvPr id="488" name="Google Shape;488;p38"/>
          <p:cNvSpPr txBox="1"/>
          <p:nvPr/>
        </p:nvSpPr>
        <p:spPr>
          <a:xfrm>
            <a:off x="914400" y="3127248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Practising Claude Code on a small analysis, on your own computer.</a:t>
            </a:r>
            <a:endParaRPr/>
          </a:p>
        </p:txBody>
      </p:sp>
      <p:sp>
        <p:nvSpPr>
          <p:cNvPr id="489" name="Google Shape;489;p38"/>
          <p:cNvSpPr/>
          <p:nvPr/>
        </p:nvSpPr>
        <p:spPr>
          <a:xfrm>
            <a:off x="914400" y="4114800"/>
            <a:ext cx="7315200" cy="54864"/>
          </a:xfrm>
          <a:prstGeom prst="rect">
            <a:avLst/>
          </a:prstGeom>
          <a:solidFill>
            <a:srgbClr val="2A35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8"/>
          <p:cNvSpPr/>
          <p:nvPr/>
        </p:nvSpPr>
        <p:spPr>
          <a:xfrm>
            <a:off x="914400" y="4114800"/>
            <a:ext cx="7315200" cy="54864"/>
          </a:xfrm>
          <a:prstGeom prst="rect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8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38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9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The exercise on GitHub</a:t>
            </a:r>
            <a:endParaRPr/>
          </a:p>
        </p:txBody>
      </p:sp>
      <p:sp>
        <p:nvSpPr>
          <p:cNvPr id="498" name="Google Shape;498;p39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Every prompt the exercise uses, the answer key, and the setup, ready to copy and paste.</a:t>
            </a:r>
            <a:endParaRPr/>
          </a:p>
        </p:txBody>
      </p:sp>
      <p:sp>
        <p:nvSpPr>
          <p:cNvPr id="499" name="Google Shape;499;p39">
            <a:hlinkClick r:id="rId3"/>
          </p:cNvPr>
          <p:cNvSpPr txBox="1"/>
          <p:nvPr/>
        </p:nvSpPr>
        <p:spPr>
          <a:xfrm>
            <a:off x="320040" y="1719072"/>
            <a:ext cx="8503920" cy="392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75">
                <a:solidFill>
                  <a:srgbClr val="37C6D4"/>
                </a:solidFill>
                <a:latin typeface="Courier New"/>
                <a:ea typeface="Courier New"/>
                <a:cs typeface="Courier New"/>
                <a:sym typeface="Courier New"/>
              </a:rPr>
              <a:t>github.com/PursuitOfDataScience/uchicago-workshops/tree/main/claude-code-tutorial</a:t>
            </a:r>
            <a:endParaRPr/>
          </a:p>
        </p:txBody>
      </p:sp>
      <p:sp>
        <p:nvSpPr>
          <p:cNvPr id="500" name="Google Shape;500;p39"/>
          <p:cNvSpPr/>
          <p:nvPr/>
        </p:nvSpPr>
        <p:spPr>
          <a:xfrm>
            <a:off x="548640" y="2385822"/>
            <a:ext cx="6108192" cy="2103120"/>
          </a:xfrm>
          <a:prstGeom prst="roundRect">
            <a:avLst>
              <a:gd fmla="val 3478" name="adj"/>
            </a:avLst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9"/>
          <p:cNvSpPr/>
          <p:nvPr/>
        </p:nvSpPr>
        <p:spPr>
          <a:xfrm>
            <a:off x="557784" y="2806446"/>
            <a:ext cx="6089904" cy="1097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9"/>
          <p:cNvSpPr/>
          <p:nvPr/>
        </p:nvSpPr>
        <p:spPr>
          <a:xfrm>
            <a:off x="713232" y="2468118"/>
            <a:ext cx="801534" cy="256032"/>
          </a:xfrm>
          <a:prstGeom prst="roundRect">
            <a:avLst>
              <a:gd fmla="val 21428" name="adj"/>
            </a:avLst>
          </a:prstGeom>
          <a:solidFill>
            <a:srgbClr val="21262D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9"/>
          <p:cNvSpPr/>
          <p:nvPr/>
        </p:nvSpPr>
        <p:spPr>
          <a:xfrm>
            <a:off x="822959" y="2504694"/>
            <a:ext cx="54864" cy="54864"/>
          </a:xfrm>
          <a:prstGeom prst="ellipse">
            <a:avLst/>
          </a:prstGeom>
          <a:noFill/>
          <a:ln cap="flat" cmpd="sng" w="12700">
            <a:solidFill>
              <a:srgbClr val="9DA7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9"/>
          <p:cNvSpPr/>
          <p:nvPr/>
        </p:nvSpPr>
        <p:spPr>
          <a:xfrm>
            <a:off x="822959" y="2632710"/>
            <a:ext cx="54864" cy="54864"/>
          </a:xfrm>
          <a:prstGeom prst="ellipse">
            <a:avLst/>
          </a:prstGeom>
          <a:noFill/>
          <a:ln cap="flat" cmpd="sng" w="12700">
            <a:solidFill>
              <a:srgbClr val="9DA7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9"/>
          <p:cNvSpPr/>
          <p:nvPr/>
        </p:nvSpPr>
        <p:spPr>
          <a:xfrm>
            <a:off x="844905" y="2559558"/>
            <a:ext cx="10972" cy="73152"/>
          </a:xfrm>
          <a:prstGeom prst="rect">
            <a:avLst/>
          </a:prstGeom>
          <a:solidFill>
            <a:srgbClr val="9DA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9"/>
          <p:cNvSpPr txBox="1"/>
          <p:nvPr/>
        </p:nvSpPr>
        <p:spPr>
          <a:xfrm>
            <a:off x="969264" y="2468118"/>
            <a:ext cx="52721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507" name="Google Shape;507;p39"/>
          <p:cNvSpPr txBox="1"/>
          <p:nvPr/>
        </p:nvSpPr>
        <p:spPr>
          <a:xfrm>
            <a:off x="1624494" y="2468118"/>
            <a:ext cx="4849457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54AEFF"/>
                </a:solidFill>
                <a:latin typeface="Arial"/>
                <a:ea typeface="Arial"/>
                <a:cs typeface="Arial"/>
                <a:sym typeface="Arial"/>
              </a:rPr>
              <a:t>uchicago-workshops</a:t>
            </a:r>
            <a:r>
              <a:rPr b="0" i="0" lang="en-US" sz="1200">
                <a:solidFill>
                  <a:srgbClr val="9DA7B3"/>
                </a:solidFill>
                <a:latin typeface="Arial"/>
                <a:ea typeface="Arial"/>
                <a:cs typeface="Arial"/>
                <a:sym typeface="Arial"/>
              </a:rPr>
              <a:t>  /  </a:t>
            </a:r>
            <a:r>
              <a:rPr b="1" i="0" lang="en-US" sz="1200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claude-code-tutorial</a:t>
            </a:r>
            <a:endParaRPr/>
          </a:p>
        </p:txBody>
      </p:sp>
      <p:sp>
        <p:nvSpPr>
          <p:cNvPr id="508" name="Google Shape;508;p39"/>
          <p:cNvSpPr/>
          <p:nvPr/>
        </p:nvSpPr>
        <p:spPr>
          <a:xfrm>
            <a:off x="731520" y="3018282"/>
            <a:ext cx="182880" cy="137160"/>
          </a:xfrm>
          <a:custGeom>
            <a:rect b="b" l="l" r="r" t="t"/>
            <a:pathLst>
              <a:path extrusionOk="0" h="137160" w="182880">
                <a:moveTo>
                  <a:pt x="0" y="0"/>
                </a:moveTo>
                <a:lnTo>
                  <a:pt x="73152" y="0"/>
                </a:lnTo>
                <a:lnTo>
                  <a:pt x="91440" y="24688"/>
                </a:lnTo>
                <a:lnTo>
                  <a:pt x="182880" y="24688"/>
                </a:lnTo>
                <a:lnTo>
                  <a:pt x="182880" y="137160"/>
                </a:lnTo>
                <a:lnTo>
                  <a:pt x="0" y="137160"/>
                </a:lnTo>
                <a:close/>
              </a:path>
            </a:pathLst>
          </a:custGeom>
          <a:solidFill>
            <a:srgbClr val="54AE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9"/>
          <p:cNvSpPr txBox="1"/>
          <p:nvPr/>
        </p:nvSpPr>
        <p:spPr>
          <a:xfrm>
            <a:off x="1024128" y="2949702"/>
            <a:ext cx="12056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/>
          </a:p>
        </p:txBody>
      </p:sp>
      <p:sp>
        <p:nvSpPr>
          <p:cNvPr id="510" name="Google Shape;510;p39"/>
          <p:cNvSpPr txBox="1"/>
          <p:nvPr/>
        </p:nvSpPr>
        <p:spPr>
          <a:xfrm>
            <a:off x="2229826" y="2949702"/>
            <a:ext cx="426241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DA7B3"/>
                </a:solidFill>
                <a:latin typeface="Arial"/>
                <a:ea typeface="Arial"/>
                <a:cs typeface="Arial"/>
                <a:sym typeface="Arial"/>
              </a:rPr>
              <a:t>the exercise: every prompt, and the answer key</a:t>
            </a:r>
            <a:endParaRPr/>
          </a:p>
        </p:txBody>
      </p:sp>
      <p:sp>
        <p:nvSpPr>
          <p:cNvPr id="511" name="Google Shape;511;p39"/>
          <p:cNvSpPr/>
          <p:nvPr/>
        </p:nvSpPr>
        <p:spPr>
          <a:xfrm>
            <a:off x="557784" y="3367278"/>
            <a:ext cx="6089904" cy="731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9"/>
          <p:cNvSpPr/>
          <p:nvPr/>
        </p:nvSpPr>
        <p:spPr>
          <a:xfrm>
            <a:off x="731520" y="3579114"/>
            <a:ext cx="182880" cy="137160"/>
          </a:xfrm>
          <a:custGeom>
            <a:rect b="b" l="l" r="r" t="t"/>
            <a:pathLst>
              <a:path extrusionOk="0" h="137160" w="182880">
                <a:moveTo>
                  <a:pt x="0" y="0"/>
                </a:moveTo>
                <a:lnTo>
                  <a:pt x="73152" y="0"/>
                </a:lnTo>
                <a:lnTo>
                  <a:pt x="91440" y="24688"/>
                </a:lnTo>
                <a:lnTo>
                  <a:pt x="182880" y="24688"/>
                </a:lnTo>
                <a:lnTo>
                  <a:pt x="182880" y="137160"/>
                </a:lnTo>
                <a:lnTo>
                  <a:pt x="0" y="137160"/>
                </a:lnTo>
                <a:close/>
              </a:path>
            </a:pathLst>
          </a:custGeom>
          <a:solidFill>
            <a:srgbClr val="54AE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9"/>
          <p:cNvSpPr txBox="1"/>
          <p:nvPr/>
        </p:nvSpPr>
        <p:spPr>
          <a:xfrm>
            <a:off x="1024128" y="3510534"/>
            <a:ext cx="12056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sdk</a:t>
            </a:r>
            <a:endParaRPr/>
          </a:p>
        </p:txBody>
      </p:sp>
      <p:sp>
        <p:nvSpPr>
          <p:cNvPr id="514" name="Google Shape;514;p39"/>
          <p:cNvSpPr txBox="1"/>
          <p:nvPr/>
        </p:nvSpPr>
        <p:spPr>
          <a:xfrm>
            <a:off x="2229826" y="3510534"/>
            <a:ext cx="426241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DA7B3"/>
                </a:solidFill>
                <a:latin typeface="Arial"/>
                <a:ea typeface="Arial"/>
                <a:cs typeface="Arial"/>
                <a:sym typeface="Arial"/>
              </a:rPr>
              <a:t>the same analysis, driven from Python</a:t>
            </a:r>
            <a:endParaRPr/>
          </a:p>
        </p:txBody>
      </p:sp>
      <p:sp>
        <p:nvSpPr>
          <p:cNvPr id="515" name="Google Shape;515;p39"/>
          <p:cNvSpPr/>
          <p:nvPr/>
        </p:nvSpPr>
        <p:spPr>
          <a:xfrm>
            <a:off x="557784" y="3928110"/>
            <a:ext cx="6089904" cy="731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9"/>
          <p:cNvSpPr/>
          <p:nvPr/>
        </p:nvSpPr>
        <p:spPr>
          <a:xfrm>
            <a:off x="749808" y="4117086"/>
            <a:ext cx="137160" cy="182880"/>
          </a:xfrm>
          <a:custGeom>
            <a:rect b="b" l="l" r="r" t="t"/>
            <a:pathLst>
              <a:path extrusionOk="0" h="182880" w="137160">
                <a:moveTo>
                  <a:pt x="0" y="0"/>
                </a:moveTo>
                <a:lnTo>
                  <a:pt x="93268" y="0"/>
                </a:lnTo>
                <a:lnTo>
                  <a:pt x="137160" y="43891"/>
                </a:lnTo>
                <a:lnTo>
                  <a:pt x="137160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0D1117"/>
          </a:solidFill>
          <a:ln cap="flat" cmpd="sng" w="12700">
            <a:solidFill>
              <a:srgbClr val="9DA7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9"/>
          <p:cNvSpPr/>
          <p:nvPr/>
        </p:nvSpPr>
        <p:spPr>
          <a:xfrm>
            <a:off x="843076" y="4117086"/>
            <a:ext cx="43892" cy="43891"/>
          </a:xfrm>
          <a:custGeom>
            <a:rect b="b" l="l" r="r" t="t"/>
            <a:pathLst>
              <a:path extrusionOk="0" h="43891" w="43892">
                <a:moveTo>
                  <a:pt x="0" y="0"/>
                </a:moveTo>
                <a:lnTo>
                  <a:pt x="0" y="43891"/>
                </a:lnTo>
                <a:lnTo>
                  <a:pt x="43892" y="43891"/>
                </a:lnTo>
                <a:close/>
              </a:path>
            </a:pathLst>
          </a:custGeom>
          <a:solidFill>
            <a:srgbClr val="9DA7B3"/>
          </a:solidFill>
          <a:ln cap="flat" cmpd="sng" w="12700">
            <a:solidFill>
              <a:srgbClr val="9DA7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9"/>
          <p:cNvSpPr/>
          <p:nvPr/>
        </p:nvSpPr>
        <p:spPr>
          <a:xfrm>
            <a:off x="777240" y="4192981"/>
            <a:ext cx="85039" cy="16459"/>
          </a:xfrm>
          <a:prstGeom prst="rect">
            <a:avLst/>
          </a:prstGeom>
          <a:solidFill>
            <a:srgbClr val="9DA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9"/>
          <p:cNvSpPr/>
          <p:nvPr/>
        </p:nvSpPr>
        <p:spPr>
          <a:xfrm>
            <a:off x="777240" y="4222127"/>
            <a:ext cx="85039" cy="16459"/>
          </a:xfrm>
          <a:prstGeom prst="rect">
            <a:avLst/>
          </a:prstGeom>
          <a:solidFill>
            <a:srgbClr val="9DA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9"/>
          <p:cNvSpPr/>
          <p:nvPr/>
        </p:nvSpPr>
        <p:spPr>
          <a:xfrm>
            <a:off x="777240" y="4251274"/>
            <a:ext cx="57607" cy="16459"/>
          </a:xfrm>
          <a:prstGeom prst="rect">
            <a:avLst/>
          </a:prstGeom>
          <a:solidFill>
            <a:srgbClr val="9DA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9"/>
          <p:cNvSpPr txBox="1"/>
          <p:nvPr/>
        </p:nvSpPr>
        <p:spPr>
          <a:xfrm>
            <a:off x="1024128" y="4071365"/>
            <a:ext cx="12056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README.md</a:t>
            </a:r>
            <a:endParaRPr/>
          </a:p>
        </p:txBody>
      </p:sp>
      <p:sp>
        <p:nvSpPr>
          <p:cNvPr id="522" name="Google Shape;522;p39"/>
          <p:cNvSpPr txBox="1"/>
          <p:nvPr/>
        </p:nvSpPr>
        <p:spPr>
          <a:xfrm>
            <a:off x="2229826" y="4071365"/>
            <a:ext cx="426241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DA7B3"/>
                </a:solidFill>
                <a:latin typeface="Arial"/>
                <a:ea typeface="Arial"/>
                <a:cs typeface="Arial"/>
                <a:sym typeface="Arial"/>
              </a:rPr>
              <a:t>setup and every step, ready to copy and paste</a:t>
            </a:r>
            <a:endParaRPr/>
          </a:p>
        </p:txBody>
      </p:sp>
      <p:sp>
        <p:nvSpPr>
          <p:cNvPr id="523" name="Google Shape;523;p39"/>
          <p:cNvSpPr/>
          <p:nvPr/>
        </p:nvSpPr>
        <p:spPr>
          <a:xfrm>
            <a:off x="7114032" y="2385822"/>
            <a:ext cx="1481328" cy="1481328"/>
          </a:xfrm>
          <a:prstGeom prst="roundRect">
            <a:avLst>
              <a:gd fmla="val 49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r_github.png" id="524" name="Google Shape;52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87184" y="2458974"/>
            <a:ext cx="1335024" cy="1335024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9"/>
          <p:cNvSpPr txBox="1"/>
          <p:nvPr/>
        </p:nvSpPr>
        <p:spPr>
          <a:xfrm>
            <a:off x="6931152" y="3976878"/>
            <a:ext cx="1847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Scan to open it on a phone</a:t>
            </a:r>
            <a:endParaRPr/>
          </a:p>
        </p:txBody>
      </p:sp>
      <p:sp>
        <p:nvSpPr>
          <p:cNvPr id="526" name="Google Shape;526;p39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0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Every step is a numbered prompt file</a:t>
            </a:r>
            <a:endParaRPr/>
          </a:p>
        </p:txBody>
      </p:sp>
      <p:sp>
        <p:nvSpPr>
          <p:cNvPr id="533" name="Google Shape;533;p40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Each step is a prompt file in </a:t>
            </a:r>
            <a:r>
              <a:rPr b="0" i="0" lang="en-US" sz="14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hands-on/</a:t>
            </a: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, so you type one short line. Here is step 1.</a:t>
            </a:r>
            <a:endParaRPr/>
          </a:p>
        </p:txBody>
      </p:sp>
      <p:pic>
        <p:nvPicPr>
          <p:cNvPr descr="image44.png" id="534" name="Google Shape;53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335" y="1700784"/>
            <a:ext cx="8339328" cy="3127248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40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41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The steps of the exercise</a:t>
            </a:r>
            <a:endParaRPr/>
          </a:p>
        </p:txBody>
      </p:sp>
      <p:sp>
        <p:nvSpPr>
          <p:cNvPr id="542" name="Google Shape;542;p41"/>
          <p:cNvSpPr txBox="1"/>
          <p:nvPr/>
        </p:nvSpPr>
        <p:spPr>
          <a:xfrm>
            <a:off x="548640" y="1133856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Each step practises one part of Claude Code, in one running session on your own computer; then a take-home.</a:t>
            </a:r>
            <a:endParaRPr/>
          </a:p>
        </p:txBody>
      </p:sp>
      <p:pic>
        <p:nvPicPr>
          <p:cNvPr descr="image45.png" id="543" name="Google Shape;54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335" y="1700784"/>
            <a:ext cx="8339328" cy="3127248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41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42"/>
          <p:cNvSpPr/>
          <p:nvPr/>
        </p:nvSpPr>
        <p:spPr>
          <a:xfrm>
            <a:off x="548640" y="219456"/>
            <a:ext cx="1075944" cy="256032"/>
          </a:xfrm>
          <a:prstGeom prst="roundRect">
            <a:avLst>
              <a:gd fmla="val 21428" name="adj"/>
            </a:avLst>
          </a:prstGeom>
          <a:solidFill>
            <a:srgbClr val="74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42"/>
          <p:cNvSpPr txBox="1"/>
          <p:nvPr/>
        </p:nvSpPr>
        <p:spPr>
          <a:xfrm>
            <a:off x="548640" y="219456"/>
            <a:ext cx="1075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8121A"/>
                </a:solidFill>
                <a:latin typeface="Courier New"/>
                <a:ea typeface="Courier New"/>
                <a:cs typeface="Courier New"/>
                <a:sym typeface="Courier New"/>
              </a:rPr>
              <a:t>1 · set up</a:t>
            </a:r>
            <a:endParaRPr/>
          </a:p>
        </p:txBody>
      </p:sp>
      <p:sp>
        <p:nvSpPr>
          <p:cNvPr id="552" name="Google Shape;552;p42"/>
          <p:cNvSpPr txBox="1"/>
          <p:nvPr/>
        </p:nvSpPr>
        <p:spPr>
          <a:xfrm>
            <a:off x="1761744" y="219456"/>
            <a:ext cx="6833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Step 1 of 6 · the exercise runs on Sonnet 5.5 at medium effort</a:t>
            </a:r>
            <a:endParaRPr/>
          </a:p>
        </p:txBody>
      </p:sp>
      <p:sp>
        <p:nvSpPr>
          <p:cNvPr id="553" name="Google Shape;553;p42"/>
          <p:cNvSpPr txBox="1"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Set up the exercise</a:t>
            </a:r>
            <a:endParaRPr/>
          </a:p>
        </p:txBody>
      </p:sp>
      <p:sp>
        <p:nvSpPr>
          <p:cNvPr id="554" name="Google Shape;554;p42"/>
          <p:cNvSpPr/>
          <p:nvPr/>
        </p:nvSpPr>
        <p:spPr>
          <a:xfrm>
            <a:off x="548640" y="4211726"/>
            <a:ext cx="8046720" cy="451713"/>
          </a:xfrm>
          <a:prstGeom prst="roundRect">
            <a:avLst>
              <a:gd fmla="val 16194" name="adj"/>
            </a:avLst>
          </a:prstGeom>
          <a:solidFill>
            <a:srgbClr val="2621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2"/>
          <p:cNvSpPr/>
          <p:nvPr/>
        </p:nvSpPr>
        <p:spPr>
          <a:xfrm>
            <a:off x="548640" y="4266590"/>
            <a:ext cx="54864" cy="341985"/>
          </a:xfrm>
          <a:prstGeom prst="rect">
            <a:avLst/>
          </a:prstGeom>
          <a:solidFill>
            <a:srgbClr val="EBB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42"/>
          <p:cNvSpPr txBox="1"/>
          <p:nvPr/>
        </p:nvSpPr>
        <p:spPr>
          <a:xfrm>
            <a:off x="804672" y="4211726"/>
            <a:ext cx="7589520" cy="451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EBB661"/>
                </a:solidFill>
                <a:latin typeface="Arial"/>
                <a:ea typeface="Arial"/>
                <a:cs typeface="Arial"/>
                <a:sym typeface="Arial"/>
              </a:rPr>
              <a:t>As it runs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  Allow each command once, or choose “don't ask again” for a harmless one.</a:t>
            </a:r>
            <a:endParaRPr/>
          </a:p>
        </p:txBody>
      </p:sp>
      <p:sp>
        <p:nvSpPr>
          <p:cNvPr id="557" name="Google Shape;557;p42"/>
          <p:cNvSpPr/>
          <p:nvPr/>
        </p:nvSpPr>
        <p:spPr>
          <a:xfrm>
            <a:off x="548640" y="1375714"/>
            <a:ext cx="292608" cy="292608"/>
          </a:xfrm>
          <a:prstGeom prst="ellipse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58" name="Google Shape;558;p42"/>
          <p:cNvSpPr txBox="1"/>
          <p:nvPr/>
        </p:nvSpPr>
        <p:spPr>
          <a:xfrm>
            <a:off x="950976" y="1357426"/>
            <a:ext cx="10698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Install</a:t>
            </a:r>
            <a:endParaRPr/>
          </a:p>
        </p:txBody>
      </p:sp>
      <p:sp>
        <p:nvSpPr>
          <p:cNvPr id="559" name="Google Shape;559;p42"/>
          <p:cNvSpPr/>
          <p:nvPr/>
        </p:nvSpPr>
        <p:spPr>
          <a:xfrm>
            <a:off x="2057400" y="1335024"/>
            <a:ext cx="6537960" cy="373989"/>
          </a:xfrm>
          <a:prstGeom prst="roundRect">
            <a:avLst>
              <a:gd fmla="val 19559" name="adj"/>
            </a:avLst>
          </a:prstGeom>
          <a:solidFill>
            <a:srgbClr val="0C1219"/>
          </a:solidFill>
          <a:ln cap="flat" cmpd="sng" w="12700">
            <a:solidFill>
              <a:srgbClr val="2A35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42"/>
          <p:cNvSpPr txBox="1"/>
          <p:nvPr/>
        </p:nvSpPr>
        <p:spPr>
          <a:xfrm>
            <a:off x="2221992" y="1435608"/>
            <a:ext cx="6245352" cy="209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7A8699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050">
                <a:solidFill>
                  <a:srgbClr val="D6DCE6"/>
                </a:solidFill>
                <a:latin typeface="Courier New"/>
                <a:ea typeface="Courier New"/>
                <a:cs typeface="Courier New"/>
                <a:sym typeface="Courier New"/>
              </a:rPr>
              <a:t>curl -fsSL https://claude.ai/install.sh | bash</a:t>
            </a:r>
            <a:endParaRPr/>
          </a:p>
        </p:txBody>
      </p:sp>
      <p:sp>
        <p:nvSpPr>
          <p:cNvPr id="561" name="Google Shape;561;p42"/>
          <p:cNvSpPr txBox="1"/>
          <p:nvPr/>
        </p:nvSpPr>
        <p:spPr>
          <a:xfrm>
            <a:off x="2103120" y="1736445"/>
            <a:ext cx="6537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Windows PowerShell: </a:t>
            </a:r>
            <a:r>
              <a:rPr b="0" i="0" lang="en-US" sz="1100">
                <a:solidFill>
                  <a:srgbClr val="9BA6B4"/>
                </a:solidFill>
                <a:latin typeface="Courier New"/>
                <a:ea typeface="Courier New"/>
                <a:cs typeface="Courier New"/>
                <a:sym typeface="Courier New"/>
              </a:rPr>
              <a:t>irm https://claude.ai/install.ps1 | iex</a:t>
            </a:r>
            <a:endParaRPr/>
          </a:p>
        </p:txBody>
      </p:sp>
      <p:sp>
        <p:nvSpPr>
          <p:cNvPr id="562" name="Google Shape;562;p42"/>
          <p:cNvSpPr/>
          <p:nvPr/>
        </p:nvSpPr>
        <p:spPr>
          <a:xfrm>
            <a:off x="548640" y="2147925"/>
            <a:ext cx="292608" cy="292608"/>
          </a:xfrm>
          <a:prstGeom prst="ellipse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63" name="Google Shape;563;p42"/>
          <p:cNvSpPr txBox="1"/>
          <p:nvPr/>
        </p:nvSpPr>
        <p:spPr>
          <a:xfrm>
            <a:off x="950976" y="2129637"/>
            <a:ext cx="10698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Get the files</a:t>
            </a:r>
            <a:endParaRPr/>
          </a:p>
        </p:txBody>
      </p:sp>
      <p:sp>
        <p:nvSpPr>
          <p:cNvPr id="564" name="Google Shape;564;p42"/>
          <p:cNvSpPr/>
          <p:nvPr/>
        </p:nvSpPr>
        <p:spPr>
          <a:xfrm>
            <a:off x="2057400" y="2093061"/>
            <a:ext cx="6537960" cy="719632"/>
          </a:xfrm>
          <a:prstGeom prst="roundRect">
            <a:avLst>
              <a:gd fmla="val 10165" name="adj"/>
            </a:avLst>
          </a:prstGeom>
          <a:solidFill>
            <a:srgbClr val="0C1219"/>
          </a:solidFill>
          <a:ln cap="flat" cmpd="sng" w="12700">
            <a:solidFill>
              <a:srgbClr val="2A35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42"/>
          <p:cNvSpPr txBox="1"/>
          <p:nvPr/>
        </p:nvSpPr>
        <p:spPr>
          <a:xfrm>
            <a:off x="2221992" y="2193645"/>
            <a:ext cx="6245352" cy="55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7A8699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050">
                <a:solidFill>
                  <a:srgbClr val="D6DCE6"/>
                </a:solidFill>
                <a:latin typeface="Courier New"/>
                <a:ea typeface="Courier New"/>
                <a:cs typeface="Courier New"/>
                <a:sym typeface="Courier New"/>
              </a:rPr>
              <a:t>git clone https://github.com/PursuitOfDataScience/uchicago-workshops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7A8699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050">
                <a:solidFill>
                  <a:srgbClr val="D6DCE6"/>
                </a:solidFill>
                <a:latin typeface="Courier New"/>
                <a:ea typeface="Courier New"/>
                <a:cs typeface="Courier New"/>
                <a:sym typeface="Courier New"/>
              </a:rPr>
              <a:t>cd uchicago-workshops/claude-code-tutorial/hands-on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7A8699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050">
                <a:solidFill>
                  <a:srgbClr val="D6DCE6"/>
                </a:solidFill>
                <a:latin typeface="Courier New"/>
                <a:ea typeface="Courier New"/>
                <a:cs typeface="Courier New"/>
                <a:sym typeface="Courier New"/>
              </a:rPr>
              <a:t>claude                # log in, then trust the folder</a:t>
            </a:r>
            <a:endParaRPr/>
          </a:p>
        </p:txBody>
      </p:sp>
      <p:sp>
        <p:nvSpPr>
          <p:cNvPr id="566" name="Google Shape;566;p42"/>
          <p:cNvSpPr/>
          <p:nvPr/>
        </p:nvSpPr>
        <p:spPr>
          <a:xfrm>
            <a:off x="548640" y="2986430"/>
            <a:ext cx="292608" cy="292608"/>
          </a:xfrm>
          <a:prstGeom prst="ellipse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67" name="Google Shape;567;p42"/>
          <p:cNvSpPr txBox="1"/>
          <p:nvPr/>
        </p:nvSpPr>
        <p:spPr>
          <a:xfrm>
            <a:off x="950976" y="2968142"/>
            <a:ext cx="10698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Settings</a:t>
            </a:r>
            <a:endParaRPr/>
          </a:p>
        </p:txBody>
      </p:sp>
      <p:sp>
        <p:nvSpPr>
          <p:cNvPr id="568" name="Google Shape;568;p42"/>
          <p:cNvSpPr/>
          <p:nvPr/>
        </p:nvSpPr>
        <p:spPr>
          <a:xfrm>
            <a:off x="2057400" y="2977286"/>
            <a:ext cx="1444751" cy="310896"/>
          </a:xfrm>
          <a:prstGeom prst="roundRect">
            <a:avLst>
              <a:gd fmla="val 20588" name="adj"/>
            </a:avLst>
          </a:prstGeom>
          <a:solidFill>
            <a:srgbClr val="0F2C31"/>
          </a:solidFill>
          <a:ln cap="flat" cmpd="sng" w="12700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42"/>
          <p:cNvSpPr txBox="1"/>
          <p:nvPr/>
        </p:nvSpPr>
        <p:spPr>
          <a:xfrm>
            <a:off x="2057400" y="2977286"/>
            <a:ext cx="1444751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5FD6E2"/>
                </a:solidFill>
                <a:latin typeface="Courier New"/>
                <a:ea typeface="Courier New"/>
                <a:cs typeface="Courier New"/>
                <a:sym typeface="Courier New"/>
              </a:rPr>
              <a:t>/model sonnet</a:t>
            </a:r>
            <a:endParaRPr/>
          </a:p>
        </p:txBody>
      </p:sp>
      <p:sp>
        <p:nvSpPr>
          <p:cNvPr id="570" name="Google Shape;570;p42"/>
          <p:cNvSpPr/>
          <p:nvPr/>
        </p:nvSpPr>
        <p:spPr>
          <a:xfrm>
            <a:off x="3593592" y="2977286"/>
            <a:ext cx="1536192" cy="310896"/>
          </a:xfrm>
          <a:prstGeom prst="roundRect">
            <a:avLst>
              <a:gd fmla="val 20588" name="adj"/>
            </a:avLst>
          </a:prstGeom>
          <a:solidFill>
            <a:srgbClr val="0F2C31"/>
          </a:solidFill>
          <a:ln cap="flat" cmpd="sng" w="12700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2"/>
          <p:cNvSpPr txBox="1"/>
          <p:nvPr/>
        </p:nvSpPr>
        <p:spPr>
          <a:xfrm>
            <a:off x="3593592" y="2977286"/>
            <a:ext cx="15361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5FD6E2"/>
                </a:solidFill>
                <a:latin typeface="Courier New"/>
                <a:ea typeface="Courier New"/>
                <a:cs typeface="Courier New"/>
                <a:sym typeface="Courier New"/>
              </a:rPr>
              <a:t>/effort medium</a:t>
            </a:r>
            <a:endParaRPr/>
          </a:p>
        </p:txBody>
      </p:sp>
      <p:sp>
        <p:nvSpPr>
          <p:cNvPr id="572" name="Google Shape;572;p42"/>
          <p:cNvSpPr txBox="1"/>
          <p:nvPr/>
        </p:nvSpPr>
        <p:spPr>
          <a:xfrm>
            <a:off x="5221224" y="2968142"/>
            <a:ext cx="3761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endParaRPr/>
          </a:p>
        </p:txBody>
      </p:sp>
      <p:sp>
        <p:nvSpPr>
          <p:cNvPr id="573" name="Google Shape;573;p42"/>
          <p:cNvSpPr/>
          <p:nvPr/>
        </p:nvSpPr>
        <p:spPr>
          <a:xfrm>
            <a:off x="5670540" y="3023006"/>
            <a:ext cx="562203" cy="292608"/>
          </a:xfrm>
          <a:prstGeom prst="roundRect">
            <a:avLst>
              <a:gd fmla="val 18750" name="adj"/>
            </a:avLst>
          </a:prstGeom>
          <a:solidFill>
            <a:srgbClr val="0508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2"/>
          <p:cNvSpPr/>
          <p:nvPr/>
        </p:nvSpPr>
        <p:spPr>
          <a:xfrm>
            <a:off x="5670540" y="2986430"/>
            <a:ext cx="562203" cy="292608"/>
          </a:xfrm>
          <a:prstGeom prst="roundRect">
            <a:avLst>
              <a:gd fmla="val 18750" name="adj"/>
            </a:avLst>
          </a:prstGeom>
          <a:solidFill>
            <a:srgbClr val="1F2A3A"/>
          </a:solidFill>
          <a:ln cap="flat" cmpd="sng" w="12700">
            <a:solidFill>
              <a:srgbClr val="5B6B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42"/>
          <p:cNvSpPr txBox="1"/>
          <p:nvPr/>
        </p:nvSpPr>
        <p:spPr>
          <a:xfrm>
            <a:off x="5670540" y="2986430"/>
            <a:ext cx="562203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Shift</a:t>
            </a:r>
            <a:endParaRPr/>
          </a:p>
        </p:txBody>
      </p:sp>
      <p:sp>
        <p:nvSpPr>
          <p:cNvPr id="576" name="Google Shape;576;p42"/>
          <p:cNvSpPr txBox="1"/>
          <p:nvPr/>
        </p:nvSpPr>
        <p:spPr>
          <a:xfrm>
            <a:off x="6232743" y="2986430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577" name="Google Shape;577;p42"/>
          <p:cNvSpPr/>
          <p:nvPr/>
        </p:nvSpPr>
        <p:spPr>
          <a:xfrm>
            <a:off x="6507063" y="3023006"/>
            <a:ext cx="486531" cy="292608"/>
          </a:xfrm>
          <a:prstGeom prst="roundRect">
            <a:avLst>
              <a:gd fmla="val 18750" name="adj"/>
            </a:avLst>
          </a:prstGeom>
          <a:solidFill>
            <a:srgbClr val="0508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42"/>
          <p:cNvSpPr/>
          <p:nvPr/>
        </p:nvSpPr>
        <p:spPr>
          <a:xfrm>
            <a:off x="6507063" y="2986430"/>
            <a:ext cx="486531" cy="292608"/>
          </a:xfrm>
          <a:prstGeom prst="roundRect">
            <a:avLst>
              <a:gd fmla="val 18750" name="adj"/>
            </a:avLst>
          </a:prstGeom>
          <a:solidFill>
            <a:srgbClr val="1F2A3A"/>
          </a:solidFill>
          <a:ln cap="flat" cmpd="sng" w="12700">
            <a:solidFill>
              <a:srgbClr val="5B6B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42"/>
          <p:cNvSpPr txBox="1"/>
          <p:nvPr/>
        </p:nvSpPr>
        <p:spPr>
          <a:xfrm>
            <a:off x="6507063" y="2986430"/>
            <a:ext cx="48653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Tab</a:t>
            </a:r>
            <a:endParaRPr/>
          </a:p>
        </p:txBody>
      </p:sp>
      <p:sp>
        <p:nvSpPr>
          <p:cNvPr id="580" name="Google Shape;580;p42"/>
          <p:cNvSpPr txBox="1"/>
          <p:nvPr/>
        </p:nvSpPr>
        <p:spPr>
          <a:xfrm>
            <a:off x="7085034" y="2968142"/>
            <a:ext cx="127521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b="1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manual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mode</a:t>
            </a:r>
            <a:endParaRPr/>
          </a:p>
        </p:txBody>
      </p:sp>
      <p:sp>
        <p:nvSpPr>
          <p:cNvPr id="581" name="Google Shape;581;p42"/>
          <p:cNvSpPr/>
          <p:nvPr/>
        </p:nvSpPr>
        <p:spPr>
          <a:xfrm>
            <a:off x="548640" y="3507638"/>
            <a:ext cx="292608" cy="292608"/>
          </a:xfrm>
          <a:prstGeom prst="ellipse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582" name="Google Shape;582;p42"/>
          <p:cNvSpPr txBox="1"/>
          <p:nvPr/>
        </p:nvSpPr>
        <p:spPr>
          <a:xfrm>
            <a:off x="950976" y="3489350"/>
            <a:ext cx="10698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First prompt</a:t>
            </a:r>
            <a:endParaRPr/>
          </a:p>
        </p:txBody>
      </p:sp>
      <p:sp>
        <p:nvSpPr>
          <p:cNvPr id="583" name="Google Shape;583;p42"/>
          <p:cNvSpPr/>
          <p:nvPr/>
        </p:nvSpPr>
        <p:spPr>
          <a:xfrm>
            <a:off x="2057400" y="3452774"/>
            <a:ext cx="2651759" cy="420624"/>
          </a:xfrm>
          <a:prstGeom prst="roundRect">
            <a:avLst>
              <a:gd fmla="val 21739" name="adj"/>
            </a:avLst>
          </a:prstGeom>
          <a:solidFill>
            <a:srgbClr val="192332"/>
          </a:solidFill>
          <a:ln cap="flat" cmpd="sng" w="15875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42"/>
          <p:cNvSpPr txBox="1"/>
          <p:nvPr/>
        </p:nvSpPr>
        <p:spPr>
          <a:xfrm>
            <a:off x="2212848" y="3452774"/>
            <a:ext cx="274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585" name="Google Shape;585;p42"/>
          <p:cNvSpPr txBox="1"/>
          <p:nvPr/>
        </p:nvSpPr>
        <p:spPr>
          <a:xfrm>
            <a:off x="2514600" y="3452774"/>
            <a:ext cx="2148839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D6DCE6"/>
                </a:solidFill>
                <a:latin typeface="Courier New"/>
                <a:ea typeface="Courier New"/>
                <a:cs typeface="Courier New"/>
                <a:sym typeface="Courier New"/>
              </a:rPr>
              <a:t>set up </a:t>
            </a:r>
            <a:r>
              <a:rPr b="1" i="0" lang="en-US" sz="1400">
                <a:solidFill>
                  <a:srgbClr val="5FD6E2"/>
                </a:solidFill>
                <a:latin typeface="Courier New"/>
                <a:ea typeface="Courier New"/>
                <a:cs typeface="Courier New"/>
                <a:sym typeface="Courier New"/>
              </a:rPr>
              <a:t>@1-setup.md</a:t>
            </a:r>
            <a:endParaRPr/>
          </a:p>
        </p:txBody>
      </p:sp>
      <p:sp>
        <p:nvSpPr>
          <p:cNvPr id="586" name="Google Shape;586;p42"/>
          <p:cNvSpPr txBox="1"/>
          <p:nvPr/>
        </p:nvSpPr>
        <p:spPr>
          <a:xfrm>
            <a:off x="4892040" y="3452774"/>
            <a:ext cx="3703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Claude sets up Python and downloads the data.</a:t>
            </a:r>
            <a:endParaRPr/>
          </a:p>
        </p:txBody>
      </p:sp>
      <p:sp>
        <p:nvSpPr>
          <p:cNvPr id="587" name="Google Shape;587;p42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42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3"/>
          <p:cNvSpPr/>
          <p:nvPr/>
        </p:nvSpPr>
        <p:spPr>
          <a:xfrm>
            <a:off x="548640" y="219456"/>
            <a:ext cx="1075944" cy="256032"/>
          </a:xfrm>
          <a:prstGeom prst="roundRect">
            <a:avLst>
              <a:gd fmla="val 21428" name="adj"/>
            </a:avLst>
          </a:prstGeom>
          <a:solidFill>
            <a:srgbClr val="74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3"/>
          <p:cNvSpPr txBox="1"/>
          <p:nvPr/>
        </p:nvSpPr>
        <p:spPr>
          <a:xfrm>
            <a:off x="548640" y="219456"/>
            <a:ext cx="1075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8121A"/>
                </a:solidFill>
                <a:latin typeface="Courier New"/>
                <a:ea typeface="Courier New"/>
                <a:cs typeface="Courier New"/>
                <a:sym typeface="Courier New"/>
              </a:rPr>
              <a:t>1 · set up</a:t>
            </a:r>
            <a:endParaRPr/>
          </a:p>
        </p:txBody>
      </p:sp>
      <p:sp>
        <p:nvSpPr>
          <p:cNvPr id="595" name="Google Shape;595;p43"/>
          <p:cNvSpPr txBox="1"/>
          <p:nvPr/>
        </p:nvSpPr>
        <p:spPr>
          <a:xfrm>
            <a:off x="1761744" y="219456"/>
            <a:ext cx="6833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While Claude works</a:t>
            </a:r>
            <a:endParaRPr/>
          </a:p>
        </p:txBody>
      </p:sp>
      <p:sp>
        <p:nvSpPr>
          <p:cNvPr id="596" name="Google Shape;596;p43"/>
          <p:cNvSpPr txBox="1"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While step 1 runs: answering permission prompts</a:t>
            </a:r>
            <a:endParaRPr/>
          </a:p>
        </p:txBody>
      </p:sp>
      <p:sp>
        <p:nvSpPr>
          <p:cNvPr id="597" name="Google Shape;597;p43"/>
          <p:cNvSpPr/>
          <p:nvPr/>
        </p:nvSpPr>
        <p:spPr>
          <a:xfrm>
            <a:off x="548640" y="3997756"/>
            <a:ext cx="8046720" cy="665683"/>
          </a:xfrm>
          <a:prstGeom prst="roundRect">
            <a:avLst>
              <a:gd fmla="val 10989" name="adj"/>
            </a:avLst>
          </a:prstGeom>
          <a:solidFill>
            <a:srgbClr val="2621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43"/>
          <p:cNvSpPr/>
          <p:nvPr/>
        </p:nvSpPr>
        <p:spPr>
          <a:xfrm>
            <a:off x="548640" y="4052620"/>
            <a:ext cx="54864" cy="555955"/>
          </a:xfrm>
          <a:prstGeom prst="rect">
            <a:avLst/>
          </a:prstGeom>
          <a:solidFill>
            <a:srgbClr val="EBB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43"/>
          <p:cNvSpPr txBox="1"/>
          <p:nvPr/>
        </p:nvSpPr>
        <p:spPr>
          <a:xfrm>
            <a:off x="804672" y="3997756"/>
            <a:ext cx="7589520" cy="6656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EBB661"/>
                </a:solidFill>
                <a:latin typeface="Arial"/>
                <a:ea typeface="Arial"/>
                <a:cs typeface="Arial"/>
                <a:sym typeface="Arial"/>
              </a:rPr>
              <a:t>When it finishes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  Claude reports the system, the Python it set up, and the size of the data. Then type </a:t>
            </a:r>
            <a:r>
              <a:rPr b="0" i="0" lang="en-US" sz="13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/permissions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to see any rule your answers saved.</a:t>
            </a:r>
            <a:endParaRPr/>
          </a:p>
        </p:txBody>
      </p:sp>
      <p:sp>
        <p:nvSpPr>
          <p:cNvPr id="600" name="Google Shape;600;p43"/>
          <p:cNvSpPr/>
          <p:nvPr/>
        </p:nvSpPr>
        <p:spPr>
          <a:xfrm>
            <a:off x="548640" y="1261872"/>
            <a:ext cx="274320" cy="274320"/>
          </a:xfrm>
          <a:prstGeom prst="ellipse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01" name="Google Shape;601;p43"/>
          <p:cNvSpPr txBox="1"/>
          <p:nvPr/>
        </p:nvSpPr>
        <p:spPr>
          <a:xfrm>
            <a:off x="932688" y="1216152"/>
            <a:ext cx="3291839" cy="748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74A8FF"/>
                </a:solidFill>
                <a:latin typeface="Arial"/>
                <a:ea typeface="Arial"/>
                <a:cs typeface="Arial"/>
                <a:sym typeface="Arial"/>
              </a:rPr>
              <a:t>CLAUDE.md set the rules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Claude Code loaded </a:t>
            </a:r>
            <a:r>
              <a:rPr b="0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CLAUDE.md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at the start; it asks for a private Python environment.</a:t>
            </a:r>
            <a:endParaRPr/>
          </a:p>
        </p:txBody>
      </p:sp>
      <p:sp>
        <p:nvSpPr>
          <p:cNvPr id="602" name="Google Shape;602;p43"/>
          <p:cNvSpPr/>
          <p:nvPr/>
        </p:nvSpPr>
        <p:spPr>
          <a:xfrm>
            <a:off x="548640" y="2101519"/>
            <a:ext cx="274320" cy="274320"/>
          </a:xfrm>
          <a:prstGeom prst="ellipse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03" name="Google Shape;603;p43"/>
          <p:cNvSpPr txBox="1"/>
          <p:nvPr/>
        </p:nvSpPr>
        <p:spPr>
          <a:xfrm>
            <a:off x="932688" y="2055799"/>
            <a:ext cx="3291839" cy="748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74A8FF"/>
                </a:solidFill>
                <a:latin typeface="Arial"/>
                <a:ea typeface="Arial"/>
                <a:cs typeface="Arial"/>
                <a:sym typeface="Arial"/>
              </a:rPr>
              <a:t>“Don't ask again” saves a rule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for that command in this project; Claude Code stops asking. </a:t>
            </a:r>
            <a:r>
              <a:rPr b="0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/permissions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lists them.</a:t>
            </a:r>
            <a:endParaRPr/>
          </a:p>
        </p:txBody>
      </p:sp>
      <p:sp>
        <p:nvSpPr>
          <p:cNvPr id="604" name="Google Shape;604;p43"/>
          <p:cNvSpPr/>
          <p:nvPr/>
        </p:nvSpPr>
        <p:spPr>
          <a:xfrm>
            <a:off x="548640" y="2941167"/>
            <a:ext cx="274320" cy="274320"/>
          </a:xfrm>
          <a:prstGeom prst="ellipse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05" name="Google Shape;605;p43"/>
          <p:cNvSpPr txBox="1"/>
          <p:nvPr/>
        </p:nvSpPr>
        <p:spPr>
          <a:xfrm>
            <a:off x="932688" y="2895447"/>
            <a:ext cx="3291839" cy="748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74A8FF"/>
                </a:solidFill>
                <a:latin typeface="Arial"/>
                <a:ea typeface="Arial"/>
                <a:cs typeface="Arial"/>
                <a:sym typeface="Arial"/>
              </a:rPr>
              <a:t>Answer with a note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On Yes or No, press Tab and type a note for Claude: a request, or your reason for No.</a:t>
            </a:r>
            <a:endParaRPr/>
          </a:p>
        </p:txBody>
      </p:sp>
      <p:pic>
        <p:nvPicPr>
          <p:cNvPr descr="image66.png"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8017" y="1243584"/>
            <a:ext cx="3945604" cy="2571292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44"/>
          <p:cNvSpPr/>
          <p:nvPr/>
        </p:nvSpPr>
        <p:spPr>
          <a:xfrm>
            <a:off x="548640" y="219456"/>
            <a:ext cx="1159764" cy="256032"/>
          </a:xfrm>
          <a:prstGeom prst="roundRect">
            <a:avLst>
              <a:gd fmla="val 21428" name="adj"/>
            </a:avLst>
          </a:prstGeom>
          <a:solidFill>
            <a:srgbClr val="74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44"/>
          <p:cNvSpPr txBox="1"/>
          <p:nvPr/>
        </p:nvSpPr>
        <p:spPr>
          <a:xfrm>
            <a:off x="548640" y="219456"/>
            <a:ext cx="11597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8121A"/>
                </a:solidFill>
                <a:latin typeface="Courier New"/>
                <a:ea typeface="Courier New"/>
                <a:cs typeface="Courier New"/>
                <a:sym typeface="Courier New"/>
              </a:rPr>
              <a:t>2 · explore</a:t>
            </a:r>
            <a:endParaRPr/>
          </a:p>
        </p:txBody>
      </p:sp>
      <p:sp>
        <p:nvSpPr>
          <p:cNvPr id="615" name="Google Shape;615;p44"/>
          <p:cNvSpPr txBox="1"/>
          <p:nvPr/>
        </p:nvSpPr>
        <p:spPr>
          <a:xfrm>
            <a:off x="1845563" y="219456"/>
            <a:ext cx="67497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Step 2 of 6</a:t>
            </a:r>
            <a:endParaRPr/>
          </a:p>
        </p:txBody>
      </p:sp>
      <p:sp>
        <p:nvSpPr>
          <p:cNvPr id="616" name="Google Shape;616;p44"/>
          <p:cNvSpPr txBox="1"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A first look at the data</a:t>
            </a:r>
            <a:endParaRPr/>
          </a:p>
        </p:txBody>
      </p:sp>
      <p:sp>
        <p:nvSpPr>
          <p:cNvPr id="617" name="Google Shape;617;p44"/>
          <p:cNvSpPr txBox="1"/>
          <p:nvPr/>
        </p:nvSpPr>
        <p:spPr>
          <a:xfrm>
            <a:off x="548640" y="1115568"/>
            <a:ext cx="8046720" cy="224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An open-ended first pass, as on any new dataset. You can steer Claude while it works.</a:t>
            </a:r>
            <a:endParaRPr/>
          </a:p>
        </p:txBody>
      </p:sp>
      <p:sp>
        <p:nvSpPr>
          <p:cNvPr id="618" name="Google Shape;618;p44"/>
          <p:cNvSpPr txBox="1"/>
          <p:nvPr/>
        </p:nvSpPr>
        <p:spPr>
          <a:xfrm>
            <a:off x="548640" y="1559051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endParaRPr/>
          </a:p>
        </p:txBody>
      </p:sp>
      <p:sp>
        <p:nvSpPr>
          <p:cNvPr id="619" name="Google Shape;619;p44"/>
          <p:cNvSpPr txBox="1"/>
          <p:nvPr/>
        </p:nvSpPr>
        <p:spPr>
          <a:xfrm>
            <a:off x="4160520" y="1559051"/>
            <a:ext cx="4434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WHAT THE PROMPT ASKS</a:t>
            </a:r>
            <a:endParaRPr/>
          </a:p>
        </p:txBody>
      </p:sp>
      <p:sp>
        <p:nvSpPr>
          <p:cNvPr id="620" name="Google Shape;620;p44"/>
          <p:cNvSpPr/>
          <p:nvPr/>
        </p:nvSpPr>
        <p:spPr>
          <a:xfrm>
            <a:off x="548640" y="1796795"/>
            <a:ext cx="3200400" cy="475488"/>
          </a:xfrm>
          <a:prstGeom prst="roundRect">
            <a:avLst>
              <a:gd fmla="val 19230" name="adj"/>
            </a:avLst>
          </a:prstGeom>
          <a:solidFill>
            <a:srgbClr val="192332"/>
          </a:solidFill>
          <a:ln cap="flat" cmpd="sng" w="15875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4"/>
          <p:cNvSpPr txBox="1"/>
          <p:nvPr/>
        </p:nvSpPr>
        <p:spPr>
          <a:xfrm>
            <a:off x="704088" y="1796795"/>
            <a:ext cx="274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622" name="Google Shape;622;p44"/>
          <p:cNvSpPr txBox="1"/>
          <p:nvPr/>
        </p:nvSpPr>
        <p:spPr>
          <a:xfrm>
            <a:off x="1005840" y="1796795"/>
            <a:ext cx="2697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D6DCE6"/>
                </a:solidFill>
                <a:latin typeface="Courier New"/>
                <a:ea typeface="Courier New"/>
                <a:cs typeface="Courier New"/>
                <a:sym typeface="Courier New"/>
              </a:rPr>
              <a:t>explore </a:t>
            </a:r>
            <a:r>
              <a:rPr b="1" i="0" lang="en-US" sz="1500">
                <a:solidFill>
                  <a:srgbClr val="5FD6E2"/>
                </a:solidFill>
                <a:latin typeface="Courier New"/>
                <a:ea typeface="Courier New"/>
                <a:cs typeface="Courier New"/>
                <a:sym typeface="Courier New"/>
              </a:rPr>
              <a:t>@2-explore.md</a:t>
            </a:r>
            <a:endParaRPr/>
          </a:p>
        </p:txBody>
      </p:sp>
      <p:sp>
        <p:nvSpPr>
          <p:cNvPr id="623" name="Google Shape;623;p44"/>
          <p:cNvSpPr/>
          <p:nvPr/>
        </p:nvSpPr>
        <p:spPr>
          <a:xfrm>
            <a:off x="548640" y="2418588"/>
            <a:ext cx="611061" cy="292608"/>
          </a:xfrm>
          <a:prstGeom prst="roundRect">
            <a:avLst>
              <a:gd fmla="val 18750" name="adj"/>
            </a:avLst>
          </a:prstGeom>
          <a:solidFill>
            <a:srgbClr val="0508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44"/>
          <p:cNvSpPr/>
          <p:nvPr/>
        </p:nvSpPr>
        <p:spPr>
          <a:xfrm>
            <a:off x="548640" y="2382012"/>
            <a:ext cx="611061" cy="292608"/>
          </a:xfrm>
          <a:prstGeom prst="roundRect">
            <a:avLst>
              <a:gd fmla="val 18750" name="adj"/>
            </a:avLst>
          </a:prstGeom>
          <a:solidFill>
            <a:srgbClr val="1F2A3A"/>
          </a:solidFill>
          <a:ln cap="flat" cmpd="sng" w="12700">
            <a:solidFill>
              <a:srgbClr val="5B6B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44"/>
          <p:cNvSpPr txBox="1"/>
          <p:nvPr/>
        </p:nvSpPr>
        <p:spPr>
          <a:xfrm>
            <a:off x="548640" y="2382012"/>
            <a:ext cx="61106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Enter</a:t>
            </a:r>
            <a:endParaRPr/>
          </a:p>
        </p:txBody>
      </p:sp>
      <p:sp>
        <p:nvSpPr>
          <p:cNvPr id="626" name="Google Shape;626;p44"/>
          <p:cNvSpPr txBox="1"/>
          <p:nvPr/>
        </p:nvSpPr>
        <p:spPr>
          <a:xfrm>
            <a:off x="1269429" y="2382012"/>
            <a:ext cx="247961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(Tab after @2 completes the name)</a:t>
            </a:r>
            <a:endParaRPr/>
          </a:p>
        </p:txBody>
      </p:sp>
      <p:sp>
        <p:nvSpPr>
          <p:cNvPr id="627" name="Google Shape;627;p44"/>
          <p:cNvSpPr txBox="1"/>
          <p:nvPr/>
        </p:nvSpPr>
        <p:spPr>
          <a:xfrm>
            <a:off x="3749039" y="1796795"/>
            <a:ext cx="411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628" name="Google Shape;628;p44"/>
          <p:cNvSpPr/>
          <p:nvPr/>
        </p:nvSpPr>
        <p:spPr>
          <a:xfrm>
            <a:off x="4160520" y="1796795"/>
            <a:ext cx="4434840" cy="1161289"/>
          </a:xfrm>
          <a:custGeom>
            <a:rect b="b" l="l" r="r" t="t"/>
            <a:pathLst>
              <a:path extrusionOk="0" h="1161289" w="4434840">
                <a:moveTo>
                  <a:pt x="0" y="0"/>
                </a:moveTo>
                <a:lnTo>
                  <a:pt x="4233672" y="0"/>
                </a:lnTo>
                <a:lnTo>
                  <a:pt x="4434840" y="201169"/>
                </a:lnTo>
                <a:lnTo>
                  <a:pt x="4434840" y="1161289"/>
                </a:lnTo>
                <a:lnTo>
                  <a:pt x="0" y="1161289"/>
                </a:lnTo>
                <a:close/>
              </a:path>
            </a:pathLst>
          </a:custGeom>
          <a:solidFill>
            <a:srgbClr val="0C1219"/>
          </a:solidFill>
          <a:ln cap="flat" cmpd="sng" w="15875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44"/>
          <p:cNvSpPr/>
          <p:nvPr/>
        </p:nvSpPr>
        <p:spPr>
          <a:xfrm>
            <a:off x="8394192" y="1796795"/>
            <a:ext cx="201168" cy="201169"/>
          </a:xfrm>
          <a:custGeom>
            <a:rect b="b" l="l" r="r" t="t"/>
            <a:pathLst>
              <a:path extrusionOk="0" h="201169" w="201168">
                <a:moveTo>
                  <a:pt x="0" y="0"/>
                </a:moveTo>
                <a:lnTo>
                  <a:pt x="0" y="201169"/>
                </a:lnTo>
                <a:lnTo>
                  <a:pt x="201168" y="201169"/>
                </a:lnTo>
                <a:close/>
              </a:path>
            </a:pathLst>
          </a:custGeom>
          <a:solidFill>
            <a:srgbClr val="1E4E55"/>
          </a:solidFill>
          <a:ln cap="flat" cmpd="sng" w="15875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44"/>
          <p:cNvSpPr/>
          <p:nvPr/>
        </p:nvSpPr>
        <p:spPr>
          <a:xfrm>
            <a:off x="4343400" y="1888236"/>
            <a:ext cx="155448" cy="201168"/>
          </a:xfrm>
          <a:custGeom>
            <a:rect b="b" l="l" r="r" t="t"/>
            <a:pathLst>
              <a:path extrusionOk="0" h="201168" w="155448">
                <a:moveTo>
                  <a:pt x="0" y="0"/>
                </a:moveTo>
                <a:lnTo>
                  <a:pt x="105704" y="0"/>
                </a:lnTo>
                <a:lnTo>
                  <a:pt x="155448" y="49743"/>
                </a:lnTo>
                <a:lnTo>
                  <a:pt x="155448" y="201168"/>
                </a:lnTo>
                <a:lnTo>
                  <a:pt x="0" y="201168"/>
                </a:lnTo>
                <a:close/>
              </a:path>
            </a:pathLst>
          </a:custGeom>
          <a:solidFill>
            <a:srgbClr val="0F2C31"/>
          </a:solidFill>
          <a:ln cap="flat" cmpd="sng" w="12700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44"/>
          <p:cNvSpPr/>
          <p:nvPr/>
        </p:nvSpPr>
        <p:spPr>
          <a:xfrm>
            <a:off x="4449104" y="1888236"/>
            <a:ext cx="49744" cy="49743"/>
          </a:xfrm>
          <a:custGeom>
            <a:rect b="b" l="l" r="r" t="t"/>
            <a:pathLst>
              <a:path extrusionOk="0" h="49743" w="49744">
                <a:moveTo>
                  <a:pt x="0" y="0"/>
                </a:moveTo>
                <a:lnTo>
                  <a:pt x="0" y="49743"/>
                </a:lnTo>
                <a:lnTo>
                  <a:pt x="49744" y="49743"/>
                </a:lnTo>
                <a:close/>
              </a:path>
            </a:pathLst>
          </a:custGeom>
          <a:solidFill>
            <a:srgbClr val="37C6D4"/>
          </a:solidFill>
          <a:ln cap="flat" cmpd="sng" w="12700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44"/>
          <p:cNvSpPr/>
          <p:nvPr/>
        </p:nvSpPr>
        <p:spPr>
          <a:xfrm>
            <a:off x="4374489" y="1969983"/>
            <a:ext cx="96377" cy="16459"/>
          </a:xfrm>
          <a:prstGeom prst="rect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44"/>
          <p:cNvSpPr/>
          <p:nvPr/>
        </p:nvSpPr>
        <p:spPr>
          <a:xfrm>
            <a:off x="4374489" y="2003016"/>
            <a:ext cx="96377" cy="16459"/>
          </a:xfrm>
          <a:prstGeom prst="rect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44"/>
          <p:cNvSpPr/>
          <p:nvPr/>
        </p:nvSpPr>
        <p:spPr>
          <a:xfrm>
            <a:off x="4374489" y="2036048"/>
            <a:ext cx="65288" cy="16459"/>
          </a:xfrm>
          <a:prstGeom prst="rect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44"/>
          <p:cNvSpPr txBox="1"/>
          <p:nvPr/>
        </p:nvSpPr>
        <p:spPr>
          <a:xfrm>
            <a:off x="4590288" y="1869948"/>
            <a:ext cx="3703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5FD6E2"/>
                </a:solidFill>
                <a:latin typeface="Courier New"/>
                <a:ea typeface="Courier New"/>
                <a:cs typeface="Courier New"/>
                <a:sym typeface="Courier New"/>
              </a:rPr>
              <a:t>2-explore.md</a:t>
            </a:r>
            <a:endParaRPr/>
          </a:p>
        </p:txBody>
      </p:sp>
      <p:sp>
        <p:nvSpPr>
          <p:cNvPr id="636" name="Google Shape;636;p44"/>
          <p:cNvSpPr txBox="1"/>
          <p:nvPr/>
        </p:nvSpPr>
        <p:spPr>
          <a:xfrm>
            <a:off x="4361688" y="2171700"/>
            <a:ext cx="4069080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2880" lvl="0" marL="18288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what the data holds: columns, groups, counts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what is missing or looks odd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two or three things worth a closer look</a:t>
            </a:r>
            <a:endParaRPr/>
          </a:p>
        </p:txBody>
      </p:sp>
      <p:sp>
        <p:nvSpPr>
          <p:cNvPr id="637" name="Google Shape;637;p44"/>
          <p:cNvSpPr/>
          <p:nvPr/>
        </p:nvSpPr>
        <p:spPr>
          <a:xfrm>
            <a:off x="548640" y="3113532"/>
            <a:ext cx="621792" cy="310896"/>
          </a:xfrm>
          <a:prstGeom prst="roundRect">
            <a:avLst>
              <a:gd fmla="val 20588" name="adj"/>
            </a:avLst>
          </a:prstGeom>
          <a:solidFill>
            <a:srgbClr val="0F2C31"/>
          </a:solidFill>
          <a:ln cap="flat" cmpd="sng" w="12700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44"/>
          <p:cNvSpPr txBox="1"/>
          <p:nvPr/>
        </p:nvSpPr>
        <p:spPr>
          <a:xfrm>
            <a:off x="548640" y="3113532"/>
            <a:ext cx="621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5FD6E2"/>
                </a:solidFill>
                <a:latin typeface="Courier New"/>
                <a:ea typeface="Courier New"/>
                <a:cs typeface="Courier New"/>
                <a:sym typeface="Courier New"/>
              </a:rPr>
              <a:t>/btw</a:t>
            </a:r>
            <a:endParaRPr/>
          </a:p>
        </p:txBody>
      </p:sp>
      <p:sp>
        <p:nvSpPr>
          <p:cNvPr id="639" name="Google Shape;639;p44"/>
          <p:cNvSpPr txBox="1"/>
          <p:nvPr/>
        </p:nvSpPr>
        <p:spPr>
          <a:xfrm>
            <a:off x="1965960" y="310438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A side question kept out of the conversation: </a:t>
            </a:r>
            <a:r>
              <a:rPr b="0" i="0" lang="en-US" sz="13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/btw what is bill depth?</a:t>
            </a:r>
            <a:endParaRPr/>
          </a:p>
        </p:txBody>
      </p:sp>
      <p:sp>
        <p:nvSpPr>
          <p:cNvPr id="640" name="Google Shape;640;p44"/>
          <p:cNvSpPr/>
          <p:nvPr/>
        </p:nvSpPr>
        <p:spPr>
          <a:xfrm>
            <a:off x="548640" y="3579876"/>
            <a:ext cx="497598" cy="292608"/>
          </a:xfrm>
          <a:prstGeom prst="roundRect">
            <a:avLst>
              <a:gd fmla="val 18750" name="adj"/>
            </a:avLst>
          </a:prstGeom>
          <a:solidFill>
            <a:srgbClr val="0508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44"/>
          <p:cNvSpPr/>
          <p:nvPr/>
        </p:nvSpPr>
        <p:spPr>
          <a:xfrm>
            <a:off x="548640" y="3543300"/>
            <a:ext cx="497598" cy="292608"/>
          </a:xfrm>
          <a:prstGeom prst="roundRect">
            <a:avLst>
              <a:gd fmla="val 18750" name="adj"/>
            </a:avLst>
          </a:prstGeom>
          <a:solidFill>
            <a:srgbClr val="1F2A3A"/>
          </a:solidFill>
          <a:ln cap="flat" cmpd="sng" w="12700">
            <a:solidFill>
              <a:srgbClr val="5B6B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44"/>
          <p:cNvSpPr txBox="1"/>
          <p:nvPr/>
        </p:nvSpPr>
        <p:spPr>
          <a:xfrm>
            <a:off x="548640" y="3543300"/>
            <a:ext cx="49759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Esc</a:t>
            </a:r>
            <a:endParaRPr/>
          </a:p>
        </p:txBody>
      </p:sp>
      <p:sp>
        <p:nvSpPr>
          <p:cNvPr id="643" name="Google Shape;643;p44"/>
          <p:cNvSpPr txBox="1"/>
          <p:nvPr/>
        </p:nvSpPr>
        <p:spPr>
          <a:xfrm>
            <a:off x="1965960" y="3525012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Stop a command you don't need, then say what to do instead.</a:t>
            </a:r>
            <a:endParaRPr/>
          </a:p>
        </p:txBody>
      </p:sp>
      <p:sp>
        <p:nvSpPr>
          <p:cNvPr id="644" name="Google Shape;644;p44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45"/>
          <p:cNvSpPr/>
          <p:nvPr/>
        </p:nvSpPr>
        <p:spPr>
          <a:xfrm>
            <a:off x="548640" y="219456"/>
            <a:ext cx="1159764" cy="256032"/>
          </a:xfrm>
          <a:prstGeom prst="roundRect">
            <a:avLst>
              <a:gd fmla="val 21428" name="adj"/>
            </a:avLst>
          </a:prstGeom>
          <a:solidFill>
            <a:srgbClr val="74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45"/>
          <p:cNvSpPr txBox="1"/>
          <p:nvPr/>
        </p:nvSpPr>
        <p:spPr>
          <a:xfrm>
            <a:off x="548640" y="219456"/>
            <a:ext cx="11597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8121A"/>
                </a:solidFill>
                <a:latin typeface="Courier New"/>
                <a:ea typeface="Courier New"/>
                <a:cs typeface="Courier New"/>
                <a:sym typeface="Courier New"/>
              </a:rPr>
              <a:t>2 · explore</a:t>
            </a:r>
            <a:endParaRPr/>
          </a:p>
        </p:txBody>
      </p:sp>
      <p:sp>
        <p:nvSpPr>
          <p:cNvPr id="652" name="Google Shape;652;p45"/>
          <p:cNvSpPr txBox="1"/>
          <p:nvPr/>
        </p:nvSpPr>
        <p:spPr>
          <a:xfrm>
            <a:off x="1845563" y="219456"/>
            <a:ext cx="67497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While Claude works</a:t>
            </a:r>
            <a:endParaRPr/>
          </a:p>
        </p:txBody>
      </p:sp>
      <p:sp>
        <p:nvSpPr>
          <p:cNvPr id="653" name="Google Shape;653;p45"/>
          <p:cNvSpPr txBox="1"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While step 2 runs: steering Claude as it works</a:t>
            </a:r>
            <a:endParaRPr/>
          </a:p>
        </p:txBody>
      </p:sp>
      <p:sp>
        <p:nvSpPr>
          <p:cNvPr id="654" name="Google Shape;654;p45"/>
          <p:cNvSpPr/>
          <p:nvPr/>
        </p:nvSpPr>
        <p:spPr>
          <a:xfrm>
            <a:off x="548640" y="3997756"/>
            <a:ext cx="8046720" cy="665683"/>
          </a:xfrm>
          <a:prstGeom prst="roundRect">
            <a:avLst>
              <a:gd fmla="val 10989" name="adj"/>
            </a:avLst>
          </a:prstGeom>
          <a:solidFill>
            <a:srgbClr val="2621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45"/>
          <p:cNvSpPr/>
          <p:nvPr/>
        </p:nvSpPr>
        <p:spPr>
          <a:xfrm>
            <a:off x="548640" y="4052620"/>
            <a:ext cx="54864" cy="555955"/>
          </a:xfrm>
          <a:prstGeom prst="rect">
            <a:avLst/>
          </a:prstGeom>
          <a:solidFill>
            <a:srgbClr val="EBB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5"/>
          <p:cNvSpPr txBox="1"/>
          <p:nvPr/>
        </p:nvSpPr>
        <p:spPr>
          <a:xfrm>
            <a:off x="804672" y="3997756"/>
            <a:ext cx="7589520" cy="6656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EBB661"/>
                </a:solidFill>
                <a:latin typeface="Arial"/>
                <a:ea typeface="Arial"/>
                <a:cs typeface="Arial"/>
                <a:sym typeface="Arial"/>
              </a:rPr>
              <a:t>When it finishes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  Claude lists what the data holds, what is missing, and what is worth a closer look. Type </a:t>
            </a:r>
            <a:r>
              <a:rPr b="0" i="0" lang="en-US" sz="13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/context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to see how much of the context window the session uses.</a:t>
            </a:r>
            <a:endParaRPr/>
          </a:p>
        </p:txBody>
      </p:sp>
      <p:sp>
        <p:nvSpPr>
          <p:cNvPr id="657" name="Google Shape;657;p45"/>
          <p:cNvSpPr/>
          <p:nvPr/>
        </p:nvSpPr>
        <p:spPr>
          <a:xfrm>
            <a:off x="548640" y="1261872"/>
            <a:ext cx="274320" cy="274320"/>
          </a:xfrm>
          <a:prstGeom prst="ellipse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58" name="Google Shape;658;p45"/>
          <p:cNvSpPr txBox="1"/>
          <p:nvPr/>
        </p:nvSpPr>
        <p:spPr>
          <a:xfrm>
            <a:off x="932688" y="1216152"/>
            <a:ext cx="3291839" cy="748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74A8FF"/>
                </a:solidFill>
                <a:latin typeface="Arial"/>
                <a:ea typeface="Arial"/>
                <a:cs typeface="Arial"/>
                <a:sym typeface="Arial"/>
              </a:rPr>
              <a:t>Add to the task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Type and press Enter: Claude Code queues the message until the current command ends.</a:t>
            </a:r>
            <a:endParaRPr/>
          </a:p>
        </p:txBody>
      </p:sp>
      <p:sp>
        <p:nvSpPr>
          <p:cNvPr id="659" name="Google Shape;659;p45"/>
          <p:cNvSpPr/>
          <p:nvPr/>
        </p:nvSpPr>
        <p:spPr>
          <a:xfrm>
            <a:off x="548640" y="2101519"/>
            <a:ext cx="274320" cy="274320"/>
          </a:xfrm>
          <a:prstGeom prst="ellipse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60" name="Google Shape;660;p45"/>
          <p:cNvSpPr txBox="1"/>
          <p:nvPr/>
        </p:nvSpPr>
        <p:spPr>
          <a:xfrm>
            <a:off x="932688" y="2055799"/>
            <a:ext cx="3291839" cy="748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74A8FF"/>
                </a:solidFill>
                <a:latin typeface="Arial"/>
                <a:ea typeface="Arial"/>
                <a:cs typeface="Arial"/>
                <a:sym typeface="Arial"/>
              </a:rPr>
              <a:t>Ask on the side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/btw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answers from what Claude already knows, and stays out of the conversation.</a:t>
            </a:r>
            <a:endParaRPr/>
          </a:p>
        </p:txBody>
      </p:sp>
      <p:sp>
        <p:nvSpPr>
          <p:cNvPr id="661" name="Google Shape;661;p45"/>
          <p:cNvSpPr/>
          <p:nvPr/>
        </p:nvSpPr>
        <p:spPr>
          <a:xfrm>
            <a:off x="548640" y="2941167"/>
            <a:ext cx="274320" cy="274320"/>
          </a:xfrm>
          <a:prstGeom prst="ellipse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62" name="Google Shape;662;p45"/>
          <p:cNvSpPr txBox="1"/>
          <p:nvPr/>
        </p:nvSpPr>
        <p:spPr>
          <a:xfrm>
            <a:off x="932688" y="2895447"/>
            <a:ext cx="3291839" cy="748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74A8FF"/>
                </a:solidFill>
                <a:latin typeface="Arial"/>
                <a:ea typeface="Arial"/>
                <a:cs typeface="Arial"/>
                <a:sym typeface="Arial"/>
              </a:rPr>
              <a:t>See every detail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Ctrl+O opens the full transcript: every command and its whole output.</a:t>
            </a:r>
            <a:endParaRPr/>
          </a:p>
        </p:txBody>
      </p:sp>
      <p:pic>
        <p:nvPicPr>
          <p:cNvPr descr="image67.png" id="663" name="Google Shape;66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8017" y="1243584"/>
            <a:ext cx="3945604" cy="2571292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45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46"/>
          <p:cNvSpPr/>
          <p:nvPr/>
        </p:nvSpPr>
        <p:spPr>
          <a:xfrm>
            <a:off x="548640" y="219456"/>
            <a:ext cx="1159764" cy="256032"/>
          </a:xfrm>
          <a:prstGeom prst="roundRect">
            <a:avLst>
              <a:gd fmla="val 21428" name="adj"/>
            </a:avLst>
          </a:prstGeom>
          <a:solidFill>
            <a:srgbClr val="74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46"/>
          <p:cNvSpPr txBox="1"/>
          <p:nvPr/>
        </p:nvSpPr>
        <p:spPr>
          <a:xfrm>
            <a:off x="548640" y="219456"/>
            <a:ext cx="11597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8121A"/>
                </a:solidFill>
                <a:latin typeface="Courier New"/>
                <a:ea typeface="Courier New"/>
                <a:cs typeface="Courier New"/>
                <a:sym typeface="Courier New"/>
              </a:rPr>
              <a:t>3 · analyze</a:t>
            </a:r>
            <a:endParaRPr/>
          </a:p>
        </p:txBody>
      </p:sp>
      <p:sp>
        <p:nvSpPr>
          <p:cNvPr id="672" name="Google Shape;672;p46"/>
          <p:cNvSpPr txBox="1"/>
          <p:nvPr/>
        </p:nvSpPr>
        <p:spPr>
          <a:xfrm>
            <a:off x="1845563" y="219456"/>
            <a:ext cx="67497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Step 3 of 6 · plan</a:t>
            </a:r>
            <a:endParaRPr/>
          </a:p>
        </p:txBody>
      </p:sp>
      <p:sp>
        <p:nvSpPr>
          <p:cNvPr id="673" name="Google Shape;673;p46"/>
          <p:cNvSpPr txBox="1"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Plan the analysis first</a:t>
            </a:r>
            <a:endParaRPr/>
          </a:p>
        </p:txBody>
      </p:sp>
      <p:sp>
        <p:nvSpPr>
          <p:cNvPr id="674" name="Google Shape;674;p46"/>
          <p:cNvSpPr txBox="1"/>
          <p:nvPr/>
        </p:nvSpPr>
        <p:spPr>
          <a:xfrm>
            <a:off x="548640" y="1115568"/>
            <a:ext cx="8046720" cy="224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In plan mode, Claude reads and researches but changes nothing until you approve its plan.</a:t>
            </a:r>
            <a:endParaRPr/>
          </a:p>
        </p:txBody>
      </p:sp>
      <p:sp>
        <p:nvSpPr>
          <p:cNvPr id="675" name="Google Shape;675;p46"/>
          <p:cNvSpPr/>
          <p:nvPr/>
        </p:nvSpPr>
        <p:spPr>
          <a:xfrm>
            <a:off x="548640" y="3997756"/>
            <a:ext cx="8046720" cy="665683"/>
          </a:xfrm>
          <a:prstGeom prst="roundRect">
            <a:avLst>
              <a:gd fmla="val 10989" name="adj"/>
            </a:avLst>
          </a:prstGeom>
          <a:solidFill>
            <a:srgbClr val="2621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46"/>
          <p:cNvSpPr/>
          <p:nvPr/>
        </p:nvSpPr>
        <p:spPr>
          <a:xfrm>
            <a:off x="548640" y="4052620"/>
            <a:ext cx="54864" cy="555955"/>
          </a:xfrm>
          <a:prstGeom prst="rect">
            <a:avLst/>
          </a:prstGeom>
          <a:solidFill>
            <a:srgbClr val="EBB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46"/>
          <p:cNvSpPr txBox="1"/>
          <p:nvPr/>
        </p:nvSpPr>
        <p:spPr>
          <a:xfrm>
            <a:off x="804672" y="3997756"/>
            <a:ext cx="7589520" cy="6656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EBB661"/>
                </a:solidFill>
                <a:latin typeface="Arial"/>
                <a:ea typeface="Arial"/>
                <a:cs typeface="Arial"/>
                <a:sym typeface="Arial"/>
              </a:rPr>
              <a:t>Look for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  Read the plan before you approve it. If a step is missing or wrong, choose “Tell Claude what to change” and say what to fix.</a:t>
            </a:r>
            <a:endParaRPr/>
          </a:p>
        </p:txBody>
      </p:sp>
      <p:sp>
        <p:nvSpPr>
          <p:cNvPr id="678" name="Google Shape;678;p46"/>
          <p:cNvSpPr/>
          <p:nvPr/>
        </p:nvSpPr>
        <p:spPr>
          <a:xfrm>
            <a:off x="548640" y="1613916"/>
            <a:ext cx="562203" cy="292608"/>
          </a:xfrm>
          <a:prstGeom prst="roundRect">
            <a:avLst>
              <a:gd fmla="val 18750" name="adj"/>
            </a:avLst>
          </a:prstGeom>
          <a:solidFill>
            <a:srgbClr val="0508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46"/>
          <p:cNvSpPr/>
          <p:nvPr/>
        </p:nvSpPr>
        <p:spPr>
          <a:xfrm>
            <a:off x="548640" y="1577339"/>
            <a:ext cx="562203" cy="292608"/>
          </a:xfrm>
          <a:prstGeom prst="roundRect">
            <a:avLst>
              <a:gd fmla="val 18750" name="adj"/>
            </a:avLst>
          </a:prstGeom>
          <a:solidFill>
            <a:srgbClr val="1F2A3A"/>
          </a:solidFill>
          <a:ln cap="flat" cmpd="sng" w="12700">
            <a:solidFill>
              <a:srgbClr val="5B6B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46"/>
          <p:cNvSpPr txBox="1"/>
          <p:nvPr/>
        </p:nvSpPr>
        <p:spPr>
          <a:xfrm>
            <a:off x="548640" y="1577339"/>
            <a:ext cx="562203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Shift</a:t>
            </a:r>
            <a:endParaRPr/>
          </a:p>
        </p:txBody>
      </p:sp>
      <p:sp>
        <p:nvSpPr>
          <p:cNvPr id="681" name="Google Shape;681;p46"/>
          <p:cNvSpPr txBox="1"/>
          <p:nvPr/>
        </p:nvSpPr>
        <p:spPr>
          <a:xfrm>
            <a:off x="1110843" y="1577339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682" name="Google Shape;682;p46"/>
          <p:cNvSpPr/>
          <p:nvPr/>
        </p:nvSpPr>
        <p:spPr>
          <a:xfrm>
            <a:off x="1385163" y="1613916"/>
            <a:ext cx="486531" cy="292608"/>
          </a:xfrm>
          <a:prstGeom prst="roundRect">
            <a:avLst>
              <a:gd fmla="val 18750" name="adj"/>
            </a:avLst>
          </a:prstGeom>
          <a:solidFill>
            <a:srgbClr val="0508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46"/>
          <p:cNvSpPr/>
          <p:nvPr/>
        </p:nvSpPr>
        <p:spPr>
          <a:xfrm>
            <a:off x="1385163" y="1577339"/>
            <a:ext cx="486531" cy="292608"/>
          </a:xfrm>
          <a:prstGeom prst="roundRect">
            <a:avLst>
              <a:gd fmla="val 18750" name="adj"/>
            </a:avLst>
          </a:prstGeom>
          <a:solidFill>
            <a:srgbClr val="1F2A3A"/>
          </a:solidFill>
          <a:ln cap="flat" cmpd="sng" w="12700">
            <a:solidFill>
              <a:srgbClr val="5B6B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46"/>
          <p:cNvSpPr txBox="1"/>
          <p:nvPr/>
        </p:nvSpPr>
        <p:spPr>
          <a:xfrm>
            <a:off x="1385163" y="1577339"/>
            <a:ext cx="48653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Tab</a:t>
            </a:r>
            <a:endParaRPr/>
          </a:p>
        </p:txBody>
      </p:sp>
      <p:sp>
        <p:nvSpPr>
          <p:cNvPr id="685" name="Google Shape;685;p46"/>
          <p:cNvSpPr txBox="1"/>
          <p:nvPr/>
        </p:nvSpPr>
        <p:spPr>
          <a:xfrm>
            <a:off x="2146014" y="1559051"/>
            <a:ext cx="6449345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Until the line under the input box reads </a:t>
            </a:r>
            <a:r>
              <a:rPr b="1" i="0" lang="en-US" sz="13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plan mode on</a:t>
            </a:r>
            <a:r>
              <a:rPr b="0" i="0" lang="en-US" sz="13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. Then:</a:t>
            </a:r>
            <a:endParaRPr/>
          </a:p>
        </p:txBody>
      </p:sp>
      <p:sp>
        <p:nvSpPr>
          <p:cNvPr id="686" name="Google Shape;686;p46"/>
          <p:cNvSpPr txBox="1"/>
          <p:nvPr/>
        </p:nvSpPr>
        <p:spPr>
          <a:xfrm>
            <a:off x="548640" y="203454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endParaRPr/>
          </a:p>
        </p:txBody>
      </p:sp>
      <p:sp>
        <p:nvSpPr>
          <p:cNvPr id="687" name="Google Shape;687;p46"/>
          <p:cNvSpPr txBox="1"/>
          <p:nvPr/>
        </p:nvSpPr>
        <p:spPr>
          <a:xfrm>
            <a:off x="4160520" y="2034540"/>
            <a:ext cx="4434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WHAT THE PROMPT ASKS</a:t>
            </a:r>
            <a:endParaRPr/>
          </a:p>
        </p:txBody>
      </p:sp>
      <p:sp>
        <p:nvSpPr>
          <p:cNvPr id="688" name="Google Shape;688;p46"/>
          <p:cNvSpPr/>
          <p:nvPr/>
        </p:nvSpPr>
        <p:spPr>
          <a:xfrm>
            <a:off x="548640" y="2272284"/>
            <a:ext cx="3200400" cy="475488"/>
          </a:xfrm>
          <a:prstGeom prst="roundRect">
            <a:avLst>
              <a:gd fmla="val 19230" name="adj"/>
            </a:avLst>
          </a:prstGeom>
          <a:solidFill>
            <a:srgbClr val="192332"/>
          </a:solidFill>
          <a:ln cap="flat" cmpd="sng" w="15875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46"/>
          <p:cNvSpPr txBox="1"/>
          <p:nvPr/>
        </p:nvSpPr>
        <p:spPr>
          <a:xfrm>
            <a:off x="704088" y="2272284"/>
            <a:ext cx="274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690" name="Google Shape;690;p46"/>
          <p:cNvSpPr txBox="1"/>
          <p:nvPr/>
        </p:nvSpPr>
        <p:spPr>
          <a:xfrm>
            <a:off x="1005840" y="2272284"/>
            <a:ext cx="2697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D6DCE6"/>
                </a:solidFill>
                <a:latin typeface="Courier New"/>
                <a:ea typeface="Courier New"/>
                <a:cs typeface="Courier New"/>
                <a:sym typeface="Courier New"/>
              </a:rPr>
              <a:t>analyze </a:t>
            </a:r>
            <a:r>
              <a:rPr b="1" i="0" lang="en-US" sz="1500">
                <a:solidFill>
                  <a:srgbClr val="5FD6E2"/>
                </a:solidFill>
                <a:latin typeface="Courier New"/>
                <a:ea typeface="Courier New"/>
                <a:cs typeface="Courier New"/>
                <a:sym typeface="Courier New"/>
              </a:rPr>
              <a:t>@3-analysis.md</a:t>
            </a:r>
            <a:endParaRPr/>
          </a:p>
        </p:txBody>
      </p:sp>
      <p:sp>
        <p:nvSpPr>
          <p:cNvPr id="691" name="Google Shape;691;p46"/>
          <p:cNvSpPr/>
          <p:nvPr/>
        </p:nvSpPr>
        <p:spPr>
          <a:xfrm>
            <a:off x="548640" y="2894076"/>
            <a:ext cx="611061" cy="292608"/>
          </a:xfrm>
          <a:prstGeom prst="roundRect">
            <a:avLst>
              <a:gd fmla="val 18750" name="adj"/>
            </a:avLst>
          </a:prstGeom>
          <a:solidFill>
            <a:srgbClr val="0508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46"/>
          <p:cNvSpPr/>
          <p:nvPr/>
        </p:nvSpPr>
        <p:spPr>
          <a:xfrm>
            <a:off x="548640" y="2857500"/>
            <a:ext cx="611061" cy="292608"/>
          </a:xfrm>
          <a:prstGeom prst="roundRect">
            <a:avLst>
              <a:gd fmla="val 18750" name="adj"/>
            </a:avLst>
          </a:prstGeom>
          <a:solidFill>
            <a:srgbClr val="1F2A3A"/>
          </a:solidFill>
          <a:ln cap="flat" cmpd="sng" w="12700">
            <a:solidFill>
              <a:srgbClr val="5B6B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46"/>
          <p:cNvSpPr txBox="1"/>
          <p:nvPr/>
        </p:nvSpPr>
        <p:spPr>
          <a:xfrm>
            <a:off x="548640" y="2857500"/>
            <a:ext cx="61106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Enter</a:t>
            </a:r>
            <a:endParaRPr/>
          </a:p>
        </p:txBody>
      </p:sp>
      <p:sp>
        <p:nvSpPr>
          <p:cNvPr id="694" name="Google Shape;694;p46"/>
          <p:cNvSpPr txBox="1"/>
          <p:nvPr/>
        </p:nvSpPr>
        <p:spPr>
          <a:xfrm>
            <a:off x="1269429" y="2857500"/>
            <a:ext cx="247961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(Tab after @3 completes the name)</a:t>
            </a:r>
            <a:endParaRPr/>
          </a:p>
        </p:txBody>
      </p:sp>
      <p:sp>
        <p:nvSpPr>
          <p:cNvPr id="695" name="Google Shape;695;p46"/>
          <p:cNvSpPr txBox="1"/>
          <p:nvPr/>
        </p:nvSpPr>
        <p:spPr>
          <a:xfrm>
            <a:off x="3749039" y="2272284"/>
            <a:ext cx="411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696" name="Google Shape;696;p46"/>
          <p:cNvSpPr/>
          <p:nvPr/>
        </p:nvSpPr>
        <p:spPr>
          <a:xfrm>
            <a:off x="4160520" y="2272284"/>
            <a:ext cx="4434840" cy="1161288"/>
          </a:xfrm>
          <a:custGeom>
            <a:rect b="b" l="l" r="r" t="t"/>
            <a:pathLst>
              <a:path extrusionOk="0" h="1161288" w="4434840">
                <a:moveTo>
                  <a:pt x="0" y="0"/>
                </a:moveTo>
                <a:lnTo>
                  <a:pt x="4233672" y="0"/>
                </a:lnTo>
                <a:lnTo>
                  <a:pt x="4434840" y="201168"/>
                </a:lnTo>
                <a:lnTo>
                  <a:pt x="4434840" y="1161288"/>
                </a:lnTo>
                <a:lnTo>
                  <a:pt x="0" y="1161288"/>
                </a:lnTo>
                <a:close/>
              </a:path>
            </a:pathLst>
          </a:custGeom>
          <a:solidFill>
            <a:srgbClr val="0C1219"/>
          </a:solidFill>
          <a:ln cap="flat" cmpd="sng" w="15875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46"/>
          <p:cNvSpPr/>
          <p:nvPr/>
        </p:nvSpPr>
        <p:spPr>
          <a:xfrm>
            <a:off x="8394192" y="2272284"/>
            <a:ext cx="201168" cy="201168"/>
          </a:xfrm>
          <a:custGeom>
            <a:rect b="b" l="l" r="r" t="t"/>
            <a:pathLst>
              <a:path extrusionOk="0" h="201168" w="201168">
                <a:moveTo>
                  <a:pt x="0" y="0"/>
                </a:moveTo>
                <a:lnTo>
                  <a:pt x="0" y="201168"/>
                </a:lnTo>
                <a:lnTo>
                  <a:pt x="201168" y="201168"/>
                </a:lnTo>
                <a:close/>
              </a:path>
            </a:pathLst>
          </a:custGeom>
          <a:solidFill>
            <a:srgbClr val="1E4E55"/>
          </a:solidFill>
          <a:ln cap="flat" cmpd="sng" w="15875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46"/>
          <p:cNvSpPr/>
          <p:nvPr/>
        </p:nvSpPr>
        <p:spPr>
          <a:xfrm>
            <a:off x="4343400" y="2363724"/>
            <a:ext cx="155448" cy="201168"/>
          </a:xfrm>
          <a:custGeom>
            <a:rect b="b" l="l" r="r" t="t"/>
            <a:pathLst>
              <a:path extrusionOk="0" h="201168" w="155448">
                <a:moveTo>
                  <a:pt x="0" y="0"/>
                </a:moveTo>
                <a:lnTo>
                  <a:pt x="105704" y="0"/>
                </a:lnTo>
                <a:lnTo>
                  <a:pt x="155448" y="49743"/>
                </a:lnTo>
                <a:lnTo>
                  <a:pt x="155448" y="201168"/>
                </a:lnTo>
                <a:lnTo>
                  <a:pt x="0" y="201168"/>
                </a:lnTo>
                <a:close/>
              </a:path>
            </a:pathLst>
          </a:custGeom>
          <a:solidFill>
            <a:srgbClr val="0F2C31"/>
          </a:solidFill>
          <a:ln cap="flat" cmpd="sng" w="12700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46"/>
          <p:cNvSpPr/>
          <p:nvPr/>
        </p:nvSpPr>
        <p:spPr>
          <a:xfrm>
            <a:off x="4449104" y="2363724"/>
            <a:ext cx="49744" cy="49743"/>
          </a:xfrm>
          <a:custGeom>
            <a:rect b="b" l="l" r="r" t="t"/>
            <a:pathLst>
              <a:path extrusionOk="0" h="49743" w="49744">
                <a:moveTo>
                  <a:pt x="0" y="0"/>
                </a:moveTo>
                <a:lnTo>
                  <a:pt x="0" y="49743"/>
                </a:lnTo>
                <a:lnTo>
                  <a:pt x="49744" y="49743"/>
                </a:lnTo>
                <a:close/>
              </a:path>
            </a:pathLst>
          </a:custGeom>
          <a:solidFill>
            <a:srgbClr val="37C6D4"/>
          </a:solidFill>
          <a:ln cap="flat" cmpd="sng" w="12700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46"/>
          <p:cNvSpPr/>
          <p:nvPr/>
        </p:nvSpPr>
        <p:spPr>
          <a:xfrm>
            <a:off x="4374489" y="2445471"/>
            <a:ext cx="96377" cy="16459"/>
          </a:xfrm>
          <a:prstGeom prst="rect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46"/>
          <p:cNvSpPr/>
          <p:nvPr/>
        </p:nvSpPr>
        <p:spPr>
          <a:xfrm>
            <a:off x="4374489" y="2478504"/>
            <a:ext cx="96377" cy="16459"/>
          </a:xfrm>
          <a:prstGeom prst="rect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46"/>
          <p:cNvSpPr/>
          <p:nvPr/>
        </p:nvSpPr>
        <p:spPr>
          <a:xfrm>
            <a:off x="4374489" y="2511536"/>
            <a:ext cx="65288" cy="16459"/>
          </a:xfrm>
          <a:prstGeom prst="rect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6"/>
          <p:cNvSpPr txBox="1"/>
          <p:nvPr/>
        </p:nvSpPr>
        <p:spPr>
          <a:xfrm>
            <a:off x="4590288" y="2345436"/>
            <a:ext cx="3703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5FD6E2"/>
                </a:solidFill>
                <a:latin typeface="Courier New"/>
                <a:ea typeface="Courier New"/>
                <a:cs typeface="Courier New"/>
                <a:sym typeface="Courier New"/>
              </a:rPr>
              <a:t>3-analysis.md</a:t>
            </a:r>
            <a:endParaRPr/>
          </a:p>
        </p:txBody>
      </p:sp>
      <p:sp>
        <p:nvSpPr>
          <p:cNvPr id="704" name="Google Shape;704;p46"/>
          <p:cNvSpPr txBox="1"/>
          <p:nvPr/>
        </p:nvSpPr>
        <p:spPr>
          <a:xfrm>
            <a:off x="4361688" y="2647188"/>
            <a:ext cx="4069080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2880" lvl="0" marL="18288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which species is heaviest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how closely flipper length tracks body mass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across all the penguins, and within each species</a:t>
            </a:r>
            <a:endParaRPr/>
          </a:p>
        </p:txBody>
      </p:sp>
      <p:sp>
        <p:nvSpPr>
          <p:cNvPr id="705" name="Google Shape;705;p46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46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47"/>
          <p:cNvSpPr/>
          <p:nvPr/>
        </p:nvSpPr>
        <p:spPr>
          <a:xfrm>
            <a:off x="548640" y="219456"/>
            <a:ext cx="1159764" cy="256032"/>
          </a:xfrm>
          <a:prstGeom prst="roundRect">
            <a:avLst>
              <a:gd fmla="val 21428" name="adj"/>
            </a:avLst>
          </a:prstGeom>
          <a:solidFill>
            <a:srgbClr val="74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47"/>
          <p:cNvSpPr txBox="1"/>
          <p:nvPr/>
        </p:nvSpPr>
        <p:spPr>
          <a:xfrm>
            <a:off x="548640" y="219456"/>
            <a:ext cx="11597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8121A"/>
                </a:solidFill>
                <a:latin typeface="Courier New"/>
                <a:ea typeface="Courier New"/>
                <a:cs typeface="Courier New"/>
                <a:sym typeface="Courier New"/>
              </a:rPr>
              <a:t>3 · analyze</a:t>
            </a:r>
            <a:endParaRPr/>
          </a:p>
        </p:txBody>
      </p:sp>
      <p:sp>
        <p:nvSpPr>
          <p:cNvPr id="713" name="Google Shape;713;p47"/>
          <p:cNvSpPr txBox="1"/>
          <p:nvPr/>
        </p:nvSpPr>
        <p:spPr>
          <a:xfrm>
            <a:off x="1845563" y="219456"/>
            <a:ext cx="67497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Step 3 of 6 · run</a:t>
            </a:r>
            <a:endParaRPr/>
          </a:p>
        </p:txBody>
      </p:sp>
      <p:sp>
        <p:nvSpPr>
          <p:cNvPr id="714" name="Google Shape;714;p47"/>
          <p:cNvSpPr txBox="1"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Run the plan</a:t>
            </a:r>
            <a:endParaRPr/>
          </a:p>
        </p:txBody>
      </p:sp>
      <p:sp>
        <p:nvSpPr>
          <p:cNvPr id="715" name="Google Shape;715;p47"/>
          <p:cNvSpPr txBox="1"/>
          <p:nvPr/>
        </p:nvSpPr>
        <p:spPr>
          <a:xfrm>
            <a:off x="548640" y="1115568"/>
            <a:ext cx="8046720" cy="224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Approve the plan with manual edits, and Claude Code still asks you before each change.</a:t>
            </a:r>
            <a:endParaRPr/>
          </a:p>
        </p:txBody>
      </p:sp>
      <p:pic>
        <p:nvPicPr>
          <p:cNvPr descr="image62.png" id="716" name="Google Shape;71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922525"/>
            <a:ext cx="8046720" cy="1481328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47"/>
          <p:cNvSpPr/>
          <p:nvPr/>
        </p:nvSpPr>
        <p:spPr>
          <a:xfrm>
            <a:off x="548640" y="3922775"/>
            <a:ext cx="2174748" cy="310896"/>
          </a:xfrm>
          <a:prstGeom prst="roundRect">
            <a:avLst>
              <a:gd fmla="val 20588" name="adj"/>
            </a:avLst>
          </a:prstGeom>
          <a:solidFill>
            <a:srgbClr val="0C1219"/>
          </a:solidFill>
          <a:ln cap="flat" cmpd="sng" w="12700">
            <a:solidFill>
              <a:srgbClr val="5B6B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47"/>
          <p:cNvSpPr txBox="1"/>
          <p:nvPr/>
        </p:nvSpPr>
        <p:spPr>
          <a:xfrm>
            <a:off x="548640" y="3922775"/>
            <a:ext cx="21747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AFD7FF"/>
                </a:solidFill>
                <a:latin typeface="Arial"/>
                <a:ea typeface="Arial"/>
                <a:cs typeface="Arial"/>
                <a:sym typeface="Arial"/>
              </a:rPr>
              <a:t>Yes, manually approve edits</a:t>
            </a:r>
            <a:endParaRPr/>
          </a:p>
        </p:txBody>
      </p:sp>
      <p:sp>
        <p:nvSpPr>
          <p:cNvPr id="719" name="Google Shape;719;p47"/>
          <p:cNvSpPr txBox="1"/>
          <p:nvPr/>
        </p:nvSpPr>
        <p:spPr>
          <a:xfrm>
            <a:off x="2997708" y="3913631"/>
            <a:ext cx="55976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Claude carries out the plan; Claude Code asks you before each edit.</a:t>
            </a:r>
            <a:endParaRPr/>
          </a:p>
        </p:txBody>
      </p:sp>
      <p:sp>
        <p:nvSpPr>
          <p:cNvPr id="720" name="Google Shape;720;p47"/>
          <p:cNvSpPr/>
          <p:nvPr/>
        </p:nvSpPr>
        <p:spPr>
          <a:xfrm>
            <a:off x="548640" y="4389119"/>
            <a:ext cx="497598" cy="292608"/>
          </a:xfrm>
          <a:prstGeom prst="roundRect">
            <a:avLst>
              <a:gd fmla="val 18750" name="adj"/>
            </a:avLst>
          </a:prstGeom>
          <a:solidFill>
            <a:srgbClr val="0508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47"/>
          <p:cNvSpPr/>
          <p:nvPr/>
        </p:nvSpPr>
        <p:spPr>
          <a:xfrm>
            <a:off x="548640" y="4352543"/>
            <a:ext cx="497598" cy="292608"/>
          </a:xfrm>
          <a:prstGeom prst="roundRect">
            <a:avLst>
              <a:gd fmla="val 18750" name="adj"/>
            </a:avLst>
          </a:prstGeom>
          <a:solidFill>
            <a:srgbClr val="1F2A3A"/>
          </a:solidFill>
          <a:ln cap="flat" cmpd="sng" w="12700">
            <a:solidFill>
              <a:srgbClr val="5B6B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47"/>
          <p:cNvSpPr txBox="1"/>
          <p:nvPr/>
        </p:nvSpPr>
        <p:spPr>
          <a:xfrm>
            <a:off x="548640" y="4352543"/>
            <a:ext cx="49759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Esc</a:t>
            </a:r>
            <a:endParaRPr/>
          </a:p>
        </p:txBody>
      </p:sp>
      <p:sp>
        <p:nvSpPr>
          <p:cNvPr id="723" name="Google Shape;723;p47"/>
          <p:cNvSpPr txBox="1"/>
          <p:nvPr/>
        </p:nvSpPr>
        <p:spPr>
          <a:xfrm>
            <a:off x="2997708" y="4334255"/>
            <a:ext cx="55976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If Claude goes the wrong way, press Esc and say what to do instead.</a:t>
            </a:r>
            <a:endParaRPr/>
          </a:p>
        </p:txBody>
      </p:sp>
      <p:sp>
        <p:nvSpPr>
          <p:cNvPr id="724" name="Google Shape;724;p47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48"/>
          <p:cNvSpPr/>
          <p:nvPr/>
        </p:nvSpPr>
        <p:spPr>
          <a:xfrm>
            <a:off x="548640" y="219456"/>
            <a:ext cx="1159764" cy="256032"/>
          </a:xfrm>
          <a:prstGeom prst="roundRect">
            <a:avLst>
              <a:gd fmla="val 21428" name="adj"/>
            </a:avLst>
          </a:prstGeom>
          <a:solidFill>
            <a:srgbClr val="74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48"/>
          <p:cNvSpPr txBox="1"/>
          <p:nvPr/>
        </p:nvSpPr>
        <p:spPr>
          <a:xfrm>
            <a:off x="548640" y="219456"/>
            <a:ext cx="11597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8121A"/>
                </a:solidFill>
                <a:latin typeface="Courier New"/>
                <a:ea typeface="Courier New"/>
                <a:cs typeface="Courier New"/>
                <a:sym typeface="Courier New"/>
              </a:rPr>
              <a:t>3 · analyze</a:t>
            </a:r>
            <a:endParaRPr/>
          </a:p>
        </p:txBody>
      </p:sp>
      <p:sp>
        <p:nvSpPr>
          <p:cNvPr id="732" name="Google Shape;732;p48"/>
          <p:cNvSpPr txBox="1"/>
          <p:nvPr/>
        </p:nvSpPr>
        <p:spPr>
          <a:xfrm>
            <a:off x="1845563" y="219456"/>
            <a:ext cx="67497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While Claude works</a:t>
            </a:r>
            <a:endParaRPr/>
          </a:p>
        </p:txBody>
      </p:sp>
      <p:sp>
        <p:nvSpPr>
          <p:cNvPr id="733" name="Google Shape;733;p48"/>
          <p:cNvSpPr txBox="1"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While step 3 runs: what plan mode is for</a:t>
            </a:r>
            <a:endParaRPr/>
          </a:p>
        </p:txBody>
      </p:sp>
      <p:sp>
        <p:nvSpPr>
          <p:cNvPr id="734" name="Google Shape;734;p48"/>
          <p:cNvSpPr/>
          <p:nvPr/>
        </p:nvSpPr>
        <p:spPr>
          <a:xfrm>
            <a:off x="548640" y="3997756"/>
            <a:ext cx="8046720" cy="665683"/>
          </a:xfrm>
          <a:prstGeom prst="roundRect">
            <a:avLst>
              <a:gd fmla="val 10989" name="adj"/>
            </a:avLst>
          </a:prstGeom>
          <a:solidFill>
            <a:srgbClr val="2621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8"/>
          <p:cNvSpPr/>
          <p:nvPr/>
        </p:nvSpPr>
        <p:spPr>
          <a:xfrm>
            <a:off x="548640" y="4052620"/>
            <a:ext cx="54864" cy="555955"/>
          </a:xfrm>
          <a:prstGeom prst="rect">
            <a:avLst/>
          </a:prstGeom>
          <a:solidFill>
            <a:srgbClr val="EBB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8"/>
          <p:cNvSpPr txBox="1"/>
          <p:nvPr/>
        </p:nvSpPr>
        <p:spPr>
          <a:xfrm>
            <a:off x="804672" y="3997756"/>
            <a:ext cx="7589520" cy="6656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EBB661"/>
                </a:solidFill>
                <a:latin typeface="Arial"/>
                <a:ea typeface="Arial"/>
                <a:cs typeface="Arial"/>
                <a:sym typeface="Arial"/>
              </a:rPr>
              <a:t>When it finishes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  Claude's answer, with the numbers behind it. Ask how any number was computed, and Claude shows the code.</a:t>
            </a:r>
            <a:endParaRPr/>
          </a:p>
        </p:txBody>
      </p:sp>
      <p:sp>
        <p:nvSpPr>
          <p:cNvPr id="737" name="Google Shape;737;p48"/>
          <p:cNvSpPr/>
          <p:nvPr/>
        </p:nvSpPr>
        <p:spPr>
          <a:xfrm>
            <a:off x="548640" y="1261872"/>
            <a:ext cx="274320" cy="274320"/>
          </a:xfrm>
          <a:prstGeom prst="ellipse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38" name="Google Shape;738;p48"/>
          <p:cNvSpPr txBox="1"/>
          <p:nvPr/>
        </p:nvSpPr>
        <p:spPr>
          <a:xfrm>
            <a:off x="932688" y="1216152"/>
            <a:ext cx="3291839" cy="748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74A8FF"/>
                </a:solidFill>
                <a:latin typeface="Arial"/>
                <a:ea typeface="Arial"/>
                <a:cs typeface="Arial"/>
                <a:sym typeface="Arial"/>
              </a:rPr>
              <a:t>No edits before approval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Claude reads files and runs read-only commands; Claude Code blocks every edit.</a:t>
            </a:r>
            <a:endParaRPr/>
          </a:p>
        </p:txBody>
      </p:sp>
      <p:sp>
        <p:nvSpPr>
          <p:cNvPr id="739" name="Google Shape;739;p48"/>
          <p:cNvSpPr/>
          <p:nvPr/>
        </p:nvSpPr>
        <p:spPr>
          <a:xfrm>
            <a:off x="548640" y="2101519"/>
            <a:ext cx="274320" cy="274320"/>
          </a:xfrm>
          <a:prstGeom prst="ellipse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40" name="Google Shape;740;p48"/>
          <p:cNvSpPr txBox="1"/>
          <p:nvPr/>
        </p:nvSpPr>
        <p:spPr>
          <a:xfrm>
            <a:off x="932688" y="2055799"/>
            <a:ext cx="3291839" cy="748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74A8FF"/>
                </a:solidFill>
                <a:latin typeface="Arial"/>
                <a:ea typeface="Arial"/>
                <a:cs typeface="Arial"/>
                <a:sym typeface="Arial"/>
              </a:rPr>
              <a:t>Fix the plan, not the code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“Tell Claude what to change” gets a revised plan; Ctrl+G opens it in your editor.</a:t>
            </a:r>
            <a:endParaRPr/>
          </a:p>
        </p:txBody>
      </p:sp>
      <p:sp>
        <p:nvSpPr>
          <p:cNvPr id="741" name="Google Shape;741;p48"/>
          <p:cNvSpPr/>
          <p:nvPr/>
        </p:nvSpPr>
        <p:spPr>
          <a:xfrm>
            <a:off x="548640" y="2941167"/>
            <a:ext cx="274320" cy="274320"/>
          </a:xfrm>
          <a:prstGeom prst="ellipse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42" name="Google Shape;742;p48"/>
          <p:cNvSpPr txBox="1"/>
          <p:nvPr/>
        </p:nvSpPr>
        <p:spPr>
          <a:xfrm>
            <a:off x="932688" y="2895447"/>
            <a:ext cx="3291839" cy="748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74A8FF"/>
                </a:solidFill>
                <a:latin typeface="Arial"/>
                <a:ea typeface="Arial"/>
                <a:cs typeface="Arial"/>
                <a:sym typeface="Arial"/>
              </a:rPr>
              <a:t>When to plan first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For tasks with several steps or files. A one-sentence change needs no plan.</a:t>
            </a:r>
            <a:endParaRPr/>
          </a:p>
        </p:txBody>
      </p:sp>
      <p:pic>
        <p:nvPicPr>
          <p:cNvPr descr="image68.png" id="743" name="Google Shape;74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8017" y="1243584"/>
            <a:ext cx="3945604" cy="2571292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48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49"/>
          <p:cNvSpPr/>
          <p:nvPr/>
        </p:nvSpPr>
        <p:spPr>
          <a:xfrm>
            <a:off x="548640" y="219456"/>
            <a:ext cx="1075944" cy="256032"/>
          </a:xfrm>
          <a:prstGeom prst="roundRect">
            <a:avLst>
              <a:gd fmla="val 21428" name="adj"/>
            </a:avLst>
          </a:prstGeom>
          <a:solidFill>
            <a:srgbClr val="74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49"/>
          <p:cNvSpPr txBox="1"/>
          <p:nvPr/>
        </p:nvSpPr>
        <p:spPr>
          <a:xfrm>
            <a:off x="548640" y="219456"/>
            <a:ext cx="1075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8121A"/>
                </a:solidFill>
                <a:latin typeface="Courier New"/>
                <a:ea typeface="Courier New"/>
                <a:cs typeface="Courier New"/>
                <a:sym typeface="Courier New"/>
              </a:rPr>
              <a:t>4 · verify</a:t>
            </a:r>
            <a:endParaRPr/>
          </a:p>
        </p:txBody>
      </p:sp>
      <p:sp>
        <p:nvSpPr>
          <p:cNvPr id="752" name="Google Shape;752;p49"/>
          <p:cNvSpPr txBox="1"/>
          <p:nvPr/>
        </p:nvSpPr>
        <p:spPr>
          <a:xfrm>
            <a:off x="1761744" y="219456"/>
            <a:ext cx="6833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Step 4 of 6</a:t>
            </a:r>
            <a:endParaRPr/>
          </a:p>
        </p:txBody>
      </p:sp>
      <p:sp>
        <p:nvSpPr>
          <p:cNvPr id="753" name="Google Shape;753;p49"/>
          <p:cNvSpPr txBox="1"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Two independent checks</a:t>
            </a:r>
            <a:endParaRPr/>
          </a:p>
        </p:txBody>
      </p:sp>
      <p:sp>
        <p:nvSpPr>
          <p:cNvPr id="754" name="Google Shape;754;p49"/>
          <p:cNvSpPr txBox="1"/>
          <p:nvPr/>
        </p:nvSpPr>
        <p:spPr>
          <a:xfrm>
            <a:off x="548640" y="1115568"/>
            <a:ext cx="80467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Subagents: two helpers that did not produce the result check it, in parallel, each in its own context.</a:t>
            </a:r>
            <a:endParaRPr/>
          </a:p>
        </p:txBody>
      </p:sp>
      <p:sp>
        <p:nvSpPr>
          <p:cNvPr id="755" name="Google Shape;755;p49"/>
          <p:cNvSpPr/>
          <p:nvPr/>
        </p:nvSpPr>
        <p:spPr>
          <a:xfrm>
            <a:off x="548640" y="4211726"/>
            <a:ext cx="8046720" cy="451713"/>
          </a:xfrm>
          <a:prstGeom prst="roundRect">
            <a:avLst>
              <a:gd fmla="val 16194" name="adj"/>
            </a:avLst>
          </a:prstGeom>
          <a:solidFill>
            <a:srgbClr val="2621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49"/>
          <p:cNvSpPr/>
          <p:nvPr/>
        </p:nvSpPr>
        <p:spPr>
          <a:xfrm>
            <a:off x="548640" y="4266590"/>
            <a:ext cx="54864" cy="341985"/>
          </a:xfrm>
          <a:prstGeom prst="rect">
            <a:avLst/>
          </a:prstGeom>
          <a:solidFill>
            <a:srgbClr val="EBB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49"/>
          <p:cNvSpPr txBox="1"/>
          <p:nvPr/>
        </p:nvSpPr>
        <p:spPr>
          <a:xfrm>
            <a:off x="804672" y="4211726"/>
            <a:ext cx="7589520" cy="451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EBB661"/>
                </a:solidFill>
                <a:latin typeface="Arial"/>
                <a:ea typeface="Arial"/>
                <a:cs typeface="Arial"/>
                <a:sym typeface="Arial"/>
              </a:rPr>
              <a:t>As it runs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  Commands from the helpers still need your approval: answer them as they come in.</a:t>
            </a:r>
            <a:endParaRPr/>
          </a:p>
        </p:txBody>
      </p:sp>
      <p:sp>
        <p:nvSpPr>
          <p:cNvPr id="758" name="Google Shape;758;p49"/>
          <p:cNvSpPr txBox="1"/>
          <p:nvPr/>
        </p:nvSpPr>
        <p:spPr>
          <a:xfrm>
            <a:off x="548640" y="178308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endParaRPr/>
          </a:p>
        </p:txBody>
      </p:sp>
      <p:sp>
        <p:nvSpPr>
          <p:cNvPr id="759" name="Google Shape;759;p49"/>
          <p:cNvSpPr txBox="1"/>
          <p:nvPr/>
        </p:nvSpPr>
        <p:spPr>
          <a:xfrm>
            <a:off x="4160520" y="1783080"/>
            <a:ext cx="4434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WHAT THE PROMPT ASKS</a:t>
            </a:r>
            <a:endParaRPr/>
          </a:p>
        </p:txBody>
      </p:sp>
      <p:sp>
        <p:nvSpPr>
          <p:cNvPr id="760" name="Google Shape;760;p49"/>
          <p:cNvSpPr/>
          <p:nvPr/>
        </p:nvSpPr>
        <p:spPr>
          <a:xfrm>
            <a:off x="548640" y="2020824"/>
            <a:ext cx="3200400" cy="475488"/>
          </a:xfrm>
          <a:prstGeom prst="roundRect">
            <a:avLst>
              <a:gd fmla="val 19230" name="adj"/>
            </a:avLst>
          </a:prstGeom>
          <a:solidFill>
            <a:srgbClr val="192332"/>
          </a:solidFill>
          <a:ln cap="flat" cmpd="sng" w="15875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49"/>
          <p:cNvSpPr txBox="1"/>
          <p:nvPr/>
        </p:nvSpPr>
        <p:spPr>
          <a:xfrm>
            <a:off x="704088" y="2020824"/>
            <a:ext cx="274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762" name="Google Shape;762;p49"/>
          <p:cNvSpPr txBox="1"/>
          <p:nvPr/>
        </p:nvSpPr>
        <p:spPr>
          <a:xfrm>
            <a:off x="1005840" y="2020824"/>
            <a:ext cx="2697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D6DCE6"/>
                </a:solidFill>
                <a:latin typeface="Courier New"/>
                <a:ea typeface="Courier New"/>
                <a:cs typeface="Courier New"/>
                <a:sym typeface="Courier New"/>
              </a:rPr>
              <a:t>verify </a:t>
            </a:r>
            <a:r>
              <a:rPr b="1" i="0" lang="en-US" sz="1500">
                <a:solidFill>
                  <a:srgbClr val="5FD6E2"/>
                </a:solidFill>
                <a:latin typeface="Courier New"/>
                <a:ea typeface="Courier New"/>
                <a:cs typeface="Courier New"/>
                <a:sym typeface="Courier New"/>
              </a:rPr>
              <a:t>@4-verify.md</a:t>
            </a:r>
            <a:endParaRPr/>
          </a:p>
        </p:txBody>
      </p:sp>
      <p:sp>
        <p:nvSpPr>
          <p:cNvPr id="763" name="Google Shape;763;p49"/>
          <p:cNvSpPr/>
          <p:nvPr/>
        </p:nvSpPr>
        <p:spPr>
          <a:xfrm>
            <a:off x="548640" y="2642616"/>
            <a:ext cx="611061" cy="292608"/>
          </a:xfrm>
          <a:prstGeom prst="roundRect">
            <a:avLst>
              <a:gd fmla="val 18750" name="adj"/>
            </a:avLst>
          </a:prstGeom>
          <a:solidFill>
            <a:srgbClr val="0508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49"/>
          <p:cNvSpPr/>
          <p:nvPr/>
        </p:nvSpPr>
        <p:spPr>
          <a:xfrm>
            <a:off x="548640" y="2606040"/>
            <a:ext cx="611061" cy="292608"/>
          </a:xfrm>
          <a:prstGeom prst="roundRect">
            <a:avLst>
              <a:gd fmla="val 18750" name="adj"/>
            </a:avLst>
          </a:prstGeom>
          <a:solidFill>
            <a:srgbClr val="1F2A3A"/>
          </a:solidFill>
          <a:ln cap="flat" cmpd="sng" w="12700">
            <a:solidFill>
              <a:srgbClr val="5B6B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49"/>
          <p:cNvSpPr txBox="1"/>
          <p:nvPr/>
        </p:nvSpPr>
        <p:spPr>
          <a:xfrm>
            <a:off x="548640" y="2606040"/>
            <a:ext cx="61106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Enter</a:t>
            </a:r>
            <a:endParaRPr/>
          </a:p>
        </p:txBody>
      </p:sp>
      <p:sp>
        <p:nvSpPr>
          <p:cNvPr id="766" name="Google Shape;766;p49"/>
          <p:cNvSpPr txBox="1"/>
          <p:nvPr/>
        </p:nvSpPr>
        <p:spPr>
          <a:xfrm>
            <a:off x="1269429" y="2606040"/>
            <a:ext cx="247961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(Tab after @4 completes the name)</a:t>
            </a:r>
            <a:endParaRPr/>
          </a:p>
        </p:txBody>
      </p:sp>
      <p:sp>
        <p:nvSpPr>
          <p:cNvPr id="767" name="Google Shape;767;p49"/>
          <p:cNvSpPr txBox="1"/>
          <p:nvPr/>
        </p:nvSpPr>
        <p:spPr>
          <a:xfrm>
            <a:off x="3749039" y="2020824"/>
            <a:ext cx="411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768" name="Google Shape;768;p49"/>
          <p:cNvSpPr/>
          <p:nvPr/>
        </p:nvSpPr>
        <p:spPr>
          <a:xfrm>
            <a:off x="4160520" y="2020824"/>
            <a:ext cx="4434840" cy="1161288"/>
          </a:xfrm>
          <a:custGeom>
            <a:rect b="b" l="l" r="r" t="t"/>
            <a:pathLst>
              <a:path extrusionOk="0" h="1161288" w="4434840">
                <a:moveTo>
                  <a:pt x="0" y="0"/>
                </a:moveTo>
                <a:lnTo>
                  <a:pt x="4233672" y="0"/>
                </a:lnTo>
                <a:lnTo>
                  <a:pt x="4434840" y="201168"/>
                </a:lnTo>
                <a:lnTo>
                  <a:pt x="4434840" y="1161288"/>
                </a:lnTo>
                <a:lnTo>
                  <a:pt x="0" y="1161288"/>
                </a:lnTo>
                <a:close/>
              </a:path>
            </a:pathLst>
          </a:custGeom>
          <a:solidFill>
            <a:srgbClr val="0C1219"/>
          </a:solidFill>
          <a:ln cap="flat" cmpd="sng" w="15875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9"/>
          <p:cNvSpPr/>
          <p:nvPr/>
        </p:nvSpPr>
        <p:spPr>
          <a:xfrm>
            <a:off x="8394192" y="2020824"/>
            <a:ext cx="201168" cy="201168"/>
          </a:xfrm>
          <a:custGeom>
            <a:rect b="b" l="l" r="r" t="t"/>
            <a:pathLst>
              <a:path extrusionOk="0" h="201168" w="201168">
                <a:moveTo>
                  <a:pt x="0" y="0"/>
                </a:moveTo>
                <a:lnTo>
                  <a:pt x="0" y="201168"/>
                </a:lnTo>
                <a:lnTo>
                  <a:pt x="201168" y="201168"/>
                </a:lnTo>
                <a:close/>
              </a:path>
            </a:pathLst>
          </a:custGeom>
          <a:solidFill>
            <a:srgbClr val="1E4E55"/>
          </a:solidFill>
          <a:ln cap="flat" cmpd="sng" w="15875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49"/>
          <p:cNvSpPr/>
          <p:nvPr/>
        </p:nvSpPr>
        <p:spPr>
          <a:xfrm>
            <a:off x="4343400" y="2112264"/>
            <a:ext cx="155448" cy="201168"/>
          </a:xfrm>
          <a:custGeom>
            <a:rect b="b" l="l" r="r" t="t"/>
            <a:pathLst>
              <a:path extrusionOk="0" h="201168" w="155448">
                <a:moveTo>
                  <a:pt x="0" y="0"/>
                </a:moveTo>
                <a:lnTo>
                  <a:pt x="105704" y="0"/>
                </a:lnTo>
                <a:lnTo>
                  <a:pt x="155448" y="49743"/>
                </a:lnTo>
                <a:lnTo>
                  <a:pt x="155448" y="201168"/>
                </a:lnTo>
                <a:lnTo>
                  <a:pt x="0" y="201168"/>
                </a:lnTo>
                <a:close/>
              </a:path>
            </a:pathLst>
          </a:custGeom>
          <a:solidFill>
            <a:srgbClr val="0F2C31"/>
          </a:solidFill>
          <a:ln cap="flat" cmpd="sng" w="12700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49"/>
          <p:cNvSpPr/>
          <p:nvPr/>
        </p:nvSpPr>
        <p:spPr>
          <a:xfrm>
            <a:off x="4449104" y="2112264"/>
            <a:ext cx="49744" cy="49743"/>
          </a:xfrm>
          <a:custGeom>
            <a:rect b="b" l="l" r="r" t="t"/>
            <a:pathLst>
              <a:path extrusionOk="0" h="49743" w="49744">
                <a:moveTo>
                  <a:pt x="0" y="0"/>
                </a:moveTo>
                <a:lnTo>
                  <a:pt x="0" y="49743"/>
                </a:lnTo>
                <a:lnTo>
                  <a:pt x="49744" y="49743"/>
                </a:lnTo>
                <a:close/>
              </a:path>
            </a:pathLst>
          </a:custGeom>
          <a:solidFill>
            <a:srgbClr val="37C6D4"/>
          </a:solidFill>
          <a:ln cap="flat" cmpd="sng" w="12700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49"/>
          <p:cNvSpPr/>
          <p:nvPr/>
        </p:nvSpPr>
        <p:spPr>
          <a:xfrm>
            <a:off x="4374489" y="2194011"/>
            <a:ext cx="96377" cy="16459"/>
          </a:xfrm>
          <a:prstGeom prst="rect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9"/>
          <p:cNvSpPr/>
          <p:nvPr/>
        </p:nvSpPr>
        <p:spPr>
          <a:xfrm>
            <a:off x="4374489" y="2227044"/>
            <a:ext cx="96377" cy="16459"/>
          </a:xfrm>
          <a:prstGeom prst="rect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9"/>
          <p:cNvSpPr/>
          <p:nvPr/>
        </p:nvSpPr>
        <p:spPr>
          <a:xfrm>
            <a:off x="4374489" y="2260076"/>
            <a:ext cx="65288" cy="16459"/>
          </a:xfrm>
          <a:prstGeom prst="rect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49"/>
          <p:cNvSpPr txBox="1"/>
          <p:nvPr/>
        </p:nvSpPr>
        <p:spPr>
          <a:xfrm>
            <a:off x="4590288" y="2093976"/>
            <a:ext cx="3703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5FD6E2"/>
                </a:solidFill>
                <a:latin typeface="Courier New"/>
                <a:ea typeface="Courier New"/>
                <a:cs typeface="Courier New"/>
                <a:sym typeface="Courier New"/>
              </a:rPr>
              <a:t>4-verify.md</a:t>
            </a:r>
            <a:endParaRPr/>
          </a:p>
        </p:txBody>
      </p:sp>
      <p:sp>
        <p:nvSpPr>
          <p:cNvPr id="776" name="Google Shape;776;p49"/>
          <p:cNvSpPr txBox="1"/>
          <p:nvPr/>
        </p:nvSpPr>
        <p:spPr>
          <a:xfrm>
            <a:off x="4361688" y="2395728"/>
            <a:ext cx="4069080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2880" lvl="0" marL="18288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one recomputes the key numbers, without our code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another reviews the method, as a skeptical statistician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then: where they agree with us, and what to doubt</a:t>
            </a:r>
            <a:endParaRPr/>
          </a:p>
        </p:txBody>
      </p:sp>
      <p:sp>
        <p:nvSpPr>
          <p:cNvPr id="777" name="Google Shape;777;p49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49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5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50"/>
          <p:cNvSpPr/>
          <p:nvPr/>
        </p:nvSpPr>
        <p:spPr>
          <a:xfrm>
            <a:off x="548640" y="219456"/>
            <a:ext cx="1075944" cy="256032"/>
          </a:xfrm>
          <a:prstGeom prst="roundRect">
            <a:avLst>
              <a:gd fmla="val 21428" name="adj"/>
            </a:avLst>
          </a:prstGeom>
          <a:solidFill>
            <a:srgbClr val="74A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50"/>
          <p:cNvSpPr txBox="1"/>
          <p:nvPr/>
        </p:nvSpPr>
        <p:spPr>
          <a:xfrm>
            <a:off x="548640" y="219456"/>
            <a:ext cx="1075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8121A"/>
                </a:solidFill>
                <a:latin typeface="Courier New"/>
                <a:ea typeface="Courier New"/>
                <a:cs typeface="Courier New"/>
                <a:sym typeface="Courier New"/>
              </a:rPr>
              <a:t>4 · verify</a:t>
            </a:r>
            <a:endParaRPr/>
          </a:p>
        </p:txBody>
      </p:sp>
      <p:sp>
        <p:nvSpPr>
          <p:cNvPr id="785" name="Google Shape;785;p50"/>
          <p:cNvSpPr txBox="1"/>
          <p:nvPr/>
        </p:nvSpPr>
        <p:spPr>
          <a:xfrm>
            <a:off x="1761744" y="219456"/>
            <a:ext cx="6833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While Claude works</a:t>
            </a:r>
            <a:endParaRPr/>
          </a:p>
        </p:txBody>
      </p:sp>
      <p:sp>
        <p:nvSpPr>
          <p:cNvPr id="786" name="Google Shape;786;p50"/>
          <p:cNvSpPr txBox="1"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While step 4 runs: two subagents at work</a:t>
            </a:r>
            <a:endParaRPr/>
          </a:p>
        </p:txBody>
      </p:sp>
      <p:sp>
        <p:nvSpPr>
          <p:cNvPr id="787" name="Google Shape;787;p50"/>
          <p:cNvSpPr/>
          <p:nvPr/>
        </p:nvSpPr>
        <p:spPr>
          <a:xfrm>
            <a:off x="548640" y="3997756"/>
            <a:ext cx="8046720" cy="665683"/>
          </a:xfrm>
          <a:prstGeom prst="roundRect">
            <a:avLst>
              <a:gd fmla="val 10989" name="adj"/>
            </a:avLst>
          </a:prstGeom>
          <a:solidFill>
            <a:srgbClr val="2621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50"/>
          <p:cNvSpPr/>
          <p:nvPr/>
        </p:nvSpPr>
        <p:spPr>
          <a:xfrm>
            <a:off x="548640" y="4052620"/>
            <a:ext cx="54864" cy="555955"/>
          </a:xfrm>
          <a:prstGeom prst="rect">
            <a:avLst/>
          </a:prstGeom>
          <a:solidFill>
            <a:srgbClr val="EBB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50"/>
          <p:cNvSpPr txBox="1"/>
          <p:nvPr/>
        </p:nvSpPr>
        <p:spPr>
          <a:xfrm>
            <a:off x="804672" y="3997756"/>
            <a:ext cx="7589520" cy="6656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EBB661"/>
                </a:solidFill>
                <a:latin typeface="Arial"/>
                <a:ea typeface="Arial"/>
                <a:cs typeface="Arial"/>
                <a:sym typeface="Arial"/>
              </a:rPr>
              <a:t>When it finishes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  Where the helpers agree with us, and the result to doubt most. Then check </a:t>
            </a:r>
            <a:r>
              <a:rPr b="0" i="0" lang="en-US" sz="13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answers.py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yourself: a deny rule in </a:t>
            </a:r>
            <a:r>
              <a:rPr b="0" i="0" lang="en-US" sz="13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.claude/settings.json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keeps Claude from reading it.</a:t>
            </a:r>
            <a:endParaRPr/>
          </a:p>
        </p:txBody>
      </p:sp>
      <p:sp>
        <p:nvSpPr>
          <p:cNvPr id="790" name="Google Shape;790;p50"/>
          <p:cNvSpPr/>
          <p:nvPr/>
        </p:nvSpPr>
        <p:spPr>
          <a:xfrm>
            <a:off x="548640" y="1261872"/>
            <a:ext cx="274320" cy="274320"/>
          </a:xfrm>
          <a:prstGeom prst="ellipse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91" name="Google Shape;791;p50"/>
          <p:cNvSpPr txBox="1"/>
          <p:nvPr/>
        </p:nvSpPr>
        <p:spPr>
          <a:xfrm>
            <a:off x="932688" y="1216152"/>
            <a:ext cx="3291839" cy="748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74A8FF"/>
                </a:solidFill>
                <a:latin typeface="Arial"/>
                <a:ea typeface="Arial"/>
                <a:cs typeface="Arial"/>
                <a:sym typeface="Arial"/>
              </a:rPr>
              <a:t>Each starts fresh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A subagent gets only the task Claude writes for it, so it cannot repeat our mistakes.</a:t>
            </a:r>
            <a:endParaRPr/>
          </a:p>
        </p:txBody>
      </p:sp>
      <p:sp>
        <p:nvSpPr>
          <p:cNvPr id="792" name="Google Shape;792;p50"/>
          <p:cNvSpPr/>
          <p:nvPr/>
        </p:nvSpPr>
        <p:spPr>
          <a:xfrm>
            <a:off x="548640" y="2101519"/>
            <a:ext cx="274320" cy="274320"/>
          </a:xfrm>
          <a:prstGeom prst="ellipse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93" name="Google Shape;793;p50"/>
          <p:cNvSpPr txBox="1"/>
          <p:nvPr/>
        </p:nvSpPr>
        <p:spPr>
          <a:xfrm>
            <a:off x="932688" y="2055799"/>
            <a:ext cx="3291839" cy="748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74A8FF"/>
                </a:solidFill>
                <a:latin typeface="Arial"/>
                <a:ea typeface="Arial"/>
                <a:cs typeface="Arial"/>
                <a:sym typeface="Arial"/>
              </a:rPr>
              <a:t>Watch them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/tasks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lists both helpers while they run; the input box stays free meanwhile.</a:t>
            </a:r>
            <a:endParaRPr/>
          </a:p>
        </p:txBody>
      </p:sp>
      <p:sp>
        <p:nvSpPr>
          <p:cNvPr id="794" name="Google Shape;794;p50"/>
          <p:cNvSpPr/>
          <p:nvPr/>
        </p:nvSpPr>
        <p:spPr>
          <a:xfrm>
            <a:off x="548640" y="2941167"/>
            <a:ext cx="274320" cy="274320"/>
          </a:xfrm>
          <a:prstGeom prst="ellipse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95" name="Google Shape;795;p50"/>
          <p:cNvSpPr txBox="1"/>
          <p:nvPr/>
        </p:nvSpPr>
        <p:spPr>
          <a:xfrm>
            <a:off x="932688" y="2895447"/>
            <a:ext cx="3291839" cy="748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74A8FF"/>
                </a:solidFill>
                <a:latin typeface="Arial"/>
                <a:ea typeface="Arial"/>
                <a:cs typeface="Arial"/>
                <a:sym typeface="Arial"/>
              </a:rPr>
              <a:t>Only summaries come back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Their reads and commands stay in their own context; each sends back one summary.</a:t>
            </a:r>
            <a:endParaRPr/>
          </a:p>
        </p:txBody>
      </p:sp>
      <p:pic>
        <p:nvPicPr>
          <p:cNvPr descr="image69.png" id="796" name="Google Shape;796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8017" y="1243584"/>
            <a:ext cx="3945604" cy="2571292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50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5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51"/>
          <p:cNvSpPr/>
          <p:nvPr/>
        </p:nvSpPr>
        <p:spPr>
          <a:xfrm>
            <a:off x="548640" y="219456"/>
            <a:ext cx="1075944" cy="256032"/>
          </a:xfrm>
          <a:prstGeom prst="roundRect">
            <a:avLst>
              <a:gd fmla="val 21428" name="adj"/>
            </a:avLst>
          </a:prstGeom>
          <a:solidFill>
            <a:srgbClr val="37C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51"/>
          <p:cNvSpPr txBox="1"/>
          <p:nvPr/>
        </p:nvSpPr>
        <p:spPr>
          <a:xfrm>
            <a:off x="548640" y="219456"/>
            <a:ext cx="1075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8121A"/>
                </a:solidFill>
                <a:latin typeface="Courier New"/>
                <a:ea typeface="Courier New"/>
                <a:cs typeface="Courier New"/>
                <a:sym typeface="Courier New"/>
              </a:rPr>
              <a:t>5 · finish</a:t>
            </a:r>
            <a:endParaRPr/>
          </a:p>
        </p:txBody>
      </p:sp>
      <p:sp>
        <p:nvSpPr>
          <p:cNvPr id="805" name="Google Shape;805;p51"/>
          <p:cNvSpPr txBox="1"/>
          <p:nvPr/>
        </p:nvSpPr>
        <p:spPr>
          <a:xfrm>
            <a:off x="1761744" y="219456"/>
            <a:ext cx="6833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Step 5 of 6</a:t>
            </a:r>
            <a:endParaRPr/>
          </a:p>
        </p:txBody>
      </p:sp>
      <p:sp>
        <p:nvSpPr>
          <p:cNvPr id="806" name="Google Shape;806;p51"/>
          <p:cNvSpPr txBox="1"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Set the finish line with /goal</a:t>
            </a:r>
            <a:endParaRPr/>
          </a:p>
        </p:txBody>
      </p:sp>
      <p:sp>
        <p:nvSpPr>
          <p:cNvPr id="807" name="Google Shape;807;p51"/>
          <p:cNvSpPr txBox="1"/>
          <p:nvPr/>
        </p:nvSpPr>
        <p:spPr>
          <a:xfrm>
            <a:off x="548640" y="1115568"/>
            <a:ext cx="8046720" cy="224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/goal</a:t>
            </a: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 keeps Claude working, turn after turn, until a separate checker confirms the condition.</a:t>
            </a:r>
            <a:endParaRPr/>
          </a:p>
        </p:txBody>
      </p:sp>
      <p:sp>
        <p:nvSpPr>
          <p:cNvPr id="808" name="Google Shape;808;p51"/>
          <p:cNvSpPr/>
          <p:nvPr/>
        </p:nvSpPr>
        <p:spPr>
          <a:xfrm>
            <a:off x="548640" y="3997756"/>
            <a:ext cx="8046720" cy="665683"/>
          </a:xfrm>
          <a:prstGeom prst="roundRect">
            <a:avLst>
              <a:gd fmla="val 10989" name="adj"/>
            </a:avLst>
          </a:prstGeom>
          <a:solidFill>
            <a:srgbClr val="2621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51"/>
          <p:cNvSpPr/>
          <p:nvPr/>
        </p:nvSpPr>
        <p:spPr>
          <a:xfrm>
            <a:off x="548640" y="4052620"/>
            <a:ext cx="54864" cy="555955"/>
          </a:xfrm>
          <a:prstGeom prst="rect">
            <a:avLst/>
          </a:prstGeom>
          <a:solidFill>
            <a:srgbClr val="EBB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51"/>
          <p:cNvSpPr txBox="1"/>
          <p:nvPr/>
        </p:nvSpPr>
        <p:spPr>
          <a:xfrm>
            <a:off x="804672" y="3997756"/>
            <a:ext cx="7589520" cy="6656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EBB661"/>
                </a:solidFill>
                <a:latin typeface="Arial"/>
                <a:ea typeface="Arial"/>
                <a:cs typeface="Arial"/>
                <a:sym typeface="Arial"/>
              </a:rPr>
              <a:t>As it runs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  The goal starts at once. When Claude Code first asks to run the script, choose “don't ask again”.</a:t>
            </a:r>
            <a:endParaRPr/>
          </a:p>
        </p:txBody>
      </p:sp>
      <p:sp>
        <p:nvSpPr>
          <p:cNvPr id="811" name="Google Shape;811;p51"/>
          <p:cNvSpPr txBox="1"/>
          <p:nvPr/>
        </p:nvSpPr>
        <p:spPr>
          <a:xfrm>
            <a:off x="548640" y="1559051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endParaRPr/>
          </a:p>
        </p:txBody>
      </p:sp>
      <p:sp>
        <p:nvSpPr>
          <p:cNvPr id="812" name="Google Shape;812;p51"/>
          <p:cNvSpPr txBox="1"/>
          <p:nvPr/>
        </p:nvSpPr>
        <p:spPr>
          <a:xfrm>
            <a:off x="4160520" y="1559051"/>
            <a:ext cx="4434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WHAT THE PROMPT ASKS</a:t>
            </a:r>
            <a:endParaRPr/>
          </a:p>
        </p:txBody>
      </p:sp>
      <p:sp>
        <p:nvSpPr>
          <p:cNvPr id="813" name="Google Shape;813;p51"/>
          <p:cNvSpPr/>
          <p:nvPr/>
        </p:nvSpPr>
        <p:spPr>
          <a:xfrm>
            <a:off x="548640" y="1796795"/>
            <a:ext cx="3200400" cy="475488"/>
          </a:xfrm>
          <a:prstGeom prst="roundRect">
            <a:avLst>
              <a:gd fmla="val 19230" name="adj"/>
            </a:avLst>
          </a:prstGeom>
          <a:solidFill>
            <a:srgbClr val="192332"/>
          </a:solidFill>
          <a:ln cap="flat" cmpd="sng" w="15875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51"/>
          <p:cNvSpPr txBox="1"/>
          <p:nvPr/>
        </p:nvSpPr>
        <p:spPr>
          <a:xfrm>
            <a:off x="704088" y="1796795"/>
            <a:ext cx="274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815" name="Google Shape;815;p51"/>
          <p:cNvSpPr txBox="1"/>
          <p:nvPr/>
        </p:nvSpPr>
        <p:spPr>
          <a:xfrm>
            <a:off x="1005840" y="1796795"/>
            <a:ext cx="2697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D6DCE6"/>
                </a:solidFill>
                <a:latin typeface="Courier New"/>
                <a:ea typeface="Courier New"/>
                <a:cs typeface="Courier New"/>
                <a:sym typeface="Courier New"/>
              </a:rPr>
              <a:t>/goal </a:t>
            </a:r>
            <a:r>
              <a:rPr b="1" i="0" lang="en-US" sz="1500">
                <a:solidFill>
                  <a:srgbClr val="5FD6E2"/>
                </a:solidFill>
                <a:latin typeface="Courier New"/>
                <a:ea typeface="Courier New"/>
                <a:cs typeface="Courier New"/>
                <a:sym typeface="Courier New"/>
              </a:rPr>
              <a:t>@5-finish-line.md</a:t>
            </a:r>
            <a:endParaRPr/>
          </a:p>
        </p:txBody>
      </p:sp>
      <p:sp>
        <p:nvSpPr>
          <p:cNvPr id="816" name="Google Shape;816;p51"/>
          <p:cNvSpPr/>
          <p:nvPr/>
        </p:nvSpPr>
        <p:spPr>
          <a:xfrm>
            <a:off x="548640" y="2418588"/>
            <a:ext cx="611061" cy="292608"/>
          </a:xfrm>
          <a:prstGeom prst="roundRect">
            <a:avLst>
              <a:gd fmla="val 18750" name="adj"/>
            </a:avLst>
          </a:prstGeom>
          <a:solidFill>
            <a:srgbClr val="0508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51"/>
          <p:cNvSpPr/>
          <p:nvPr/>
        </p:nvSpPr>
        <p:spPr>
          <a:xfrm>
            <a:off x="548640" y="2382012"/>
            <a:ext cx="611061" cy="292608"/>
          </a:xfrm>
          <a:prstGeom prst="roundRect">
            <a:avLst>
              <a:gd fmla="val 18750" name="adj"/>
            </a:avLst>
          </a:prstGeom>
          <a:solidFill>
            <a:srgbClr val="1F2A3A"/>
          </a:solidFill>
          <a:ln cap="flat" cmpd="sng" w="12700">
            <a:solidFill>
              <a:srgbClr val="5B6B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51"/>
          <p:cNvSpPr txBox="1"/>
          <p:nvPr/>
        </p:nvSpPr>
        <p:spPr>
          <a:xfrm>
            <a:off x="548640" y="2382012"/>
            <a:ext cx="61106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Enter</a:t>
            </a:r>
            <a:endParaRPr/>
          </a:p>
        </p:txBody>
      </p:sp>
      <p:sp>
        <p:nvSpPr>
          <p:cNvPr id="819" name="Google Shape;819;p51"/>
          <p:cNvSpPr txBox="1"/>
          <p:nvPr/>
        </p:nvSpPr>
        <p:spPr>
          <a:xfrm>
            <a:off x="1269429" y="2382012"/>
            <a:ext cx="247961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(Tab after @5 completes the name)</a:t>
            </a:r>
            <a:endParaRPr/>
          </a:p>
        </p:txBody>
      </p:sp>
      <p:sp>
        <p:nvSpPr>
          <p:cNvPr id="820" name="Google Shape;820;p51"/>
          <p:cNvSpPr txBox="1"/>
          <p:nvPr/>
        </p:nvSpPr>
        <p:spPr>
          <a:xfrm>
            <a:off x="3749039" y="1796795"/>
            <a:ext cx="411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821" name="Google Shape;821;p51"/>
          <p:cNvSpPr/>
          <p:nvPr/>
        </p:nvSpPr>
        <p:spPr>
          <a:xfrm>
            <a:off x="4160520" y="1796795"/>
            <a:ext cx="4434840" cy="1389889"/>
          </a:xfrm>
          <a:custGeom>
            <a:rect b="b" l="l" r="r" t="t"/>
            <a:pathLst>
              <a:path extrusionOk="0" h="1389889" w="4434840">
                <a:moveTo>
                  <a:pt x="0" y="0"/>
                </a:moveTo>
                <a:lnTo>
                  <a:pt x="4233672" y="0"/>
                </a:lnTo>
                <a:lnTo>
                  <a:pt x="4434840" y="201169"/>
                </a:lnTo>
                <a:lnTo>
                  <a:pt x="4434840" y="1389889"/>
                </a:lnTo>
                <a:lnTo>
                  <a:pt x="0" y="1389889"/>
                </a:lnTo>
                <a:close/>
              </a:path>
            </a:pathLst>
          </a:custGeom>
          <a:solidFill>
            <a:srgbClr val="0C1219"/>
          </a:solidFill>
          <a:ln cap="flat" cmpd="sng" w="15875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51"/>
          <p:cNvSpPr/>
          <p:nvPr/>
        </p:nvSpPr>
        <p:spPr>
          <a:xfrm>
            <a:off x="8394192" y="1796795"/>
            <a:ext cx="201168" cy="201169"/>
          </a:xfrm>
          <a:custGeom>
            <a:rect b="b" l="l" r="r" t="t"/>
            <a:pathLst>
              <a:path extrusionOk="0" h="201169" w="201168">
                <a:moveTo>
                  <a:pt x="0" y="0"/>
                </a:moveTo>
                <a:lnTo>
                  <a:pt x="0" y="201169"/>
                </a:lnTo>
                <a:lnTo>
                  <a:pt x="201168" y="201169"/>
                </a:lnTo>
                <a:close/>
              </a:path>
            </a:pathLst>
          </a:custGeom>
          <a:solidFill>
            <a:srgbClr val="1E4E55"/>
          </a:solidFill>
          <a:ln cap="flat" cmpd="sng" w="15875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51"/>
          <p:cNvSpPr/>
          <p:nvPr/>
        </p:nvSpPr>
        <p:spPr>
          <a:xfrm>
            <a:off x="4343400" y="1888236"/>
            <a:ext cx="155448" cy="201168"/>
          </a:xfrm>
          <a:custGeom>
            <a:rect b="b" l="l" r="r" t="t"/>
            <a:pathLst>
              <a:path extrusionOk="0" h="201168" w="155448">
                <a:moveTo>
                  <a:pt x="0" y="0"/>
                </a:moveTo>
                <a:lnTo>
                  <a:pt x="105704" y="0"/>
                </a:lnTo>
                <a:lnTo>
                  <a:pt x="155448" y="49743"/>
                </a:lnTo>
                <a:lnTo>
                  <a:pt x="155448" y="201168"/>
                </a:lnTo>
                <a:lnTo>
                  <a:pt x="0" y="201168"/>
                </a:lnTo>
                <a:close/>
              </a:path>
            </a:pathLst>
          </a:custGeom>
          <a:solidFill>
            <a:srgbClr val="0F2C31"/>
          </a:solidFill>
          <a:ln cap="flat" cmpd="sng" w="12700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51"/>
          <p:cNvSpPr/>
          <p:nvPr/>
        </p:nvSpPr>
        <p:spPr>
          <a:xfrm>
            <a:off x="4449104" y="1888236"/>
            <a:ext cx="49744" cy="49743"/>
          </a:xfrm>
          <a:custGeom>
            <a:rect b="b" l="l" r="r" t="t"/>
            <a:pathLst>
              <a:path extrusionOk="0" h="49743" w="49744">
                <a:moveTo>
                  <a:pt x="0" y="0"/>
                </a:moveTo>
                <a:lnTo>
                  <a:pt x="0" y="49743"/>
                </a:lnTo>
                <a:lnTo>
                  <a:pt x="49744" y="49743"/>
                </a:lnTo>
                <a:close/>
              </a:path>
            </a:pathLst>
          </a:custGeom>
          <a:solidFill>
            <a:srgbClr val="37C6D4"/>
          </a:solidFill>
          <a:ln cap="flat" cmpd="sng" w="12700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51"/>
          <p:cNvSpPr/>
          <p:nvPr/>
        </p:nvSpPr>
        <p:spPr>
          <a:xfrm>
            <a:off x="4374489" y="1969983"/>
            <a:ext cx="96377" cy="16459"/>
          </a:xfrm>
          <a:prstGeom prst="rect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51"/>
          <p:cNvSpPr/>
          <p:nvPr/>
        </p:nvSpPr>
        <p:spPr>
          <a:xfrm>
            <a:off x="4374489" y="2003016"/>
            <a:ext cx="96377" cy="16459"/>
          </a:xfrm>
          <a:prstGeom prst="rect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51"/>
          <p:cNvSpPr/>
          <p:nvPr/>
        </p:nvSpPr>
        <p:spPr>
          <a:xfrm>
            <a:off x="4374489" y="2036048"/>
            <a:ext cx="65288" cy="16459"/>
          </a:xfrm>
          <a:prstGeom prst="rect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51"/>
          <p:cNvSpPr txBox="1"/>
          <p:nvPr/>
        </p:nvSpPr>
        <p:spPr>
          <a:xfrm>
            <a:off x="4590288" y="1869948"/>
            <a:ext cx="3703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5FD6E2"/>
                </a:solidFill>
                <a:latin typeface="Courier New"/>
                <a:ea typeface="Courier New"/>
                <a:cs typeface="Courier New"/>
                <a:sym typeface="Courier New"/>
              </a:rPr>
              <a:t>5-finish-line.md</a:t>
            </a:r>
            <a:endParaRPr/>
          </a:p>
        </p:txBody>
      </p:sp>
      <p:sp>
        <p:nvSpPr>
          <p:cNvPr id="829" name="Google Shape;829;p51"/>
          <p:cNvSpPr txBox="1"/>
          <p:nvPr/>
        </p:nvSpPr>
        <p:spPr>
          <a:xfrm>
            <a:off x="4361688" y="2171700"/>
            <a:ext cx="4069080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2880" lvl="0" marL="18288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analyze.py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exits 0 from a fresh shell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writes </a:t>
            </a:r>
            <a:r>
              <a:rPr b="0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results/summary.csv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and the figure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prints the numbers we verified; raw data unchanged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or stop after 8 turns</a:t>
            </a:r>
            <a:endParaRPr/>
          </a:p>
        </p:txBody>
      </p:sp>
      <p:sp>
        <p:nvSpPr>
          <p:cNvPr id="830" name="Google Shape;830;p51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5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52"/>
          <p:cNvSpPr/>
          <p:nvPr/>
        </p:nvSpPr>
        <p:spPr>
          <a:xfrm>
            <a:off x="548640" y="219456"/>
            <a:ext cx="1075944" cy="256032"/>
          </a:xfrm>
          <a:prstGeom prst="roundRect">
            <a:avLst>
              <a:gd fmla="val 21428" name="adj"/>
            </a:avLst>
          </a:prstGeom>
          <a:solidFill>
            <a:srgbClr val="37C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52"/>
          <p:cNvSpPr txBox="1"/>
          <p:nvPr/>
        </p:nvSpPr>
        <p:spPr>
          <a:xfrm>
            <a:off x="548640" y="219456"/>
            <a:ext cx="1075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8121A"/>
                </a:solidFill>
                <a:latin typeface="Courier New"/>
                <a:ea typeface="Courier New"/>
                <a:cs typeface="Courier New"/>
                <a:sym typeface="Courier New"/>
              </a:rPr>
              <a:t>5 · finish</a:t>
            </a:r>
            <a:endParaRPr/>
          </a:p>
        </p:txBody>
      </p:sp>
      <p:sp>
        <p:nvSpPr>
          <p:cNvPr id="838" name="Google Shape;838;p52"/>
          <p:cNvSpPr txBox="1"/>
          <p:nvPr/>
        </p:nvSpPr>
        <p:spPr>
          <a:xfrm>
            <a:off x="1761744" y="219456"/>
            <a:ext cx="6833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While Claude works</a:t>
            </a:r>
            <a:endParaRPr/>
          </a:p>
        </p:txBody>
      </p:sp>
      <p:sp>
        <p:nvSpPr>
          <p:cNvPr id="839" name="Google Shape;839;p52"/>
          <p:cNvSpPr txBox="1"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While step 5 runs: how /goal knows the work is done</a:t>
            </a:r>
            <a:endParaRPr/>
          </a:p>
        </p:txBody>
      </p:sp>
      <p:sp>
        <p:nvSpPr>
          <p:cNvPr id="840" name="Google Shape;840;p52"/>
          <p:cNvSpPr/>
          <p:nvPr/>
        </p:nvSpPr>
        <p:spPr>
          <a:xfrm>
            <a:off x="548640" y="3997756"/>
            <a:ext cx="8046720" cy="665683"/>
          </a:xfrm>
          <a:prstGeom prst="roundRect">
            <a:avLst>
              <a:gd fmla="val 10989" name="adj"/>
            </a:avLst>
          </a:prstGeom>
          <a:solidFill>
            <a:srgbClr val="2621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52"/>
          <p:cNvSpPr/>
          <p:nvPr/>
        </p:nvSpPr>
        <p:spPr>
          <a:xfrm>
            <a:off x="548640" y="4052620"/>
            <a:ext cx="54864" cy="555955"/>
          </a:xfrm>
          <a:prstGeom prst="rect">
            <a:avLst/>
          </a:prstGeom>
          <a:solidFill>
            <a:srgbClr val="EBB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52"/>
          <p:cNvSpPr txBox="1"/>
          <p:nvPr/>
        </p:nvSpPr>
        <p:spPr>
          <a:xfrm>
            <a:off x="804672" y="3997756"/>
            <a:ext cx="7589520" cy="6656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EBB661"/>
                </a:solidFill>
                <a:latin typeface="Arial"/>
                <a:ea typeface="Arial"/>
                <a:cs typeface="Arial"/>
                <a:sym typeface="Arial"/>
              </a:rPr>
              <a:t>When it finishes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  The goal clears by itself once the checker says met. Open </a:t>
            </a:r>
            <a:r>
              <a:rPr b="0" i="0" lang="en-US" sz="13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analyze.py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and read what Claude built.</a:t>
            </a:r>
            <a:endParaRPr/>
          </a:p>
        </p:txBody>
      </p:sp>
      <p:sp>
        <p:nvSpPr>
          <p:cNvPr id="843" name="Google Shape;843;p52"/>
          <p:cNvSpPr/>
          <p:nvPr/>
        </p:nvSpPr>
        <p:spPr>
          <a:xfrm>
            <a:off x="548640" y="1261872"/>
            <a:ext cx="274320" cy="274320"/>
          </a:xfrm>
          <a:prstGeom prst="ellipse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44" name="Google Shape;844;p52"/>
          <p:cNvSpPr txBox="1"/>
          <p:nvPr/>
        </p:nvSpPr>
        <p:spPr>
          <a:xfrm>
            <a:off x="932688" y="1216152"/>
            <a:ext cx="3291839" cy="748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A checker reads every turn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After each turn, a separate model judges your condition: met, or not yet, and why.</a:t>
            </a:r>
            <a:endParaRPr/>
          </a:p>
        </p:txBody>
      </p:sp>
      <p:sp>
        <p:nvSpPr>
          <p:cNvPr id="845" name="Google Shape;845;p52"/>
          <p:cNvSpPr/>
          <p:nvPr/>
        </p:nvSpPr>
        <p:spPr>
          <a:xfrm>
            <a:off x="548640" y="2101519"/>
            <a:ext cx="274320" cy="274320"/>
          </a:xfrm>
          <a:prstGeom prst="ellipse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846" name="Google Shape;846;p52"/>
          <p:cNvSpPr txBox="1"/>
          <p:nvPr/>
        </p:nvSpPr>
        <p:spPr>
          <a:xfrm>
            <a:off x="932688" y="2055799"/>
            <a:ext cx="3291839" cy="748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Check on it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/goal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on its own shows the condition, the turns so far, and the latest verdict.</a:t>
            </a:r>
            <a:endParaRPr/>
          </a:p>
        </p:txBody>
      </p:sp>
      <p:sp>
        <p:nvSpPr>
          <p:cNvPr id="847" name="Google Shape;847;p52"/>
          <p:cNvSpPr/>
          <p:nvPr/>
        </p:nvSpPr>
        <p:spPr>
          <a:xfrm>
            <a:off x="548640" y="2941167"/>
            <a:ext cx="274320" cy="274320"/>
          </a:xfrm>
          <a:prstGeom prst="ellipse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848" name="Google Shape;848;p52"/>
          <p:cNvSpPr txBox="1"/>
          <p:nvPr/>
        </p:nvSpPr>
        <p:spPr>
          <a:xfrm>
            <a:off x="932688" y="2895447"/>
            <a:ext cx="3291839" cy="748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Ask for what Claude can show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The checker reads only the conversation: exit codes, files, printed numbers.</a:t>
            </a:r>
            <a:endParaRPr/>
          </a:p>
        </p:txBody>
      </p:sp>
      <p:pic>
        <p:nvPicPr>
          <p:cNvPr descr="image70.png" id="849" name="Google Shape;84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8017" y="1243584"/>
            <a:ext cx="3945604" cy="2571292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52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53"/>
          <p:cNvSpPr/>
          <p:nvPr/>
        </p:nvSpPr>
        <p:spPr>
          <a:xfrm>
            <a:off x="548640" y="219456"/>
            <a:ext cx="908304" cy="256032"/>
          </a:xfrm>
          <a:prstGeom prst="roundRect">
            <a:avLst>
              <a:gd fmla="val 21428" name="adj"/>
            </a:avLst>
          </a:prstGeom>
          <a:solidFill>
            <a:srgbClr val="EBB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53"/>
          <p:cNvSpPr txBox="1"/>
          <p:nvPr/>
        </p:nvSpPr>
        <p:spPr>
          <a:xfrm>
            <a:off x="548640" y="219456"/>
            <a:ext cx="9083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8121A"/>
                </a:solidFill>
                <a:latin typeface="Courier New"/>
                <a:ea typeface="Courier New"/>
                <a:cs typeface="Courier New"/>
                <a:sym typeface="Courier New"/>
              </a:rPr>
              <a:t>6 · keep</a:t>
            </a:r>
            <a:endParaRPr/>
          </a:p>
        </p:txBody>
      </p:sp>
      <p:sp>
        <p:nvSpPr>
          <p:cNvPr id="858" name="Google Shape;858;p53"/>
          <p:cNvSpPr txBox="1"/>
          <p:nvPr/>
        </p:nvSpPr>
        <p:spPr>
          <a:xfrm>
            <a:off x="1594103" y="219456"/>
            <a:ext cx="70012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Step 6 of 6</a:t>
            </a:r>
            <a:endParaRPr/>
          </a:p>
        </p:txBody>
      </p:sp>
      <p:sp>
        <p:nvSpPr>
          <p:cNvPr id="859" name="Google Shape;859;p53"/>
          <p:cNvSpPr txBox="1"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Turn a check into a skill</a:t>
            </a:r>
            <a:endParaRPr/>
          </a:p>
        </p:txBody>
      </p:sp>
      <p:sp>
        <p:nvSpPr>
          <p:cNvPr id="860" name="Google Shape;860;p53"/>
          <p:cNvSpPr txBox="1"/>
          <p:nvPr/>
        </p:nvSpPr>
        <p:spPr>
          <a:xfrm>
            <a:off x="548640" y="1115568"/>
            <a:ext cx="8046720" cy="224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A skill is a saved routine that you, or Claude, can run by name.</a:t>
            </a:r>
            <a:endParaRPr/>
          </a:p>
        </p:txBody>
      </p:sp>
      <p:sp>
        <p:nvSpPr>
          <p:cNvPr id="861" name="Google Shape;861;p53"/>
          <p:cNvSpPr/>
          <p:nvPr/>
        </p:nvSpPr>
        <p:spPr>
          <a:xfrm>
            <a:off x="548640" y="4211726"/>
            <a:ext cx="8046720" cy="451713"/>
          </a:xfrm>
          <a:prstGeom prst="roundRect">
            <a:avLst>
              <a:gd fmla="val 16194" name="adj"/>
            </a:avLst>
          </a:prstGeom>
          <a:solidFill>
            <a:srgbClr val="2621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53"/>
          <p:cNvSpPr/>
          <p:nvPr/>
        </p:nvSpPr>
        <p:spPr>
          <a:xfrm>
            <a:off x="548640" y="4266590"/>
            <a:ext cx="54864" cy="341985"/>
          </a:xfrm>
          <a:prstGeom prst="rect">
            <a:avLst/>
          </a:prstGeom>
          <a:solidFill>
            <a:srgbClr val="EBB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53"/>
          <p:cNvSpPr txBox="1"/>
          <p:nvPr/>
        </p:nvSpPr>
        <p:spPr>
          <a:xfrm>
            <a:off x="804672" y="4211726"/>
            <a:ext cx="7589520" cy="451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EBB661"/>
                </a:solidFill>
                <a:latin typeface="Arial"/>
                <a:ea typeface="Arial"/>
                <a:cs typeface="Arial"/>
                <a:sym typeface="Arial"/>
              </a:rPr>
              <a:t>As it runs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  Approve the new file in </a:t>
            </a:r>
            <a:r>
              <a:rPr b="0" i="0" lang="en-US" sz="13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.claude/skills/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: the whole skill is one Markdown file.</a:t>
            </a:r>
            <a:endParaRPr/>
          </a:p>
        </p:txBody>
      </p:sp>
      <p:sp>
        <p:nvSpPr>
          <p:cNvPr id="864" name="Google Shape;864;p53"/>
          <p:cNvSpPr txBox="1"/>
          <p:nvPr/>
        </p:nvSpPr>
        <p:spPr>
          <a:xfrm>
            <a:off x="548640" y="1559051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endParaRPr/>
          </a:p>
        </p:txBody>
      </p:sp>
      <p:sp>
        <p:nvSpPr>
          <p:cNvPr id="865" name="Google Shape;865;p53"/>
          <p:cNvSpPr txBox="1"/>
          <p:nvPr/>
        </p:nvSpPr>
        <p:spPr>
          <a:xfrm>
            <a:off x="4160520" y="1559051"/>
            <a:ext cx="4434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WHAT THE PROMPT ASKS</a:t>
            </a:r>
            <a:endParaRPr/>
          </a:p>
        </p:txBody>
      </p:sp>
      <p:sp>
        <p:nvSpPr>
          <p:cNvPr id="866" name="Google Shape;866;p53"/>
          <p:cNvSpPr/>
          <p:nvPr/>
        </p:nvSpPr>
        <p:spPr>
          <a:xfrm>
            <a:off x="548640" y="1796795"/>
            <a:ext cx="3200400" cy="475488"/>
          </a:xfrm>
          <a:prstGeom prst="roundRect">
            <a:avLst>
              <a:gd fmla="val 19230" name="adj"/>
            </a:avLst>
          </a:prstGeom>
          <a:solidFill>
            <a:srgbClr val="192332"/>
          </a:solidFill>
          <a:ln cap="flat" cmpd="sng" w="15875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53"/>
          <p:cNvSpPr txBox="1"/>
          <p:nvPr/>
        </p:nvSpPr>
        <p:spPr>
          <a:xfrm>
            <a:off x="704088" y="1796795"/>
            <a:ext cx="274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868" name="Google Shape;868;p53"/>
          <p:cNvSpPr txBox="1"/>
          <p:nvPr/>
        </p:nvSpPr>
        <p:spPr>
          <a:xfrm>
            <a:off x="1005840" y="1796795"/>
            <a:ext cx="2697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D6DCE6"/>
                </a:solidFill>
                <a:latin typeface="Courier New"/>
                <a:ea typeface="Courier New"/>
                <a:cs typeface="Courier New"/>
                <a:sym typeface="Courier New"/>
              </a:rPr>
              <a:t>create </a:t>
            </a:r>
            <a:r>
              <a:rPr b="1" i="0" lang="en-US" sz="1500">
                <a:solidFill>
                  <a:srgbClr val="5FD6E2"/>
                </a:solidFill>
                <a:latin typeface="Courier New"/>
                <a:ea typeface="Courier New"/>
                <a:cs typeface="Courier New"/>
                <a:sym typeface="Courier New"/>
              </a:rPr>
              <a:t>@6-skill.md</a:t>
            </a:r>
            <a:endParaRPr/>
          </a:p>
        </p:txBody>
      </p:sp>
      <p:sp>
        <p:nvSpPr>
          <p:cNvPr id="869" name="Google Shape;869;p53"/>
          <p:cNvSpPr/>
          <p:nvPr/>
        </p:nvSpPr>
        <p:spPr>
          <a:xfrm>
            <a:off x="548640" y="2418588"/>
            <a:ext cx="611061" cy="292608"/>
          </a:xfrm>
          <a:prstGeom prst="roundRect">
            <a:avLst>
              <a:gd fmla="val 18750" name="adj"/>
            </a:avLst>
          </a:prstGeom>
          <a:solidFill>
            <a:srgbClr val="0508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53"/>
          <p:cNvSpPr/>
          <p:nvPr/>
        </p:nvSpPr>
        <p:spPr>
          <a:xfrm>
            <a:off x="548640" y="2382012"/>
            <a:ext cx="611061" cy="292608"/>
          </a:xfrm>
          <a:prstGeom prst="roundRect">
            <a:avLst>
              <a:gd fmla="val 18750" name="adj"/>
            </a:avLst>
          </a:prstGeom>
          <a:solidFill>
            <a:srgbClr val="1F2A3A"/>
          </a:solidFill>
          <a:ln cap="flat" cmpd="sng" w="12700">
            <a:solidFill>
              <a:srgbClr val="5B6B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53"/>
          <p:cNvSpPr txBox="1"/>
          <p:nvPr/>
        </p:nvSpPr>
        <p:spPr>
          <a:xfrm>
            <a:off x="548640" y="2382012"/>
            <a:ext cx="61106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Enter</a:t>
            </a:r>
            <a:endParaRPr/>
          </a:p>
        </p:txBody>
      </p:sp>
      <p:sp>
        <p:nvSpPr>
          <p:cNvPr id="872" name="Google Shape;872;p53"/>
          <p:cNvSpPr txBox="1"/>
          <p:nvPr/>
        </p:nvSpPr>
        <p:spPr>
          <a:xfrm>
            <a:off x="1269429" y="2382012"/>
            <a:ext cx="247961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(Tab after @6 completes the name)</a:t>
            </a:r>
            <a:endParaRPr/>
          </a:p>
        </p:txBody>
      </p:sp>
      <p:sp>
        <p:nvSpPr>
          <p:cNvPr id="873" name="Google Shape;873;p53"/>
          <p:cNvSpPr txBox="1"/>
          <p:nvPr/>
        </p:nvSpPr>
        <p:spPr>
          <a:xfrm>
            <a:off x="3749039" y="1796795"/>
            <a:ext cx="411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874" name="Google Shape;874;p53"/>
          <p:cNvSpPr/>
          <p:nvPr/>
        </p:nvSpPr>
        <p:spPr>
          <a:xfrm>
            <a:off x="4160520" y="1796795"/>
            <a:ext cx="4434840" cy="1161289"/>
          </a:xfrm>
          <a:custGeom>
            <a:rect b="b" l="l" r="r" t="t"/>
            <a:pathLst>
              <a:path extrusionOk="0" h="1161289" w="4434840">
                <a:moveTo>
                  <a:pt x="0" y="0"/>
                </a:moveTo>
                <a:lnTo>
                  <a:pt x="4233672" y="0"/>
                </a:lnTo>
                <a:lnTo>
                  <a:pt x="4434840" y="201169"/>
                </a:lnTo>
                <a:lnTo>
                  <a:pt x="4434840" y="1161289"/>
                </a:lnTo>
                <a:lnTo>
                  <a:pt x="0" y="1161289"/>
                </a:lnTo>
                <a:close/>
              </a:path>
            </a:pathLst>
          </a:custGeom>
          <a:solidFill>
            <a:srgbClr val="0C1219"/>
          </a:solidFill>
          <a:ln cap="flat" cmpd="sng" w="15875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53"/>
          <p:cNvSpPr/>
          <p:nvPr/>
        </p:nvSpPr>
        <p:spPr>
          <a:xfrm>
            <a:off x="8394192" y="1796795"/>
            <a:ext cx="201168" cy="201169"/>
          </a:xfrm>
          <a:custGeom>
            <a:rect b="b" l="l" r="r" t="t"/>
            <a:pathLst>
              <a:path extrusionOk="0" h="201169" w="201168">
                <a:moveTo>
                  <a:pt x="0" y="0"/>
                </a:moveTo>
                <a:lnTo>
                  <a:pt x="0" y="201169"/>
                </a:lnTo>
                <a:lnTo>
                  <a:pt x="201168" y="201169"/>
                </a:lnTo>
                <a:close/>
              </a:path>
            </a:pathLst>
          </a:custGeom>
          <a:solidFill>
            <a:srgbClr val="1E4E55"/>
          </a:solidFill>
          <a:ln cap="flat" cmpd="sng" w="15875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53"/>
          <p:cNvSpPr/>
          <p:nvPr/>
        </p:nvSpPr>
        <p:spPr>
          <a:xfrm>
            <a:off x="4343400" y="1888236"/>
            <a:ext cx="155448" cy="201168"/>
          </a:xfrm>
          <a:custGeom>
            <a:rect b="b" l="l" r="r" t="t"/>
            <a:pathLst>
              <a:path extrusionOk="0" h="201168" w="155448">
                <a:moveTo>
                  <a:pt x="0" y="0"/>
                </a:moveTo>
                <a:lnTo>
                  <a:pt x="105704" y="0"/>
                </a:lnTo>
                <a:lnTo>
                  <a:pt x="155448" y="49743"/>
                </a:lnTo>
                <a:lnTo>
                  <a:pt x="155448" y="201168"/>
                </a:lnTo>
                <a:lnTo>
                  <a:pt x="0" y="201168"/>
                </a:lnTo>
                <a:close/>
              </a:path>
            </a:pathLst>
          </a:custGeom>
          <a:solidFill>
            <a:srgbClr val="0F2C31"/>
          </a:solidFill>
          <a:ln cap="flat" cmpd="sng" w="12700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53"/>
          <p:cNvSpPr/>
          <p:nvPr/>
        </p:nvSpPr>
        <p:spPr>
          <a:xfrm>
            <a:off x="4449104" y="1888236"/>
            <a:ext cx="49744" cy="49743"/>
          </a:xfrm>
          <a:custGeom>
            <a:rect b="b" l="l" r="r" t="t"/>
            <a:pathLst>
              <a:path extrusionOk="0" h="49743" w="49744">
                <a:moveTo>
                  <a:pt x="0" y="0"/>
                </a:moveTo>
                <a:lnTo>
                  <a:pt x="0" y="49743"/>
                </a:lnTo>
                <a:lnTo>
                  <a:pt x="49744" y="49743"/>
                </a:lnTo>
                <a:close/>
              </a:path>
            </a:pathLst>
          </a:custGeom>
          <a:solidFill>
            <a:srgbClr val="37C6D4"/>
          </a:solidFill>
          <a:ln cap="flat" cmpd="sng" w="12700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53"/>
          <p:cNvSpPr/>
          <p:nvPr/>
        </p:nvSpPr>
        <p:spPr>
          <a:xfrm>
            <a:off x="4374489" y="1969983"/>
            <a:ext cx="96377" cy="16459"/>
          </a:xfrm>
          <a:prstGeom prst="rect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53"/>
          <p:cNvSpPr/>
          <p:nvPr/>
        </p:nvSpPr>
        <p:spPr>
          <a:xfrm>
            <a:off x="4374489" y="2003016"/>
            <a:ext cx="96377" cy="16459"/>
          </a:xfrm>
          <a:prstGeom prst="rect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53"/>
          <p:cNvSpPr/>
          <p:nvPr/>
        </p:nvSpPr>
        <p:spPr>
          <a:xfrm>
            <a:off x="4374489" y="2036048"/>
            <a:ext cx="65288" cy="16459"/>
          </a:xfrm>
          <a:prstGeom prst="rect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53"/>
          <p:cNvSpPr txBox="1"/>
          <p:nvPr/>
        </p:nvSpPr>
        <p:spPr>
          <a:xfrm>
            <a:off x="4590288" y="1869948"/>
            <a:ext cx="3703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5FD6E2"/>
                </a:solidFill>
                <a:latin typeface="Courier New"/>
                <a:ea typeface="Courier New"/>
                <a:cs typeface="Courier New"/>
                <a:sym typeface="Courier New"/>
              </a:rPr>
              <a:t>6-skill.md</a:t>
            </a:r>
            <a:endParaRPr/>
          </a:p>
        </p:txBody>
      </p:sp>
      <p:sp>
        <p:nvSpPr>
          <p:cNvPr id="882" name="Google Shape;882;p53"/>
          <p:cNvSpPr txBox="1"/>
          <p:nvPr/>
        </p:nvSpPr>
        <p:spPr>
          <a:xfrm>
            <a:off x="4361688" y="2171700"/>
            <a:ext cx="4069080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2880" lvl="0" marL="18288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saves the check as a skill named </a:t>
            </a:r>
            <a:r>
              <a:rPr b="0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check-numbers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which recomputes the key numbers from the raw data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and checks each one against </a:t>
            </a:r>
            <a:r>
              <a:rPr b="0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results/summary.csv</a:t>
            </a:r>
            <a:endParaRPr/>
          </a:p>
        </p:txBody>
      </p:sp>
      <p:sp>
        <p:nvSpPr>
          <p:cNvPr id="883" name="Google Shape;883;p53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53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54"/>
          <p:cNvSpPr/>
          <p:nvPr/>
        </p:nvSpPr>
        <p:spPr>
          <a:xfrm>
            <a:off x="548640" y="219456"/>
            <a:ext cx="908304" cy="256032"/>
          </a:xfrm>
          <a:prstGeom prst="roundRect">
            <a:avLst>
              <a:gd fmla="val 21428" name="adj"/>
            </a:avLst>
          </a:prstGeom>
          <a:solidFill>
            <a:srgbClr val="EBB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54"/>
          <p:cNvSpPr txBox="1"/>
          <p:nvPr/>
        </p:nvSpPr>
        <p:spPr>
          <a:xfrm>
            <a:off x="548640" y="219456"/>
            <a:ext cx="9083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8121A"/>
                </a:solidFill>
                <a:latin typeface="Courier New"/>
                <a:ea typeface="Courier New"/>
                <a:cs typeface="Courier New"/>
                <a:sym typeface="Courier New"/>
              </a:rPr>
              <a:t>6 · keep</a:t>
            </a:r>
            <a:endParaRPr/>
          </a:p>
        </p:txBody>
      </p:sp>
      <p:sp>
        <p:nvSpPr>
          <p:cNvPr id="891" name="Google Shape;891;p54"/>
          <p:cNvSpPr txBox="1"/>
          <p:nvPr/>
        </p:nvSpPr>
        <p:spPr>
          <a:xfrm>
            <a:off x="1594103" y="219456"/>
            <a:ext cx="70012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While Claude works</a:t>
            </a:r>
            <a:endParaRPr/>
          </a:p>
        </p:txBody>
      </p:sp>
      <p:sp>
        <p:nvSpPr>
          <p:cNvPr id="892" name="Google Shape;892;p54"/>
          <p:cNvSpPr txBox="1"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While step 6 runs: where skills live</a:t>
            </a:r>
            <a:endParaRPr/>
          </a:p>
        </p:txBody>
      </p:sp>
      <p:sp>
        <p:nvSpPr>
          <p:cNvPr id="893" name="Google Shape;893;p54"/>
          <p:cNvSpPr/>
          <p:nvPr/>
        </p:nvSpPr>
        <p:spPr>
          <a:xfrm>
            <a:off x="548640" y="3997756"/>
            <a:ext cx="8046720" cy="665683"/>
          </a:xfrm>
          <a:prstGeom prst="roundRect">
            <a:avLst>
              <a:gd fmla="val 10989" name="adj"/>
            </a:avLst>
          </a:prstGeom>
          <a:solidFill>
            <a:srgbClr val="2621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54"/>
          <p:cNvSpPr/>
          <p:nvPr/>
        </p:nvSpPr>
        <p:spPr>
          <a:xfrm>
            <a:off x="548640" y="4052620"/>
            <a:ext cx="54864" cy="555955"/>
          </a:xfrm>
          <a:prstGeom prst="rect">
            <a:avLst/>
          </a:prstGeom>
          <a:solidFill>
            <a:srgbClr val="EBB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54"/>
          <p:cNvSpPr txBox="1"/>
          <p:nvPr/>
        </p:nvSpPr>
        <p:spPr>
          <a:xfrm>
            <a:off x="804672" y="3997756"/>
            <a:ext cx="7589520" cy="6656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EBB661"/>
                </a:solidFill>
                <a:latin typeface="Arial"/>
                <a:ea typeface="Arial"/>
                <a:cs typeface="Arial"/>
                <a:sym typeface="Arial"/>
              </a:rPr>
              <a:t>When it finishes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  Run </a:t>
            </a:r>
            <a:r>
              <a:rPr b="0" i="0" lang="en-US" sz="13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/check-numbers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. Then change one number in </a:t>
            </a:r>
            <a:r>
              <a:rPr b="0" i="0" lang="en-US" sz="13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results/summary.csv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by hand and run it again: that number should FAIL.</a:t>
            </a:r>
            <a:endParaRPr/>
          </a:p>
        </p:txBody>
      </p:sp>
      <p:sp>
        <p:nvSpPr>
          <p:cNvPr id="896" name="Google Shape;896;p54"/>
          <p:cNvSpPr/>
          <p:nvPr/>
        </p:nvSpPr>
        <p:spPr>
          <a:xfrm>
            <a:off x="548640" y="1261872"/>
            <a:ext cx="274320" cy="274320"/>
          </a:xfrm>
          <a:prstGeom prst="ellipse">
            <a:avLst/>
          </a:prstGeom>
          <a:solidFill>
            <a:srgbClr val="EBB66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97" name="Google Shape;897;p54"/>
          <p:cNvSpPr txBox="1"/>
          <p:nvPr/>
        </p:nvSpPr>
        <p:spPr>
          <a:xfrm>
            <a:off x="932688" y="1216152"/>
            <a:ext cx="3291839" cy="748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EBB661"/>
                </a:solidFill>
                <a:latin typeface="Arial"/>
                <a:ea typeface="Arial"/>
                <a:cs typeface="Arial"/>
                <a:sym typeface="Arial"/>
              </a:rPr>
              <a:t>A folder with one file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SKILL.md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holds a name, a description, and the steps.</a:t>
            </a:r>
            <a:endParaRPr/>
          </a:p>
        </p:txBody>
      </p:sp>
      <p:sp>
        <p:nvSpPr>
          <p:cNvPr id="898" name="Google Shape;898;p54"/>
          <p:cNvSpPr/>
          <p:nvPr/>
        </p:nvSpPr>
        <p:spPr>
          <a:xfrm>
            <a:off x="548640" y="2101519"/>
            <a:ext cx="274320" cy="274320"/>
          </a:xfrm>
          <a:prstGeom prst="ellipse">
            <a:avLst/>
          </a:prstGeom>
          <a:solidFill>
            <a:srgbClr val="EBB66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899" name="Google Shape;899;p54"/>
          <p:cNvSpPr txBox="1"/>
          <p:nvPr/>
        </p:nvSpPr>
        <p:spPr>
          <a:xfrm>
            <a:off x="932688" y="2055799"/>
            <a:ext cx="3291839" cy="94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EBB661"/>
                </a:solidFill>
                <a:latin typeface="Arial"/>
                <a:ea typeface="Arial"/>
                <a:cs typeface="Arial"/>
                <a:sym typeface="Arial"/>
              </a:rPr>
              <a:t>The description decides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Until the skill runs, Claude sees only its name and description, and picks it when a request matches.</a:t>
            </a:r>
            <a:endParaRPr/>
          </a:p>
        </p:txBody>
      </p:sp>
      <p:sp>
        <p:nvSpPr>
          <p:cNvPr id="900" name="Google Shape;900;p54"/>
          <p:cNvSpPr/>
          <p:nvPr/>
        </p:nvSpPr>
        <p:spPr>
          <a:xfrm>
            <a:off x="548640" y="3138677"/>
            <a:ext cx="274320" cy="274320"/>
          </a:xfrm>
          <a:prstGeom prst="ellipse">
            <a:avLst/>
          </a:prstGeom>
          <a:solidFill>
            <a:srgbClr val="EBB66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901" name="Google Shape;901;p54"/>
          <p:cNvSpPr txBox="1"/>
          <p:nvPr/>
        </p:nvSpPr>
        <p:spPr>
          <a:xfrm>
            <a:off x="932688" y="3092958"/>
            <a:ext cx="3291839" cy="748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EBB661"/>
                </a:solidFill>
                <a:latin typeface="Arial"/>
                <a:ea typeface="Arial"/>
                <a:cs typeface="Arial"/>
                <a:sym typeface="Arial"/>
              </a:rPr>
              <a:t>Share it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In the project folder, everyone who uses the folder gets it; in </a:t>
            </a:r>
            <a:r>
              <a:rPr b="0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~/.claude/skills/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, only you.</a:t>
            </a:r>
            <a:endParaRPr/>
          </a:p>
        </p:txBody>
      </p:sp>
      <p:pic>
        <p:nvPicPr>
          <p:cNvPr descr="image71.png" id="902" name="Google Shape;9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8017" y="1243584"/>
            <a:ext cx="3945604" cy="2571292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54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54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5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55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Four things to remember</a:t>
            </a:r>
            <a:endParaRPr/>
          </a:p>
        </p:txBody>
      </p:sp>
      <p:sp>
        <p:nvSpPr>
          <p:cNvPr id="910" name="Google Shape;910;p55"/>
          <p:cNvSpPr/>
          <p:nvPr/>
        </p:nvSpPr>
        <p:spPr>
          <a:xfrm>
            <a:off x="548640" y="1417320"/>
            <a:ext cx="3886200" cy="1504188"/>
          </a:xfrm>
          <a:prstGeom prst="roundRect">
            <a:avLst>
              <a:gd fmla="val 8000" name="adj"/>
            </a:avLst>
          </a:prstGeom>
          <a:solidFill>
            <a:srgbClr val="192332"/>
          </a:solidFill>
          <a:ln cap="flat" cmpd="sng" w="9525">
            <a:solidFill>
              <a:srgbClr val="2A35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55"/>
          <p:cNvSpPr/>
          <p:nvPr/>
        </p:nvSpPr>
        <p:spPr>
          <a:xfrm>
            <a:off x="777240" y="1645920"/>
            <a:ext cx="384048" cy="384048"/>
          </a:xfrm>
          <a:prstGeom prst="ellipse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12" name="Google Shape;912;p55"/>
          <p:cNvSpPr txBox="1"/>
          <p:nvPr/>
        </p:nvSpPr>
        <p:spPr>
          <a:xfrm>
            <a:off x="1298448" y="1609344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Describe the goal</a:t>
            </a:r>
            <a:endParaRPr/>
          </a:p>
        </p:txBody>
      </p:sp>
      <p:sp>
        <p:nvSpPr>
          <p:cNvPr id="913" name="Google Shape;913;p55"/>
          <p:cNvSpPr txBox="1"/>
          <p:nvPr/>
        </p:nvSpPr>
        <p:spPr>
          <a:xfrm>
            <a:off x="822959" y="2093976"/>
            <a:ext cx="3337560" cy="68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Say what you want in plain words and name files with </a:t>
            </a:r>
            <a:r>
              <a:rPr b="0" i="0" lang="en-US" sz="13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; Claude works out the steps, and Claude Code runs them.</a:t>
            </a:r>
            <a:endParaRPr/>
          </a:p>
        </p:txBody>
      </p:sp>
      <p:sp>
        <p:nvSpPr>
          <p:cNvPr id="914" name="Google Shape;914;p55"/>
          <p:cNvSpPr/>
          <p:nvPr/>
        </p:nvSpPr>
        <p:spPr>
          <a:xfrm>
            <a:off x="4709159" y="1417320"/>
            <a:ext cx="3886200" cy="1504188"/>
          </a:xfrm>
          <a:prstGeom prst="roundRect">
            <a:avLst>
              <a:gd fmla="val 8000" name="adj"/>
            </a:avLst>
          </a:prstGeom>
          <a:solidFill>
            <a:srgbClr val="192332"/>
          </a:solidFill>
          <a:ln cap="flat" cmpd="sng" w="9525">
            <a:solidFill>
              <a:srgbClr val="2A35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55"/>
          <p:cNvSpPr/>
          <p:nvPr/>
        </p:nvSpPr>
        <p:spPr>
          <a:xfrm>
            <a:off x="4937759" y="1645920"/>
            <a:ext cx="384048" cy="384048"/>
          </a:xfrm>
          <a:prstGeom prst="ellipse">
            <a:avLst/>
          </a:prstGeom>
          <a:solidFill>
            <a:srgbClr val="74A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16" name="Google Shape;916;p55"/>
          <p:cNvSpPr txBox="1"/>
          <p:nvPr/>
        </p:nvSpPr>
        <p:spPr>
          <a:xfrm>
            <a:off x="5458968" y="1609344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74A8FF"/>
                </a:solidFill>
                <a:latin typeface="Arial"/>
                <a:ea typeface="Arial"/>
                <a:cs typeface="Arial"/>
                <a:sym typeface="Arial"/>
              </a:rPr>
              <a:t>Decide how much to allow</a:t>
            </a:r>
            <a:endParaRPr/>
          </a:p>
        </p:txBody>
      </p:sp>
      <p:sp>
        <p:nvSpPr>
          <p:cNvPr id="917" name="Google Shape;917;p55"/>
          <p:cNvSpPr txBox="1"/>
          <p:nvPr/>
        </p:nvSpPr>
        <p:spPr>
          <a:xfrm>
            <a:off x="4983479" y="2093976"/>
            <a:ext cx="3337560" cy="68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Permission modes set what Claude Code runs without asking you; CLAUDE.md, skills, and hooks shape how Claude works.</a:t>
            </a:r>
            <a:endParaRPr/>
          </a:p>
        </p:txBody>
      </p:sp>
      <p:sp>
        <p:nvSpPr>
          <p:cNvPr id="918" name="Google Shape;918;p55"/>
          <p:cNvSpPr/>
          <p:nvPr/>
        </p:nvSpPr>
        <p:spPr>
          <a:xfrm>
            <a:off x="548640" y="3177540"/>
            <a:ext cx="3886200" cy="1504188"/>
          </a:xfrm>
          <a:prstGeom prst="roundRect">
            <a:avLst>
              <a:gd fmla="val 8000" name="adj"/>
            </a:avLst>
          </a:prstGeom>
          <a:solidFill>
            <a:srgbClr val="192332"/>
          </a:solidFill>
          <a:ln cap="flat" cmpd="sng" w="9525">
            <a:solidFill>
              <a:srgbClr val="2A35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55"/>
          <p:cNvSpPr/>
          <p:nvPr/>
        </p:nvSpPr>
        <p:spPr>
          <a:xfrm>
            <a:off x="777240" y="3406140"/>
            <a:ext cx="384048" cy="384048"/>
          </a:xfrm>
          <a:prstGeom prst="ellipse">
            <a:avLst/>
          </a:prstGeom>
          <a:solidFill>
            <a:srgbClr val="EBB66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920" name="Google Shape;920;p55"/>
          <p:cNvSpPr txBox="1"/>
          <p:nvPr/>
        </p:nvSpPr>
        <p:spPr>
          <a:xfrm>
            <a:off x="1298448" y="3369564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EBB661"/>
                </a:solidFill>
                <a:latin typeface="Arial"/>
                <a:ea typeface="Arial"/>
                <a:cs typeface="Arial"/>
                <a:sym typeface="Arial"/>
              </a:rPr>
              <a:t>Make Claude check its work</a:t>
            </a:r>
            <a:endParaRPr/>
          </a:p>
        </p:txBody>
      </p:sp>
      <p:sp>
        <p:nvSpPr>
          <p:cNvPr id="921" name="Google Shape;921;p55"/>
          <p:cNvSpPr txBox="1"/>
          <p:nvPr/>
        </p:nvSpPr>
        <p:spPr>
          <a:xfrm>
            <a:off x="822959" y="3854196"/>
            <a:ext cx="3337560" cy="68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Ask for checks you can verify: tests, independent subagents, a </a:t>
            </a:r>
            <a:r>
              <a:rPr b="0" i="0" lang="en-US" sz="13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/goal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finish line.</a:t>
            </a:r>
            <a:endParaRPr/>
          </a:p>
        </p:txBody>
      </p:sp>
      <p:sp>
        <p:nvSpPr>
          <p:cNvPr id="922" name="Google Shape;922;p55"/>
          <p:cNvSpPr/>
          <p:nvPr/>
        </p:nvSpPr>
        <p:spPr>
          <a:xfrm>
            <a:off x="4709159" y="3177540"/>
            <a:ext cx="3886200" cy="1504188"/>
          </a:xfrm>
          <a:prstGeom prst="roundRect">
            <a:avLst>
              <a:gd fmla="val 8000" name="adj"/>
            </a:avLst>
          </a:prstGeom>
          <a:solidFill>
            <a:srgbClr val="192332"/>
          </a:solidFill>
          <a:ln cap="flat" cmpd="sng" w="9525">
            <a:solidFill>
              <a:srgbClr val="2A35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55"/>
          <p:cNvSpPr/>
          <p:nvPr/>
        </p:nvSpPr>
        <p:spPr>
          <a:xfrm>
            <a:off x="4937759" y="3406140"/>
            <a:ext cx="384048" cy="384048"/>
          </a:xfrm>
          <a:prstGeom prst="ellipse">
            <a:avLst/>
          </a:prstGeom>
          <a:solidFill>
            <a:srgbClr val="5FD67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8121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924" name="Google Shape;924;p55"/>
          <p:cNvSpPr txBox="1"/>
          <p:nvPr/>
        </p:nvSpPr>
        <p:spPr>
          <a:xfrm>
            <a:off x="5458968" y="3369564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5FD675"/>
                </a:solidFill>
                <a:latin typeface="Arial"/>
                <a:ea typeface="Arial"/>
                <a:cs typeface="Arial"/>
                <a:sym typeface="Arial"/>
              </a:rPr>
              <a:t>You own the result</a:t>
            </a:r>
            <a:endParaRPr/>
          </a:p>
        </p:txBody>
      </p:sp>
      <p:sp>
        <p:nvSpPr>
          <p:cNvPr id="925" name="Google Shape;925;p55"/>
          <p:cNvSpPr txBox="1"/>
          <p:nvPr/>
        </p:nvSpPr>
        <p:spPr>
          <a:xfrm>
            <a:off x="4983479" y="3854196"/>
            <a:ext cx="3337560" cy="68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Claude is a capable assistant, not an authority: read what Claude built before you rely on it.</a:t>
            </a:r>
            <a:endParaRPr/>
          </a:p>
        </p:txBody>
      </p:sp>
      <p:sp>
        <p:nvSpPr>
          <p:cNvPr id="926" name="Google Shape;926;p55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56"/>
          <p:cNvSpPr/>
          <p:nvPr/>
        </p:nvSpPr>
        <p:spPr>
          <a:xfrm>
            <a:off x="548640" y="219456"/>
            <a:ext cx="1327404" cy="256032"/>
          </a:xfrm>
          <a:prstGeom prst="roundRect">
            <a:avLst>
              <a:gd fmla="val 21428" name="adj"/>
            </a:avLst>
          </a:prstGeom>
          <a:solidFill>
            <a:srgbClr val="EBB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56"/>
          <p:cNvSpPr txBox="1"/>
          <p:nvPr/>
        </p:nvSpPr>
        <p:spPr>
          <a:xfrm>
            <a:off x="548640" y="219456"/>
            <a:ext cx="13274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8121A"/>
                </a:solidFill>
                <a:latin typeface="Courier New"/>
                <a:ea typeface="Courier New"/>
                <a:cs typeface="Courier New"/>
                <a:sym typeface="Courier New"/>
              </a:rPr>
              <a:t>7 · your data</a:t>
            </a:r>
            <a:endParaRPr/>
          </a:p>
        </p:txBody>
      </p:sp>
      <p:sp>
        <p:nvSpPr>
          <p:cNvPr id="934" name="Google Shape;934;p56"/>
          <p:cNvSpPr txBox="1"/>
          <p:nvPr/>
        </p:nvSpPr>
        <p:spPr>
          <a:xfrm>
            <a:off x="2013204" y="219456"/>
            <a:ext cx="65821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Take-home</a:t>
            </a:r>
            <a:endParaRPr/>
          </a:p>
        </p:txBody>
      </p:sp>
      <p:sp>
        <p:nvSpPr>
          <p:cNvPr id="935" name="Google Shape;935;p56"/>
          <p:cNvSpPr txBox="1"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Your own data</a:t>
            </a:r>
            <a:endParaRPr/>
          </a:p>
        </p:txBody>
      </p:sp>
      <p:sp>
        <p:nvSpPr>
          <p:cNvPr id="936" name="Google Shape;936;p56"/>
          <p:cNvSpPr txBox="1"/>
          <p:nvPr/>
        </p:nvSpPr>
        <p:spPr>
          <a:xfrm>
            <a:off x="548640" y="1115568"/>
            <a:ext cx="8046720" cy="224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Take the workflow home: Claude asks about your data, then writes a starter kit like this exercise.</a:t>
            </a:r>
            <a:endParaRPr/>
          </a:p>
        </p:txBody>
      </p:sp>
      <p:sp>
        <p:nvSpPr>
          <p:cNvPr id="937" name="Google Shape;937;p56"/>
          <p:cNvSpPr/>
          <p:nvPr/>
        </p:nvSpPr>
        <p:spPr>
          <a:xfrm>
            <a:off x="548640" y="3997756"/>
            <a:ext cx="8046720" cy="665683"/>
          </a:xfrm>
          <a:prstGeom prst="roundRect">
            <a:avLst>
              <a:gd fmla="val 10989" name="adj"/>
            </a:avLst>
          </a:prstGeom>
          <a:solidFill>
            <a:srgbClr val="2621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56"/>
          <p:cNvSpPr/>
          <p:nvPr/>
        </p:nvSpPr>
        <p:spPr>
          <a:xfrm>
            <a:off x="548640" y="4052620"/>
            <a:ext cx="54864" cy="555955"/>
          </a:xfrm>
          <a:prstGeom prst="rect">
            <a:avLst/>
          </a:prstGeom>
          <a:solidFill>
            <a:srgbClr val="EBB6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56"/>
          <p:cNvSpPr txBox="1"/>
          <p:nvPr/>
        </p:nvSpPr>
        <p:spPr>
          <a:xfrm>
            <a:off x="804672" y="3997756"/>
            <a:ext cx="7589520" cy="6656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EBB661"/>
                </a:solidFill>
                <a:latin typeface="Arial"/>
                <a:ea typeface="Arial"/>
                <a:cs typeface="Arial"/>
                <a:sym typeface="Arial"/>
              </a:rPr>
              <a:t>Look for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  Move </a:t>
            </a:r>
            <a:r>
              <a:rPr b="0" i="0" lang="en-US" sz="13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my-project/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next to your data, start </a:t>
            </a:r>
            <a:r>
              <a:rPr b="0" i="0" lang="en-US" sz="13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claude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there, and run the same steps: explore, plan and analyze, verify, then finish with </a:t>
            </a:r>
            <a:r>
              <a:rPr b="0" i="0" lang="en-US" sz="13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/goal</a:t>
            </a:r>
            <a:r>
              <a:rPr b="0" i="0" lang="en-US" sz="13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940" name="Google Shape;940;p56"/>
          <p:cNvSpPr txBox="1"/>
          <p:nvPr/>
        </p:nvSpPr>
        <p:spPr>
          <a:xfrm>
            <a:off x="548640" y="1559051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endParaRPr/>
          </a:p>
        </p:txBody>
      </p:sp>
      <p:sp>
        <p:nvSpPr>
          <p:cNvPr id="941" name="Google Shape;941;p56"/>
          <p:cNvSpPr txBox="1"/>
          <p:nvPr/>
        </p:nvSpPr>
        <p:spPr>
          <a:xfrm>
            <a:off x="4160520" y="1559051"/>
            <a:ext cx="4434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WHAT THE PROMPT ASKS</a:t>
            </a:r>
            <a:endParaRPr/>
          </a:p>
        </p:txBody>
      </p:sp>
      <p:sp>
        <p:nvSpPr>
          <p:cNvPr id="942" name="Google Shape;942;p56"/>
          <p:cNvSpPr/>
          <p:nvPr/>
        </p:nvSpPr>
        <p:spPr>
          <a:xfrm>
            <a:off x="548640" y="1796795"/>
            <a:ext cx="3200400" cy="475488"/>
          </a:xfrm>
          <a:prstGeom prst="roundRect">
            <a:avLst>
              <a:gd fmla="val 19230" name="adj"/>
            </a:avLst>
          </a:prstGeom>
          <a:solidFill>
            <a:srgbClr val="192332"/>
          </a:solidFill>
          <a:ln cap="flat" cmpd="sng" w="15875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56"/>
          <p:cNvSpPr txBox="1"/>
          <p:nvPr/>
        </p:nvSpPr>
        <p:spPr>
          <a:xfrm>
            <a:off x="704088" y="1796795"/>
            <a:ext cx="274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944" name="Google Shape;944;p56"/>
          <p:cNvSpPr txBox="1"/>
          <p:nvPr/>
        </p:nvSpPr>
        <p:spPr>
          <a:xfrm>
            <a:off x="1005840" y="1796795"/>
            <a:ext cx="2697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D6DCE6"/>
                </a:solidFill>
                <a:latin typeface="Courier New"/>
                <a:ea typeface="Courier New"/>
                <a:cs typeface="Courier New"/>
                <a:sym typeface="Courier New"/>
              </a:rPr>
              <a:t>start </a:t>
            </a:r>
            <a:r>
              <a:rPr b="1" i="0" lang="en-US" sz="1500">
                <a:solidFill>
                  <a:srgbClr val="5FD6E2"/>
                </a:solidFill>
                <a:latin typeface="Courier New"/>
                <a:ea typeface="Courier New"/>
                <a:cs typeface="Courier New"/>
                <a:sym typeface="Courier New"/>
              </a:rPr>
              <a:t>@7-my-data.md</a:t>
            </a:r>
            <a:endParaRPr/>
          </a:p>
        </p:txBody>
      </p:sp>
      <p:sp>
        <p:nvSpPr>
          <p:cNvPr id="945" name="Google Shape;945;p56"/>
          <p:cNvSpPr/>
          <p:nvPr/>
        </p:nvSpPr>
        <p:spPr>
          <a:xfrm>
            <a:off x="548640" y="2418588"/>
            <a:ext cx="611061" cy="292608"/>
          </a:xfrm>
          <a:prstGeom prst="roundRect">
            <a:avLst>
              <a:gd fmla="val 18750" name="adj"/>
            </a:avLst>
          </a:prstGeom>
          <a:solidFill>
            <a:srgbClr val="0508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56"/>
          <p:cNvSpPr/>
          <p:nvPr/>
        </p:nvSpPr>
        <p:spPr>
          <a:xfrm>
            <a:off x="548640" y="2382012"/>
            <a:ext cx="611061" cy="292608"/>
          </a:xfrm>
          <a:prstGeom prst="roundRect">
            <a:avLst>
              <a:gd fmla="val 18750" name="adj"/>
            </a:avLst>
          </a:prstGeom>
          <a:solidFill>
            <a:srgbClr val="1F2A3A"/>
          </a:solidFill>
          <a:ln cap="flat" cmpd="sng" w="12700">
            <a:solidFill>
              <a:srgbClr val="5B6B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56"/>
          <p:cNvSpPr txBox="1"/>
          <p:nvPr/>
        </p:nvSpPr>
        <p:spPr>
          <a:xfrm>
            <a:off x="548640" y="2382012"/>
            <a:ext cx="611061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Enter</a:t>
            </a:r>
            <a:endParaRPr/>
          </a:p>
        </p:txBody>
      </p:sp>
      <p:sp>
        <p:nvSpPr>
          <p:cNvPr id="948" name="Google Shape;948;p56"/>
          <p:cNvSpPr txBox="1"/>
          <p:nvPr/>
        </p:nvSpPr>
        <p:spPr>
          <a:xfrm>
            <a:off x="1269429" y="2382012"/>
            <a:ext cx="247961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(Tab after @7 completes the name)</a:t>
            </a:r>
            <a:endParaRPr/>
          </a:p>
        </p:txBody>
      </p:sp>
      <p:sp>
        <p:nvSpPr>
          <p:cNvPr id="949" name="Google Shape;949;p56"/>
          <p:cNvSpPr txBox="1"/>
          <p:nvPr/>
        </p:nvSpPr>
        <p:spPr>
          <a:xfrm>
            <a:off x="3749039" y="1796795"/>
            <a:ext cx="411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950" name="Google Shape;950;p56"/>
          <p:cNvSpPr/>
          <p:nvPr/>
        </p:nvSpPr>
        <p:spPr>
          <a:xfrm>
            <a:off x="4160520" y="1796795"/>
            <a:ext cx="4434840" cy="1353313"/>
          </a:xfrm>
          <a:custGeom>
            <a:rect b="b" l="l" r="r" t="t"/>
            <a:pathLst>
              <a:path extrusionOk="0" h="1353313" w="4434840">
                <a:moveTo>
                  <a:pt x="0" y="0"/>
                </a:moveTo>
                <a:lnTo>
                  <a:pt x="4233672" y="0"/>
                </a:lnTo>
                <a:lnTo>
                  <a:pt x="4434840" y="201169"/>
                </a:lnTo>
                <a:lnTo>
                  <a:pt x="4434840" y="1353313"/>
                </a:lnTo>
                <a:lnTo>
                  <a:pt x="0" y="1353313"/>
                </a:lnTo>
                <a:close/>
              </a:path>
            </a:pathLst>
          </a:custGeom>
          <a:solidFill>
            <a:srgbClr val="0C1219"/>
          </a:solidFill>
          <a:ln cap="flat" cmpd="sng" w="15875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56"/>
          <p:cNvSpPr/>
          <p:nvPr/>
        </p:nvSpPr>
        <p:spPr>
          <a:xfrm>
            <a:off x="8394192" y="1796795"/>
            <a:ext cx="201168" cy="201169"/>
          </a:xfrm>
          <a:custGeom>
            <a:rect b="b" l="l" r="r" t="t"/>
            <a:pathLst>
              <a:path extrusionOk="0" h="201169" w="201168">
                <a:moveTo>
                  <a:pt x="0" y="0"/>
                </a:moveTo>
                <a:lnTo>
                  <a:pt x="0" y="201169"/>
                </a:lnTo>
                <a:lnTo>
                  <a:pt x="201168" y="201169"/>
                </a:lnTo>
                <a:close/>
              </a:path>
            </a:pathLst>
          </a:custGeom>
          <a:solidFill>
            <a:srgbClr val="1E4E55"/>
          </a:solidFill>
          <a:ln cap="flat" cmpd="sng" w="15875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56"/>
          <p:cNvSpPr/>
          <p:nvPr/>
        </p:nvSpPr>
        <p:spPr>
          <a:xfrm>
            <a:off x="4343400" y="1888236"/>
            <a:ext cx="155448" cy="201168"/>
          </a:xfrm>
          <a:custGeom>
            <a:rect b="b" l="l" r="r" t="t"/>
            <a:pathLst>
              <a:path extrusionOk="0" h="201168" w="155448">
                <a:moveTo>
                  <a:pt x="0" y="0"/>
                </a:moveTo>
                <a:lnTo>
                  <a:pt x="105704" y="0"/>
                </a:lnTo>
                <a:lnTo>
                  <a:pt x="155448" y="49743"/>
                </a:lnTo>
                <a:lnTo>
                  <a:pt x="155448" y="201168"/>
                </a:lnTo>
                <a:lnTo>
                  <a:pt x="0" y="201168"/>
                </a:lnTo>
                <a:close/>
              </a:path>
            </a:pathLst>
          </a:custGeom>
          <a:solidFill>
            <a:srgbClr val="0F2C31"/>
          </a:solidFill>
          <a:ln cap="flat" cmpd="sng" w="12700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56"/>
          <p:cNvSpPr/>
          <p:nvPr/>
        </p:nvSpPr>
        <p:spPr>
          <a:xfrm>
            <a:off x="4449104" y="1888236"/>
            <a:ext cx="49744" cy="49743"/>
          </a:xfrm>
          <a:custGeom>
            <a:rect b="b" l="l" r="r" t="t"/>
            <a:pathLst>
              <a:path extrusionOk="0" h="49743" w="49744">
                <a:moveTo>
                  <a:pt x="0" y="0"/>
                </a:moveTo>
                <a:lnTo>
                  <a:pt x="0" y="49743"/>
                </a:lnTo>
                <a:lnTo>
                  <a:pt x="49744" y="49743"/>
                </a:lnTo>
                <a:close/>
              </a:path>
            </a:pathLst>
          </a:custGeom>
          <a:solidFill>
            <a:srgbClr val="37C6D4"/>
          </a:solidFill>
          <a:ln cap="flat" cmpd="sng" w="12700">
            <a:solidFill>
              <a:srgbClr val="37C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56"/>
          <p:cNvSpPr/>
          <p:nvPr/>
        </p:nvSpPr>
        <p:spPr>
          <a:xfrm>
            <a:off x="4374489" y="1969983"/>
            <a:ext cx="96377" cy="16459"/>
          </a:xfrm>
          <a:prstGeom prst="rect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56"/>
          <p:cNvSpPr/>
          <p:nvPr/>
        </p:nvSpPr>
        <p:spPr>
          <a:xfrm>
            <a:off x="4374489" y="2003016"/>
            <a:ext cx="96377" cy="16459"/>
          </a:xfrm>
          <a:prstGeom prst="rect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56"/>
          <p:cNvSpPr/>
          <p:nvPr/>
        </p:nvSpPr>
        <p:spPr>
          <a:xfrm>
            <a:off x="4374489" y="2036048"/>
            <a:ext cx="65288" cy="16459"/>
          </a:xfrm>
          <a:prstGeom prst="rect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56"/>
          <p:cNvSpPr txBox="1"/>
          <p:nvPr/>
        </p:nvSpPr>
        <p:spPr>
          <a:xfrm>
            <a:off x="4590288" y="1869948"/>
            <a:ext cx="3703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5FD6E2"/>
                </a:solidFill>
                <a:latin typeface="Courier New"/>
                <a:ea typeface="Courier New"/>
                <a:cs typeface="Courier New"/>
                <a:sym typeface="Courier New"/>
              </a:rPr>
              <a:t>7-my-data.md</a:t>
            </a:r>
            <a:endParaRPr/>
          </a:p>
        </p:txBody>
      </p:sp>
      <p:sp>
        <p:nvSpPr>
          <p:cNvPr id="958" name="Google Shape;958;p56"/>
          <p:cNvSpPr txBox="1"/>
          <p:nvPr/>
        </p:nvSpPr>
        <p:spPr>
          <a:xfrm>
            <a:off x="4361688" y="2171700"/>
            <a:ext cx="40690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2880" lvl="0" marL="18288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asks about your data, and the question you have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writes </a:t>
            </a:r>
            <a:r>
              <a:rPr b="0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my-project/CLAUDE.md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 with your answers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2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adapts this exercise's prompts into </a:t>
            </a:r>
            <a:r>
              <a:rPr b="0" i="0" lang="en-US" sz="120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my-project/prompts/</a:t>
            </a:r>
            <a:endParaRPr/>
          </a:p>
        </p:txBody>
      </p:sp>
      <p:sp>
        <p:nvSpPr>
          <p:cNvPr id="959" name="Google Shape;959;p56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56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5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57"/>
          <p:cNvSpPr txBox="1"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/>
          </a:p>
        </p:txBody>
      </p:sp>
      <p:sp>
        <p:nvSpPr>
          <p:cNvPr id="966" name="Google Shape;966;p57"/>
          <p:cNvSpPr txBox="1"/>
          <p:nvPr/>
        </p:nvSpPr>
        <p:spPr>
          <a:xfrm>
            <a:off x="548640" y="1463040"/>
            <a:ext cx="3840480" cy="3218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The harness · code.claude.com/docs/en/how-claude-code-works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Model configuration · code.claude.com/docs/en/model-config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The context window · code.claude.com/docs/en/context-window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Memory (CLAUDE.md) · code.claude.com/docs/en/memory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Commands · code.claude.com/docs/en/commands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6.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Permission modes · code.claude.com/docs/en/permission-modes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7.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Permission prompts · code.claude.com/docs/en/permissions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8.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Interactive mode · code.claude.com/docs/en/interactive-mode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9.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Best practices · code.claude.com/docs/en/best-practices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10.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Custom subagents · code.claude.com/docs/en/sub-agents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11.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/goal · code.claude.com/docs/en/goal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12.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/loop · code.claude.com/docs/en/scheduled-tasks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13.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Checkpoints and /rewind · code.claude.com/docs/en/checkpointing</a:t>
            </a:r>
            <a:endParaRPr/>
          </a:p>
        </p:txBody>
      </p:sp>
      <p:sp>
        <p:nvSpPr>
          <p:cNvPr id="967" name="Google Shape;967;p57"/>
          <p:cNvSpPr txBox="1"/>
          <p:nvPr/>
        </p:nvSpPr>
        <p:spPr>
          <a:xfrm>
            <a:off x="4754880" y="1463040"/>
            <a:ext cx="3840480" cy="3218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14.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Skills · code.claude.com/docs/en/skills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15.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Hooks · code.claude.com/docs/en/hooks-guide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16.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Plugins · code.claude.com/docs/en/plugins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17.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MCP · code.claude.com/docs/en/mcp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18.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Drive and Microsoft 365 connectors · support.claude.com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19.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Box MCP server · developer.box.com/guides/box-mcp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20.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Headless mode · code.claude.com/docs/en/headless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21.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Agent SDK · code.claude.com/docs/en/agent-sdk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22.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Pricing · platform.claude.com/docs/en/about-claude/pricing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23.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Building effective agents · anthropic.com/engineering/building-effective-agents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24.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Model Context Protocol (2024) · modelcontextprotocol.io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25.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Slurm documentation · slurm.schedmd.com/documentation.html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37C6D4"/>
                </a:solidFill>
                <a:latin typeface="Arial"/>
                <a:ea typeface="Arial"/>
                <a:cs typeface="Arial"/>
                <a:sym typeface="Arial"/>
              </a:rPr>
              <a:t>26. </a:t>
            </a:r>
            <a:r>
              <a:rPr b="0" i="0" lang="en-US" sz="950">
                <a:solidFill>
                  <a:srgbClr val="9BA6B4"/>
                </a:solidFill>
                <a:latin typeface="Arial"/>
                <a:ea typeface="Arial"/>
                <a:cs typeface="Arial"/>
                <a:sym typeface="Arial"/>
              </a:rPr>
              <a:t>Globus command line · docs.globus.org/cli</a:t>
            </a:r>
            <a:endParaRPr/>
          </a:p>
        </p:txBody>
      </p:sp>
      <p:sp>
        <p:nvSpPr>
          <p:cNvPr id="968" name="Google Shape;968;p57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57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5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6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5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58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58"/>
          <p:cNvSpPr txBox="1"/>
          <p:nvPr/>
        </p:nvSpPr>
        <p:spPr>
          <a:xfrm>
            <a:off x="914400" y="1874519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58"/>
          <p:cNvSpPr txBox="1"/>
          <p:nvPr/>
        </p:nvSpPr>
        <p:spPr>
          <a:xfrm>
            <a:off x="914400" y="228600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D6DCE6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978" name="Google Shape;978;p58"/>
          <p:cNvSpPr txBox="1"/>
          <p:nvPr/>
        </p:nvSpPr>
        <p:spPr>
          <a:xfrm>
            <a:off x="914400" y="3127248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58"/>
          <p:cNvSpPr/>
          <p:nvPr/>
        </p:nvSpPr>
        <p:spPr>
          <a:xfrm>
            <a:off x="914400" y="4114800"/>
            <a:ext cx="7315200" cy="54864"/>
          </a:xfrm>
          <a:prstGeom prst="rect">
            <a:avLst/>
          </a:prstGeom>
          <a:solidFill>
            <a:srgbClr val="2A35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58"/>
          <p:cNvSpPr/>
          <p:nvPr/>
        </p:nvSpPr>
        <p:spPr>
          <a:xfrm>
            <a:off x="914400" y="4114800"/>
            <a:ext cx="7315200" cy="54864"/>
          </a:xfrm>
          <a:prstGeom prst="rect">
            <a:avLst/>
          </a:prstGeom>
          <a:solidFill>
            <a:srgbClr val="37C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58"/>
          <p:cNvSpPr txBox="1"/>
          <p:nvPr/>
        </p:nvSpPr>
        <p:spPr>
          <a:xfrm>
            <a:off x="8229600" y="47914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A8699"/>
                </a:solidFill>
                <a:latin typeface="Arial"/>
                <a:ea typeface="Arial"/>
                <a:cs typeface="Arial"/>
                <a:sym typeface="Arial"/>
              </a:rPr>
              <a:t>58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